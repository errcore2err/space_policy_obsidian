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52"/>
  </p:notesMasterIdLst>
  <p:handoutMasterIdLst>
    <p:handoutMasterId r:id="rId53"/>
  </p:handoutMasterIdLst>
  <p:sldIdLst>
    <p:sldId id="295" r:id="rId2"/>
    <p:sldId id="436" r:id="rId3"/>
    <p:sldId id="437" r:id="rId4"/>
    <p:sldId id="406" r:id="rId5"/>
    <p:sldId id="405" r:id="rId6"/>
    <p:sldId id="421" r:id="rId7"/>
    <p:sldId id="411" r:id="rId8"/>
    <p:sldId id="438" r:id="rId9"/>
    <p:sldId id="409" r:id="rId10"/>
    <p:sldId id="410" r:id="rId11"/>
    <p:sldId id="440" r:id="rId12"/>
    <p:sldId id="439" r:id="rId13"/>
    <p:sldId id="431" r:id="rId14"/>
    <p:sldId id="448" r:id="rId15"/>
    <p:sldId id="450" r:id="rId16"/>
    <p:sldId id="449" r:id="rId17"/>
    <p:sldId id="407" r:id="rId18"/>
    <p:sldId id="430" r:id="rId19"/>
    <p:sldId id="445" r:id="rId20"/>
    <p:sldId id="408" r:id="rId21"/>
    <p:sldId id="442" r:id="rId22"/>
    <p:sldId id="426" r:id="rId23"/>
    <p:sldId id="443" r:id="rId24"/>
    <p:sldId id="416" r:id="rId25"/>
    <p:sldId id="425" r:id="rId26"/>
    <p:sldId id="424" r:id="rId27"/>
    <p:sldId id="412" r:id="rId28"/>
    <p:sldId id="418" r:id="rId29"/>
    <p:sldId id="428" r:id="rId30"/>
    <p:sldId id="417" r:id="rId31"/>
    <p:sldId id="456" r:id="rId32"/>
    <p:sldId id="455" r:id="rId33"/>
    <p:sldId id="429" r:id="rId34"/>
    <p:sldId id="419" r:id="rId35"/>
    <p:sldId id="441" r:id="rId36"/>
    <p:sldId id="420" r:id="rId37"/>
    <p:sldId id="433" r:id="rId38"/>
    <p:sldId id="414" r:id="rId39"/>
    <p:sldId id="444" r:id="rId40"/>
    <p:sldId id="432" r:id="rId41"/>
    <p:sldId id="404" r:id="rId42"/>
    <p:sldId id="423" r:id="rId43"/>
    <p:sldId id="447" r:id="rId44"/>
    <p:sldId id="446" r:id="rId45"/>
    <p:sldId id="454" r:id="rId46"/>
    <p:sldId id="434" r:id="rId47"/>
    <p:sldId id="453" r:id="rId48"/>
    <p:sldId id="452" r:id="rId49"/>
    <p:sldId id="451" r:id="rId50"/>
    <p:sldId id="427" r:id="rId51"/>
  </p:sldIdLst>
  <p:sldSz cx="12192000" cy="6858000"/>
  <p:notesSz cx="9199563" cy="6858000"/>
  <p:defaultTextStyle>
    <a:defPPr>
      <a:defRPr lang="en-US"/>
    </a:defPPr>
    <a:lvl1pPr algn="l" rtl="0" eaLnBrk="0" fontAlgn="base" hangingPunct="0">
      <a:spcBef>
        <a:spcPct val="0"/>
      </a:spcBef>
      <a:spcAft>
        <a:spcPct val="0"/>
      </a:spcAft>
      <a:defRPr sz="2400" b="1"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sz="2400" b="1" kern="1200">
        <a:solidFill>
          <a:schemeClr val="tx1"/>
        </a:solidFill>
        <a:latin typeface="Arial" charset="0"/>
        <a:ea typeface="ＭＳ Ｐゴシック" charset="-128"/>
        <a:cs typeface="+mn-cs"/>
      </a:defRPr>
    </a:lvl5pPr>
    <a:lvl6pPr marL="2286000" algn="l" defTabSz="914400" rtl="0" eaLnBrk="1" latinLnBrk="0" hangingPunct="1">
      <a:defRPr sz="2400" b="1" kern="1200">
        <a:solidFill>
          <a:schemeClr val="tx1"/>
        </a:solidFill>
        <a:latin typeface="Arial" charset="0"/>
        <a:ea typeface="ＭＳ Ｐゴシック" charset="-128"/>
        <a:cs typeface="+mn-cs"/>
      </a:defRPr>
    </a:lvl6pPr>
    <a:lvl7pPr marL="2743200" algn="l" defTabSz="914400" rtl="0" eaLnBrk="1" latinLnBrk="0" hangingPunct="1">
      <a:defRPr sz="2400" b="1" kern="1200">
        <a:solidFill>
          <a:schemeClr val="tx1"/>
        </a:solidFill>
        <a:latin typeface="Arial" charset="0"/>
        <a:ea typeface="ＭＳ Ｐゴシック" charset="-128"/>
        <a:cs typeface="+mn-cs"/>
      </a:defRPr>
    </a:lvl7pPr>
    <a:lvl8pPr marL="3200400" algn="l" defTabSz="914400" rtl="0" eaLnBrk="1" latinLnBrk="0" hangingPunct="1">
      <a:defRPr sz="2400" b="1" kern="1200">
        <a:solidFill>
          <a:schemeClr val="tx1"/>
        </a:solidFill>
        <a:latin typeface="Arial" charset="0"/>
        <a:ea typeface="ＭＳ Ｐゴシック" charset="-128"/>
        <a:cs typeface="+mn-cs"/>
      </a:defRPr>
    </a:lvl8pPr>
    <a:lvl9pPr marL="3657600" algn="l" defTabSz="914400" rtl="0" eaLnBrk="1" latinLnBrk="0" hangingPunct="1">
      <a:defRPr sz="2400" b="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49">
          <p15:clr>
            <a:srgbClr val="A4A3A4"/>
          </p15:clr>
        </p15:guide>
        <p15:guide id="2" pos="289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F00702"/>
    <a:srgbClr val="33CC33"/>
    <a:srgbClr val="3399FF"/>
    <a:srgbClr val="FF9900"/>
    <a:srgbClr val="9900CC"/>
    <a:srgbClr val="DDDDDD"/>
    <a:srgbClr val="5D001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80"/>
    <p:restoredTop sz="96405"/>
  </p:normalViewPr>
  <p:slideViewPr>
    <p:cSldViewPr snapToGrid="0">
      <p:cViewPr varScale="1">
        <p:scale>
          <a:sx n="124" d="100"/>
          <a:sy n="124" d="100"/>
        </p:scale>
        <p:origin x="680" y="1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0"/>
    </p:cViewPr>
  </p:sorterViewPr>
  <p:notesViewPr>
    <p:cSldViewPr snapToGrid="0">
      <p:cViewPr>
        <p:scale>
          <a:sx n="100" d="100"/>
          <a:sy n="100" d="100"/>
        </p:scale>
        <p:origin x="4784" y="2352"/>
      </p:cViewPr>
      <p:guideLst>
        <p:guide orient="horz" pos="2149"/>
        <p:guide pos="289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3989388" cy="342900"/>
          </a:xfrm>
          <a:prstGeom prst="rect">
            <a:avLst/>
          </a:prstGeom>
          <a:noFill/>
          <a:ln w="9525">
            <a:noFill/>
            <a:miter lim="800000"/>
            <a:headEnd/>
            <a:tailEnd/>
          </a:ln>
          <a:effectLst/>
        </p:spPr>
        <p:txBody>
          <a:bodyPr vert="horz" wrap="square" lIns="91751" tIns="45876" rIns="91751" bIns="45876" numCol="1" anchor="t" anchorCtr="0" compatLnSpc="1">
            <a:prstTxWarp prst="textNoShape">
              <a:avLst/>
            </a:prstTxWarp>
          </a:bodyPr>
          <a:lstStyle>
            <a:lvl1pPr defTabSz="917575">
              <a:defRPr sz="1200">
                <a:latin typeface="Arial" pitchFamily="-106" charset="0"/>
                <a:ea typeface="ＭＳ Ｐゴシック" pitchFamily="-106" charset="-128"/>
                <a:cs typeface="ＭＳ Ｐゴシック" pitchFamily="-106" charset="-128"/>
              </a:defRPr>
            </a:lvl1pPr>
          </a:lstStyle>
          <a:p>
            <a:pPr>
              <a:defRPr/>
            </a:pPr>
            <a:endParaRPr lang="en-US"/>
          </a:p>
        </p:txBody>
      </p:sp>
      <p:sp>
        <p:nvSpPr>
          <p:cNvPr id="37891" name="Rectangle 3"/>
          <p:cNvSpPr>
            <a:spLocks noGrp="1" noChangeArrowheads="1"/>
          </p:cNvSpPr>
          <p:nvPr>
            <p:ph type="dt" sz="quarter" idx="1"/>
          </p:nvPr>
        </p:nvSpPr>
        <p:spPr bwMode="auto">
          <a:xfrm>
            <a:off x="5210175" y="0"/>
            <a:ext cx="3989388" cy="342900"/>
          </a:xfrm>
          <a:prstGeom prst="rect">
            <a:avLst/>
          </a:prstGeom>
          <a:noFill/>
          <a:ln w="9525">
            <a:noFill/>
            <a:miter lim="800000"/>
            <a:headEnd/>
            <a:tailEnd/>
          </a:ln>
          <a:effectLst/>
        </p:spPr>
        <p:txBody>
          <a:bodyPr vert="horz" wrap="square" lIns="91751" tIns="45876" rIns="91751" bIns="45876" numCol="1" anchor="t" anchorCtr="0" compatLnSpc="1">
            <a:prstTxWarp prst="textNoShape">
              <a:avLst/>
            </a:prstTxWarp>
          </a:bodyPr>
          <a:lstStyle>
            <a:lvl1pPr algn="r" defTabSz="917575">
              <a:defRPr sz="1200">
                <a:latin typeface="Arial" pitchFamily="-106" charset="0"/>
                <a:ea typeface="ＭＳ Ｐゴシック" pitchFamily="-106" charset="-128"/>
                <a:cs typeface="ＭＳ Ｐゴシック" pitchFamily="-106" charset="-128"/>
              </a:defRPr>
            </a:lvl1pPr>
          </a:lstStyle>
          <a:p>
            <a:pPr>
              <a:defRPr/>
            </a:pPr>
            <a:endParaRPr lang="en-US"/>
          </a:p>
        </p:txBody>
      </p:sp>
      <p:sp>
        <p:nvSpPr>
          <p:cNvPr id="37892" name="Rectangle 4"/>
          <p:cNvSpPr>
            <a:spLocks noGrp="1" noChangeArrowheads="1"/>
          </p:cNvSpPr>
          <p:nvPr>
            <p:ph type="ftr" sz="quarter" idx="2"/>
          </p:nvPr>
        </p:nvSpPr>
        <p:spPr bwMode="auto">
          <a:xfrm>
            <a:off x="0" y="6515100"/>
            <a:ext cx="3989388" cy="342900"/>
          </a:xfrm>
          <a:prstGeom prst="rect">
            <a:avLst/>
          </a:prstGeom>
          <a:noFill/>
          <a:ln w="9525">
            <a:noFill/>
            <a:miter lim="800000"/>
            <a:headEnd/>
            <a:tailEnd/>
          </a:ln>
          <a:effectLst/>
        </p:spPr>
        <p:txBody>
          <a:bodyPr vert="horz" wrap="square" lIns="91751" tIns="45876" rIns="91751" bIns="45876" numCol="1" anchor="b" anchorCtr="0" compatLnSpc="1">
            <a:prstTxWarp prst="textNoShape">
              <a:avLst/>
            </a:prstTxWarp>
          </a:bodyPr>
          <a:lstStyle>
            <a:lvl1pPr defTabSz="917575">
              <a:defRPr sz="1200">
                <a:latin typeface="Arial" pitchFamily="-106" charset="0"/>
                <a:ea typeface="ＭＳ Ｐゴシック" pitchFamily="-106" charset="-128"/>
                <a:cs typeface="ＭＳ Ｐゴシック" pitchFamily="-106" charset="-128"/>
              </a:defRPr>
            </a:lvl1pPr>
          </a:lstStyle>
          <a:p>
            <a:pPr>
              <a:defRPr/>
            </a:pPr>
            <a:endParaRPr lang="en-US"/>
          </a:p>
        </p:txBody>
      </p:sp>
      <p:sp>
        <p:nvSpPr>
          <p:cNvPr id="37893" name="Rectangle 5"/>
          <p:cNvSpPr>
            <a:spLocks noGrp="1" noChangeArrowheads="1"/>
          </p:cNvSpPr>
          <p:nvPr>
            <p:ph type="sldNum" sz="quarter" idx="3"/>
          </p:nvPr>
        </p:nvSpPr>
        <p:spPr bwMode="auto">
          <a:xfrm>
            <a:off x="5210175" y="6515100"/>
            <a:ext cx="3989388" cy="342900"/>
          </a:xfrm>
          <a:prstGeom prst="rect">
            <a:avLst/>
          </a:prstGeom>
          <a:noFill/>
          <a:ln w="9525">
            <a:noFill/>
            <a:miter lim="800000"/>
            <a:headEnd/>
            <a:tailEnd/>
          </a:ln>
          <a:effectLst/>
        </p:spPr>
        <p:txBody>
          <a:bodyPr vert="horz" wrap="square" lIns="91751" tIns="45876" rIns="91751" bIns="45876" numCol="1" anchor="b" anchorCtr="0" compatLnSpc="1">
            <a:prstTxWarp prst="textNoShape">
              <a:avLst/>
            </a:prstTxWarp>
          </a:bodyPr>
          <a:lstStyle>
            <a:lvl1pPr algn="r" defTabSz="917575">
              <a:defRPr sz="1200"/>
            </a:lvl1pPr>
          </a:lstStyle>
          <a:p>
            <a:fld id="{2221D397-12A1-4145-929C-B50673894413}" type="slidenum">
              <a:rPr lang="en-US" altLang="en-US"/>
              <a:pPr/>
              <a:t>‹#›</a:t>
            </a:fld>
            <a:endParaRPr lang="en-US" altLang="en-US"/>
          </a:p>
        </p:txBody>
      </p:sp>
    </p:spTree>
    <p:extLst>
      <p:ext uri="{BB962C8B-B14F-4D97-AF65-F5344CB8AC3E}">
        <p14:creationId xmlns:p14="http://schemas.microsoft.com/office/powerpoint/2010/main" val="13460613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989388" cy="342900"/>
          </a:xfrm>
          <a:prstGeom prst="rect">
            <a:avLst/>
          </a:prstGeom>
          <a:noFill/>
          <a:ln w="9525">
            <a:noFill/>
            <a:miter lim="800000"/>
            <a:headEnd/>
            <a:tailEnd/>
          </a:ln>
        </p:spPr>
        <p:txBody>
          <a:bodyPr vert="horz" wrap="square" lIns="91751" tIns="45876" rIns="91751" bIns="45876" numCol="1" anchor="t" anchorCtr="0" compatLnSpc="1">
            <a:prstTxWarp prst="textNoShape">
              <a:avLst/>
            </a:prstTxWarp>
          </a:bodyPr>
          <a:lstStyle>
            <a:lvl1pPr defTabSz="917575">
              <a:defRPr sz="1200" b="0">
                <a:latin typeface="Arial" pitchFamily="-106" charset="0"/>
                <a:ea typeface="ＭＳ Ｐゴシック" pitchFamily="-106" charset="-128"/>
                <a:cs typeface="ＭＳ Ｐゴシック" pitchFamily="-106" charset="-128"/>
              </a:defRPr>
            </a:lvl1pPr>
          </a:lstStyle>
          <a:p>
            <a:pPr>
              <a:defRPr/>
            </a:pPr>
            <a:endParaRPr lang="en-US"/>
          </a:p>
        </p:txBody>
      </p:sp>
      <p:sp>
        <p:nvSpPr>
          <p:cNvPr id="17411" name="Rectangle 3"/>
          <p:cNvSpPr>
            <a:spLocks noGrp="1" noChangeArrowheads="1"/>
          </p:cNvSpPr>
          <p:nvPr>
            <p:ph type="dt" idx="1"/>
          </p:nvPr>
        </p:nvSpPr>
        <p:spPr bwMode="auto">
          <a:xfrm>
            <a:off x="0" y="6570663"/>
            <a:ext cx="3989388" cy="287337"/>
          </a:xfrm>
          <a:prstGeom prst="rect">
            <a:avLst/>
          </a:prstGeom>
          <a:noFill/>
          <a:ln w="9525">
            <a:noFill/>
            <a:miter lim="800000"/>
            <a:headEnd/>
            <a:tailEnd/>
          </a:ln>
        </p:spPr>
        <p:txBody>
          <a:bodyPr vert="horz" wrap="square" lIns="91751" tIns="45876" rIns="91751" bIns="45876" numCol="1" anchor="t" anchorCtr="0" compatLnSpc="1">
            <a:prstTxWarp prst="textNoShape">
              <a:avLst/>
            </a:prstTxWarp>
          </a:bodyPr>
          <a:lstStyle>
            <a:lvl1pPr defTabSz="917575">
              <a:defRPr sz="1200" b="0">
                <a:latin typeface="Arial" pitchFamily="-106" charset="0"/>
                <a:ea typeface="ＭＳ Ｐゴシック" pitchFamily="-106" charset="-128"/>
                <a:cs typeface="ＭＳ Ｐゴシック" pitchFamily="-106" charset="-128"/>
              </a:defRPr>
            </a:lvl1pPr>
          </a:lstStyle>
          <a:p>
            <a:pPr>
              <a:defRPr/>
            </a:pPr>
            <a:endParaRPr lang="en-US"/>
          </a:p>
        </p:txBody>
      </p:sp>
      <p:sp>
        <p:nvSpPr>
          <p:cNvPr id="18436" name="Rectangle 4"/>
          <p:cNvSpPr>
            <a:spLocks noGrp="1" noRot="1" noChangeAspect="1" noChangeArrowheads="1" noTextEdit="1"/>
          </p:cNvSpPr>
          <p:nvPr>
            <p:ph type="sldImg" idx="2"/>
          </p:nvPr>
        </p:nvSpPr>
        <p:spPr bwMode="auto">
          <a:xfrm>
            <a:off x="2312988" y="514350"/>
            <a:ext cx="4572000" cy="257175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7413" name="Rectangle 5"/>
          <p:cNvSpPr>
            <a:spLocks noGrp="1" noChangeArrowheads="1"/>
          </p:cNvSpPr>
          <p:nvPr>
            <p:ph type="body" sz="quarter" idx="3"/>
          </p:nvPr>
        </p:nvSpPr>
        <p:spPr bwMode="auto">
          <a:xfrm>
            <a:off x="1227138" y="3257550"/>
            <a:ext cx="6745287" cy="3086100"/>
          </a:xfrm>
          <a:prstGeom prst="rect">
            <a:avLst/>
          </a:prstGeom>
          <a:noFill/>
          <a:ln w="9525">
            <a:noFill/>
            <a:miter lim="800000"/>
            <a:headEnd/>
            <a:tailEnd/>
          </a:ln>
        </p:spPr>
        <p:txBody>
          <a:bodyPr vert="horz" wrap="square" lIns="91751" tIns="45876" rIns="91751" bIns="4587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2733675" y="6515100"/>
            <a:ext cx="3987800" cy="342900"/>
          </a:xfrm>
          <a:prstGeom prst="rect">
            <a:avLst/>
          </a:prstGeom>
          <a:noFill/>
          <a:ln w="9525">
            <a:noFill/>
            <a:miter lim="800000"/>
            <a:headEnd/>
            <a:tailEnd/>
          </a:ln>
        </p:spPr>
        <p:txBody>
          <a:bodyPr vert="horz" wrap="square" lIns="91751" tIns="45876" rIns="91751" bIns="45876" numCol="1" anchor="b" anchorCtr="0" compatLnSpc="1">
            <a:prstTxWarp prst="textNoShape">
              <a:avLst/>
            </a:prstTxWarp>
          </a:bodyPr>
          <a:lstStyle>
            <a:lvl1pPr defTabSz="917575">
              <a:defRPr sz="1200" b="0">
                <a:latin typeface="Arial" pitchFamily="-106" charset="0"/>
                <a:ea typeface="ＭＳ Ｐゴシック" pitchFamily="-106" charset="-128"/>
                <a:cs typeface="ＭＳ Ｐゴシック" pitchFamily="-106" charset="-128"/>
              </a:defRPr>
            </a:lvl1pPr>
          </a:lstStyle>
          <a:p>
            <a:pPr>
              <a:defRPr/>
            </a:pPr>
            <a:endParaRPr lang="en-US"/>
          </a:p>
        </p:txBody>
      </p:sp>
      <p:sp>
        <p:nvSpPr>
          <p:cNvPr id="17415" name="Rectangle 7"/>
          <p:cNvSpPr>
            <a:spLocks noGrp="1" noChangeArrowheads="1"/>
          </p:cNvSpPr>
          <p:nvPr>
            <p:ph type="sldNum" sz="quarter" idx="5"/>
          </p:nvPr>
        </p:nvSpPr>
        <p:spPr bwMode="auto">
          <a:xfrm>
            <a:off x="5210175" y="6515100"/>
            <a:ext cx="3989388" cy="342900"/>
          </a:xfrm>
          <a:prstGeom prst="rect">
            <a:avLst/>
          </a:prstGeom>
          <a:noFill/>
          <a:ln w="9525">
            <a:noFill/>
            <a:miter lim="800000"/>
            <a:headEnd/>
            <a:tailEnd/>
          </a:ln>
        </p:spPr>
        <p:txBody>
          <a:bodyPr vert="horz" wrap="square" lIns="91751" tIns="45876" rIns="91751" bIns="45876" numCol="1" anchor="b" anchorCtr="0" compatLnSpc="1">
            <a:prstTxWarp prst="textNoShape">
              <a:avLst/>
            </a:prstTxWarp>
          </a:bodyPr>
          <a:lstStyle>
            <a:lvl1pPr algn="r" defTabSz="917575">
              <a:defRPr sz="1200" b="0"/>
            </a:lvl1pPr>
          </a:lstStyle>
          <a:p>
            <a:fld id="{6AE6BDF3-438C-5547-BF08-A30E2C98A435}" type="slidenum">
              <a:rPr lang="en-US" altLang="en-US"/>
              <a:pPr/>
              <a:t>‹#›</a:t>
            </a:fld>
            <a:endParaRPr lang="en-US" altLang="en-US"/>
          </a:p>
        </p:txBody>
      </p:sp>
    </p:spTree>
    <p:extLst>
      <p:ext uri="{BB962C8B-B14F-4D97-AF65-F5344CB8AC3E}">
        <p14:creationId xmlns:p14="http://schemas.microsoft.com/office/powerpoint/2010/main" val="1853511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C0160E20-BF8E-294C-8E45-D663F0FC5054}" type="slidenum">
              <a:rPr lang="en-US" altLang="en-US" sz="1200" b="0"/>
              <a:pPr/>
              <a:t>1</a:t>
            </a:fld>
            <a:endParaRPr lang="en-US" altLang="en-US" sz="1200" b="0"/>
          </a:p>
        </p:txBody>
      </p:sp>
      <p:sp>
        <p:nvSpPr>
          <p:cNvPr id="20482" name="Rectangle 2"/>
          <p:cNvSpPr>
            <a:spLocks noGrp="1" noRot="1" noChangeAspect="1" noChangeArrowheads="1" noTextEdit="1"/>
          </p:cNvSpPr>
          <p:nvPr>
            <p:ph type="sldImg"/>
          </p:nvPr>
        </p:nvSpPr>
        <p:spPr>
          <a:xfrm>
            <a:off x="1773238" y="271463"/>
            <a:ext cx="5432425" cy="3055937"/>
          </a:xfrm>
          <a:ln/>
        </p:spPr>
      </p:sp>
    </p:spTree>
    <p:extLst>
      <p:ext uri="{BB962C8B-B14F-4D97-AF65-F5344CB8AC3E}">
        <p14:creationId xmlns:p14="http://schemas.microsoft.com/office/powerpoint/2010/main" val="1660170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408FC404-F2EC-9544-9240-3929695A02F2}" type="slidenum">
              <a:rPr lang="en-US" altLang="en-US" sz="1200" b="0"/>
              <a:pPr/>
              <a:t>4</a:t>
            </a:fld>
            <a:endParaRPr lang="en-US" altLang="en-US" sz="1200" b="0"/>
          </a:p>
        </p:txBody>
      </p:sp>
      <p:sp>
        <p:nvSpPr>
          <p:cNvPr id="27650" name="Rectangle 2"/>
          <p:cNvSpPr>
            <a:spLocks noGrp="1" noRot="1" noChangeAspect="1" noChangeArrowheads="1"/>
          </p:cNvSpPr>
          <p:nvPr>
            <p:ph type="sldImg"/>
          </p:nvPr>
        </p:nvSpPr>
        <p:spPr>
          <a:xfrm>
            <a:off x="2314575" y="514350"/>
            <a:ext cx="4572000" cy="2571750"/>
          </a:xfrm>
          <a:solidFill>
            <a:srgbClr val="FFFFFF"/>
          </a:solidFill>
          <a:ln/>
        </p:spPr>
      </p:sp>
      <p:sp>
        <p:nvSpPr>
          <p:cNvPr id="27651" name="Rectangle 3"/>
          <p:cNvSpPr>
            <a:spLocks noGrp="1" noChangeArrowheads="1"/>
          </p:cNvSpPr>
          <p:nvPr>
            <p:ph type="body" idx="1"/>
          </p:nvPr>
        </p:nvSpPr>
        <p:spPr>
          <a:solidFill>
            <a:srgbClr val="FFFFFF"/>
          </a:solidFill>
          <a:ln>
            <a:solidFill>
              <a:srgbClr val="000000"/>
            </a:solidFill>
          </a:ln>
        </p:spPr>
        <p:txBody>
          <a:bodyPr lIns="89950" tIns="44975" rIns="89950" bIns="44975"/>
          <a:lstStyle/>
          <a:p>
            <a:pPr eaLnBrk="1" hangingPunct="1"/>
            <a:r>
              <a:rPr lang="en-US" altLang="en-US">
                <a:latin typeface="Arial" charset="0"/>
                <a:ea typeface="ＭＳ Ｐゴシック" charset="-128"/>
              </a:rPr>
              <a:t>The core question with the successful landing was, what does NASA do for an encore? What do you do after you literally give the American people the Moon?</a:t>
            </a:r>
            <a:endParaRPr lang="en-US" altLang="en-US" sz="1000">
              <a:latin typeface="Arial" charset="0"/>
              <a:ea typeface="ＭＳ Ｐゴシック" charset="-128"/>
            </a:endParaRPr>
          </a:p>
        </p:txBody>
      </p:sp>
    </p:spTree>
    <p:extLst>
      <p:ext uri="{BB962C8B-B14F-4D97-AF65-F5344CB8AC3E}">
        <p14:creationId xmlns:p14="http://schemas.microsoft.com/office/powerpoint/2010/main" val="2134099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5043456F-F9CA-804A-9464-6A1E80E3ED8C}" type="slidenum">
              <a:rPr lang="en-US" altLang="en-US" sz="1200" b="0"/>
              <a:pPr/>
              <a:t>5</a:t>
            </a:fld>
            <a:endParaRPr lang="en-US" altLang="en-US" sz="1200" b="0"/>
          </a:p>
        </p:txBody>
      </p:sp>
      <p:sp>
        <p:nvSpPr>
          <p:cNvPr id="29698" name="Rectangle 2"/>
          <p:cNvSpPr>
            <a:spLocks noGrp="1" noRot="1" noChangeAspect="1" noChangeArrowheads="1" noTextEdit="1"/>
          </p:cNvSpPr>
          <p:nvPr>
            <p:ph type="sldImg"/>
          </p:nvPr>
        </p:nvSpPr>
        <p:spPr>
          <a:xfrm>
            <a:off x="2312988" y="514350"/>
            <a:ext cx="4572000" cy="2571750"/>
          </a:xfrm>
          <a:ln/>
        </p:spPr>
      </p:sp>
      <p:sp>
        <p:nvSpPr>
          <p:cNvPr id="2969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538491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a:xfrm>
            <a:off x="2312988" y="514350"/>
            <a:ext cx="4572000" cy="2571750"/>
          </a:xfrm>
          <a:ln/>
        </p:spPr>
      </p:sp>
      <p:sp>
        <p:nvSpPr>
          <p:cNvPr id="31746"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b="1">
                <a:latin typeface="Arial" charset="0"/>
                <a:ea typeface="ＭＳ Ｐゴシック" charset="-128"/>
              </a:rPr>
              <a:t>MOL Group 1 - November 1965</a:t>
            </a:r>
            <a:endParaRPr lang="en-US" altLang="en-US" sz="1800">
              <a:latin typeface="Arial" charset="0"/>
              <a:ea typeface="ＭＳ Ｐゴシック" charset="-128"/>
            </a:endParaRPr>
          </a:p>
          <a:p>
            <a:pPr lvl="1"/>
            <a:r>
              <a:rPr lang="en-US" altLang="en-US">
                <a:latin typeface="Arial" charset="0"/>
                <a:ea typeface="ＭＳ Ｐゴシック" charset="-128"/>
              </a:rPr>
              <a:t>Michael J. Adams (Air Force) (killed on X-15 flight, November 15, 1967)</a:t>
            </a:r>
            <a:endParaRPr lang="en-US" altLang="en-US" sz="1800">
              <a:latin typeface="Arial" charset="0"/>
              <a:ea typeface="ＭＳ Ｐゴシック" charset="-128"/>
            </a:endParaRPr>
          </a:p>
          <a:p>
            <a:pPr lvl="1"/>
            <a:r>
              <a:rPr lang="en-US" altLang="en-US">
                <a:latin typeface="Arial" charset="0"/>
                <a:ea typeface="ＭＳ Ｐゴシック" charset="-128"/>
              </a:rPr>
              <a:t>Albert H. Crews Jr. (Air Force)</a:t>
            </a:r>
            <a:endParaRPr lang="en-US" altLang="en-US" sz="1800">
              <a:latin typeface="Arial" charset="0"/>
              <a:ea typeface="ＭＳ Ｐゴシック" charset="-128"/>
            </a:endParaRPr>
          </a:p>
          <a:p>
            <a:pPr lvl="1"/>
            <a:r>
              <a:rPr lang="en-US" altLang="en-US">
                <a:latin typeface="Arial" charset="0"/>
                <a:ea typeface="ＭＳ Ｐゴシック" charset="-128"/>
              </a:rPr>
              <a:t>John L. Finley (Navy)</a:t>
            </a:r>
            <a:endParaRPr lang="en-US" altLang="en-US" sz="1800">
              <a:latin typeface="Arial" charset="0"/>
              <a:ea typeface="ＭＳ Ｐゴシック" charset="-128"/>
            </a:endParaRPr>
          </a:p>
          <a:p>
            <a:pPr lvl="1"/>
            <a:r>
              <a:rPr lang="en-US" altLang="en-US">
                <a:latin typeface="Arial" charset="0"/>
                <a:ea typeface="ＭＳ Ｐゴシック" charset="-128"/>
              </a:rPr>
              <a:t>Richard E. Lawyer (Air Force)</a:t>
            </a:r>
            <a:endParaRPr lang="en-US" altLang="en-US" sz="1800">
              <a:latin typeface="Arial" charset="0"/>
              <a:ea typeface="ＭＳ Ｐゴシック" charset="-128"/>
            </a:endParaRPr>
          </a:p>
          <a:p>
            <a:pPr lvl="1"/>
            <a:r>
              <a:rPr lang="en-US" altLang="en-US">
                <a:latin typeface="Arial" charset="0"/>
                <a:ea typeface="ＭＳ Ｐゴシック" charset="-128"/>
              </a:rPr>
              <a:t>Lachlan Macleay (Air Force)</a:t>
            </a:r>
            <a:endParaRPr lang="en-US" altLang="en-US" sz="1800">
              <a:latin typeface="Arial" charset="0"/>
              <a:ea typeface="ＭＳ Ｐゴシック" charset="-128"/>
            </a:endParaRPr>
          </a:p>
          <a:p>
            <a:pPr lvl="1"/>
            <a:r>
              <a:rPr lang="en-US" altLang="en-US">
                <a:latin typeface="Arial" charset="0"/>
                <a:ea typeface="ＭＳ Ｐゴシック" charset="-128"/>
              </a:rPr>
              <a:t>Francis G. Neubeck (Air Force)</a:t>
            </a:r>
            <a:endParaRPr lang="en-US" altLang="en-US" sz="1800">
              <a:latin typeface="Arial" charset="0"/>
              <a:ea typeface="ＭＳ Ｐゴシック" charset="-128"/>
            </a:endParaRPr>
          </a:p>
          <a:p>
            <a:pPr lvl="1"/>
            <a:r>
              <a:rPr lang="en-US" altLang="en-US">
                <a:latin typeface="Arial" charset="0"/>
                <a:ea typeface="ＭＳ Ｐゴシック" charset="-128"/>
              </a:rPr>
              <a:t>James M. Taylor (Air Force)</a:t>
            </a:r>
            <a:endParaRPr lang="en-US" altLang="en-US" sz="1800">
              <a:latin typeface="Arial" charset="0"/>
              <a:ea typeface="ＭＳ Ｐゴシック" charset="-128"/>
            </a:endParaRPr>
          </a:p>
          <a:p>
            <a:pPr lvl="1"/>
            <a:r>
              <a:rPr lang="en-US" altLang="en-US">
                <a:latin typeface="Arial" charset="0"/>
                <a:ea typeface="ＭＳ Ｐゴシック" charset="-128"/>
              </a:rPr>
              <a:t>Richard H. Truly (Navy) (pilot: Space Shuttle Enterprise ALT #2, STS-2; commander: STS-8) (Administrator: NASA)</a:t>
            </a:r>
            <a:endParaRPr lang="en-US" altLang="en-US" sz="1800">
              <a:latin typeface="Arial" charset="0"/>
              <a:ea typeface="ＭＳ Ｐゴシック" charset="-128"/>
            </a:endParaRPr>
          </a:p>
          <a:p>
            <a:r>
              <a:rPr lang="en-US" altLang="en-US" b="1">
                <a:latin typeface="Arial" charset="0"/>
                <a:ea typeface="ＭＳ Ｐゴシック" charset="-128"/>
              </a:rPr>
              <a:t>MOL Group 2 - June 1966</a:t>
            </a:r>
            <a:endParaRPr lang="en-US" altLang="en-US" sz="1800">
              <a:latin typeface="Arial" charset="0"/>
              <a:ea typeface="ＭＳ Ｐゴシック" charset="-128"/>
            </a:endParaRPr>
          </a:p>
          <a:p>
            <a:pPr lvl="1"/>
            <a:r>
              <a:rPr lang="en-US" altLang="en-US">
                <a:latin typeface="Arial" charset="0"/>
                <a:ea typeface="ＭＳ Ｐゴシック" charset="-128"/>
              </a:rPr>
              <a:t>Karol J. Bobko (Air Force) (pilot: STS-6; commander: STS-51-D. STS-51-J)</a:t>
            </a:r>
            <a:endParaRPr lang="en-US" altLang="en-US" sz="1800">
              <a:latin typeface="Arial" charset="0"/>
              <a:ea typeface="ＭＳ Ｐゴシック" charset="-128"/>
            </a:endParaRPr>
          </a:p>
          <a:p>
            <a:pPr lvl="1"/>
            <a:r>
              <a:rPr lang="en-US" altLang="en-US">
                <a:latin typeface="Arial" charset="0"/>
                <a:ea typeface="ＭＳ Ｐゴシック" charset="-128"/>
              </a:rPr>
              <a:t>Robert L. Crippen (Navy) (pilot:STS-1; commander: STS-7, STS-41C, STS-41G) (Director: Kennedy Space Center)</a:t>
            </a:r>
            <a:endParaRPr lang="en-US" altLang="en-US" sz="1800">
              <a:latin typeface="Arial" charset="0"/>
              <a:ea typeface="ＭＳ Ｐゴシック" charset="-128"/>
            </a:endParaRPr>
          </a:p>
          <a:p>
            <a:pPr lvl="1"/>
            <a:r>
              <a:rPr lang="en-US" altLang="en-US">
                <a:latin typeface="Arial" charset="0"/>
                <a:ea typeface="ＭＳ Ｐゴシック" charset="-128"/>
              </a:rPr>
              <a:t>C. Gordon Fullerton (Air Force) (pilot: Space Shuttle Enterprise ALT #1, STS-3; commander: STS-51-F)</a:t>
            </a:r>
            <a:endParaRPr lang="en-US" altLang="en-US" sz="1800">
              <a:latin typeface="Arial" charset="0"/>
              <a:ea typeface="ＭＳ Ｐゴシック" charset="-128"/>
            </a:endParaRPr>
          </a:p>
          <a:p>
            <a:pPr lvl="1"/>
            <a:r>
              <a:rPr lang="en-US" altLang="en-US">
                <a:latin typeface="Arial" charset="0"/>
                <a:ea typeface="ＭＳ Ｐゴシック" charset="-128"/>
              </a:rPr>
              <a:t>Henry W. Hartsfield, Jr. (Air Force) (pilot: STS-4; commander: STS-41-D, STS-61-A) (Director: Human Exploration and Development of Space Independent Assurance)</a:t>
            </a:r>
            <a:endParaRPr lang="en-US" altLang="en-US" sz="1800">
              <a:latin typeface="Arial" charset="0"/>
              <a:ea typeface="ＭＳ Ｐゴシック" charset="-128"/>
            </a:endParaRPr>
          </a:p>
          <a:p>
            <a:pPr lvl="1"/>
            <a:r>
              <a:rPr lang="en-US" altLang="en-US">
                <a:latin typeface="Arial" charset="0"/>
                <a:ea typeface="ＭＳ Ｐゴシック" charset="-128"/>
              </a:rPr>
              <a:t>Robert F. Overmyer (Marine Corps) (pilot: STS-5; commander: STS-51-B)</a:t>
            </a:r>
            <a:endParaRPr lang="en-US" altLang="en-US" sz="1800">
              <a:latin typeface="Arial" charset="0"/>
              <a:ea typeface="ＭＳ Ｐゴシック" charset="-128"/>
            </a:endParaRPr>
          </a:p>
          <a:p>
            <a:r>
              <a:rPr lang="en-US" altLang="en-US" b="1">
                <a:latin typeface="Arial" charset="0"/>
                <a:ea typeface="ＭＳ Ｐゴシック" charset="-128"/>
              </a:rPr>
              <a:t>MOL Group 3 - June 1967</a:t>
            </a:r>
            <a:endParaRPr lang="en-US" altLang="en-US" sz="1800">
              <a:latin typeface="Arial" charset="0"/>
              <a:ea typeface="ＭＳ Ｐゴシック" charset="-128"/>
            </a:endParaRPr>
          </a:p>
          <a:p>
            <a:pPr lvl="1"/>
            <a:r>
              <a:rPr lang="en-US" altLang="en-US">
                <a:latin typeface="Arial" charset="0"/>
                <a:ea typeface="ＭＳ Ｐゴシック" charset="-128"/>
              </a:rPr>
              <a:t>James A. Abrahamson (Air Force) (Director: Strategic Defense Initiative)</a:t>
            </a:r>
            <a:endParaRPr lang="en-US" altLang="en-US" sz="1800">
              <a:latin typeface="Arial" charset="0"/>
              <a:ea typeface="ＭＳ Ｐゴシック" charset="-128"/>
            </a:endParaRPr>
          </a:p>
          <a:p>
            <a:pPr lvl="1"/>
            <a:r>
              <a:rPr lang="en-US" altLang="en-US">
                <a:latin typeface="Arial" charset="0"/>
                <a:ea typeface="ＭＳ Ｐゴシック" charset="-128"/>
              </a:rPr>
              <a:t>Robert T. Herres (Air Force) (Vice Chairman: Joint Chiefs of Staff)</a:t>
            </a:r>
            <a:endParaRPr lang="en-US" altLang="en-US" sz="1800">
              <a:latin typeface="Arial" charset="0"/>
              <a:ea typeface="ＭＳ Ｐゴシック" charset="-128"/>
            </a:endParaRPr>
          </a:p>
          <a:p>
            <a:pPr lvl="1"/>
            <a:r>
              <a:rPr lang="en-US" altLang="en-US">
                <a:latin typeface="Arial" charset="0"/>
                <a:ea typeface="ＭＳ Ｐゴシック" charset="-128"/>
              </a:rPr>
              <a:t>Robert H. Lawrence, Jr. (Air Force) (killed in training accident, December 1967)</a:t>
            </a:r>
            <a:endParaRPr lang="en-US" altLang="en-US" sz="1800">
              <a:latin typeface="Arial" charset="0"/>
              <a:ea typeface="ＭＳ Ｐゴシック" charset="-128"/>
            </a:endParaRPr>
          </a:p>
          <a:p>
            <a:pPr lvl="1"/>
            <a:r>
              <a:rPr lang="en-US" altLang="en-US">
                <a:latin typeface="Arial" charset="0"/>
                <a:ea typeface="ＭＳ Ｐゴシック" charset="-128"/>
              </a:rPr>
              <a:t>Donald H. Peterson (Air Force) (mission specialist: STS-6)</a:t>
            </a:r>
            <a:endParaRPr lang="en-US" altLang="en-US" sz="1800">
              <a:latin typeface="Arial" charset="0"/>
              <a:ea typeface="ＭＳ Ｐゴシック" charset="-128"/>
            </a:endParaRPr>
          </a:p>
          <a:p>
            <a:endParaRPr lang="en-US" altLang="en-US">
              <a:latin typeface="Arial" charset="0"/>
              <a:ea typeface="ＭＳ Ｐゴシック" charset="-128"/>
            </a:endParaRPr>
          </a:p>
        </p:txBody>
      </p:sp>
      <p:sp>
        <p:nvSpPr>
          <p:cNvPr id="31747"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E76CB2EF-187A-9247-BE9C-5B3BAA1849F0}" type="slidenum">
              <a:rPr lang="en-US" altLang="en-US" sz="1200" b="0"/>
              <a:pPr/>
              <a:t>6</a:t>
            </a:fld>
            <a:endParaRPr lang="en-US" altLang="en-US" sz="1200" b="0"/>
          </a:p>
        </p:txBody>
      </p:sp>
    </p:spTree>
    <p:extLst>
      <p:ext uri="{BB962C8B-B14F-4D97-AF65-F5344CB8AC3E}">
        <p14:creationId xmlns:p14="http://schemas.microsoft.com/office/powerpoint/2010/main" val="931123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a:xfrm>
            <a:off x="2312988" y="514350"/>
            <a:ext cx="4572000" cy="2571750"/>
          </a:xfrm>
          <a:ln/>
        </p:spPr>
      </p:sp>
      <p:sp>
        <p:nvSpPr>
          <p:cNvPr id="41986"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dirty="0">
                <a:latin typeface="Arial" charset="0"/>
                <a:ea typeface="ＭＳ Ｐゴシック" charset="-128"/>
              </a:rPr>
              <a:t>15 flight-qualified Saturn Vs bought. Two unmanned flights, Apollo 4 and 6. </a:t>
            </a:r>
          </a:p>
          <a:p>
            <a:r>
              <a:rPr lang="en-US" altLang="en-US" dirty="0">
                <a:latin typeface="Arial" charset="0"/>
                <a:ea typeface="ＭＳ Ｐゴシック" charset="-128"/>
              </a:rPr>
              <a:t>Apollo 11 done with #6. Nine Saturn Vs for Apollo 12-20. Two left unused. </a:t>
            </a:r>
          </a:p>
          <a:p>
            <a:endParaRPr lang="en-US" altLang="en-US" dirty="0">
              <a:latin typeface="Arial" charset="0"/>
              <a:ea typeface="ＭＳ Ｐゴシック" charset="-128"/>
            </a:endParaRPr>
          </a:p>
        </p:txBody>
      </p:sp>
      <p:sp>
        <p:nvSpPr>
          <p:cNvPr id="41987"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82D8DA0C-7062-B84B-8660-AF4A34683FFD}" type="slidenum">
              <a:rPr lang="en-US" altLang="en-US" sz="1200" b="0"/>
              <a:pPr/>
              <a:t>13</a:t>
            </a:fld>
            <a:endParaRPr lang="en-US" altLang="en-US" sz="1200" b="0"/>
          </a:p>
        </p:txBody>
      </p:sp>
    </p:spTree>
    <p:extLst>
      <p:ext uri="{BB962C8B-B14F-4D97-AF65-F5344CB8AC3E}">
        <p14:creationId xmlns:p14="http://schemas.microsoft.com/office/powerpoint/2010/main" val="101721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E6BDF3-438C-5547-BF08-A30E2C98A435}" type="slidenum">
              <a:rPr lang="en-US" altLang="en-US" smtClean="0"/>
              <a:pPr/>
              <a:t>16</a:t>
            </a:fld>
            <a:endParaRPr lang="en-US" altLang="en-US"/>
          </a:p>
        </p:txBody>
      </p:sp>
    </p:spTree>
    <p:extLst>
      <p:ext uri="{BB962C8B-B14F-4D97-AF65-F5344CB8AC3E}">
        <p14:creationId xmlns:p14="http://schemas.microsoft.com/office/powerpoint/2010/main" val="1938295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7D545497-B0BE-B149-A22C-A6B6BB3AF4A6}" type="slidenum">
              <a:rPr lang="en-US" altLang="en-US" sz="1200" b="0"/>
              <a:pPr/>
              <a:t>17</a:t>
            </a:fld>
            <a:endParaRPr lang="en-US" altLang="en-US" sz="1200" b="0"/>
          </a:p>
        </p:txBody>
      </p:sp>
      <p:sp>
        <p:nvSpPr>
          <p:cNvPr id="44034" name="Rectangle 2"/>
          <p:cNvSpPr>
            <a:spLocks noGrp="1" noRot="1" noChangeAspect="1" noChangeArrowheads="1"/>
          </p:cNvSpPr>
          <p:nvPr>
            <p:ph type="sldImg"/>
          </p:nvPr>
        </p:nvSpPr>
        <p:spPr>
          <a:xfrm>
            <a:off x="2314575" y="514350"/>
            <a:ext cx="4572000" cy="2571750"/>
          </a:xfrm>
          <a:solidFill>
            <a:srgbClr val="FFFFFF"/>
          </a:solidFill>
          <a:ln/>
        </p:spPr>
      </p:sp>
      <p:sp>
        <p:nvSpPr>
          <p:cNvPr id="44035" name="Rectangle 3"/>
          <p:cNvSpPr>
            <a:spLocks noGrp="1" noChangeArrowheads="1"/>
          </p:cNvSpPr>
          <p:nvPr>
            <p:ph type="body" idx="1"/>
          </p:nvPr>
        </p:nvSpPr>
        <p:spPr>
          <a:solidFill>
            <a:srgbClr val="FFFFFF"/>
          </a:solidFill>
          <a:ln>
            <a:solidFill>
              <a:srgbClr val="000000"/>
            </a:solidFill>
          </a:ln>
        </p:spPr>
        <p:txBody>
          <a:bodyPr lIns="89950" tIns="44975" rIns="89950" bIns="44975"/>
          <a:lstStyle/>
          <a:p>
            <a:pPr eaLnBrk="1" hangingPunct="1"/>
            <a:r>
              <a:rPr lang="en-US" altLang="en-US">
                <a:latin typeface="Arial" charset="0"/>
                <a:ea typeface="ＭＳ Ｐゴシック" charset="-128"/>
              </a:rPr>
              <a:t>A permanently occupied space station was the fourth step in Wernher von Braun</a:t>
            </a:r>
            <a:r>
              <a:rPr lang="ja-JP" altLang="en-US">
                <a:latin typeface="Arial" charset="0"/>
                <a:ea typeface="ＭＳ Ｐゴシック" charset="-128"/>
              </a:rPr>
              <a:t>’</a:t>
            </a:r>
            <a:r>
              <a:rPr lang="en-US" altLang="ja-JP">
                <a:latin typeface="Arial" charset="0"/>
                <a:ea typeface="ＭＳ Ｐゴシック" charset="-128"/>
              </a:rPr>
              <a:t>s space architecture. Although sidetracked by Apollo it returned in the 1970s as an effort.</a:t>
            </a:r>
          </a:p>
          <a:p>
            <a:pPr eaLnBrk="1" hangingPunct="1"/>
            <a:r>
              <a:rPr lang="en-US" altLang="en-US">
                <a:latin typeface="Arial" charset="0"/>
                <a:ea typeface="ＭＳ Ｐゴシック" charset="-128"/>
              </a:rPr>
              <a:t>Unlike the wheeled vehicles envisioned by von Braun, Skylab shown here served as an orbital workshop between 1973 and 1975, but reentered the atmosphere in 1979 before NASA could return there and reoccupy it.</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Thermal blanket deployed by astronauts on first mission.</a:t>
            </a:r>
          </a:p>
          <a:p>
            <a:pPr eaLnBrk="1" hangingPunct="1"/>
            <a:br>
              <a:rPr lang="en-US" altLang="en-US">
                <a:latin typeface="Arial" charset="0"/>
                <a:ea typeface="ＭＳ Ｐゴシック" charset="-128"/>
              </a:rPr>
            </a:br>
            <a:r>
              <a:rPr lang="en-US" altLang="en-US">
                <a:latin typeface="Arial" charset="0"/>
                <a:ea typeface="ＭＳ Ｐゴシック" charset="-128"/>
              </a:rPr>
              <a:t>Pioneer 10 to Jupiter. Pioneer 11 to Jupiter and Saturn.</a:t>
            </a:r>
          </a:p>
          <a:p>
            <a:pPr eaLnBrk="1" hangingPunct="1"/>
            <a:r>
              <a:rPr lang="en-US" altLang="en-US">
                <a:latin typeface="Arial" charset="0"/>
                <a:ea typeface="ＭＳ Ｐゴシック" charset="-128"/>
              </a:rPr>
              <a:t>Voyager 1 to Jupiter and Saturn. Voyager 2 to Jupiter, Saturn, Uranus, and Neptune.</a:t>
            </a:r>
          </a:p>
        </p:txBody>
      </p:sp>
    </p:spTree>
    <p:extLst>
      <p:ext uri="{BB962C8B-B14F-4D97-AF65-F5344CB8AC3E}">
        <p14:creationId xmlns:p14="http://schemas.microsoft.com/office/powerpoint/2010/main" val="233561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p:cNvSpPr>
          <p:nvPr>
            <p:ph type="sldImg"/>
          </p:nvPr>
        </p:nvSpPr>
        <p:spPr>
          <a:xfrm>
            <a:off x="2312988" y="514350"/>
            <a:ext cx="4572000" cy="2571750"/>
          </a:xfrm>
          <a:ln/>
        </p:spPr>
      </p:sp>
      <p:sp>
        <p:nvSpPr>
          <p:cNvPr id="35842"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a:latin typeface="Arial" charset="0"/>
                <a:ea typeface="ＭＳ Ｐゴシック" charset="-128"/>
              </a:rPr>
              <a:t>Saturn V from Apollo 20 used to launch Skylab. 77 metric ton, compared to 60 metric ton Chinese station design for 2020.</a:t>
            </a:r>
          </a:p>
          <a:p>
            <a:r>
              <a:rPr lang="en-US" altLang="en-US">
                <a:latin typeface="Arial" charset="0"/>
                <a:ea typeface="ＭＳ Ｐゴシック" charset="-128"/>
              </a:rPr>
              <a:t>1973-74 for three missions. Re-enters in 1979 prior to Shuttle being available. </a:t>
            </a:r>
          </a:p>
          <a:p>
            <a:r>
              <a:rPr lang="en-US" altLang="en-US">
                <a:latin typeface="Arial" charset="0"/>
                <a:ea typeface="ＭＳ Ｐゴシック" charset="-128"/>
              </a:rPr>
              <a:t>Apollo Applications Program</a:t>
            </a:r>
          </a:p>
          <a:p>
            <a:endParaRPr lang="en-US" altLang="en-US">
              <a:latin typeface="Arial" charset="0"/>
              <a:ea typeface="ＭＳ Ｐゴシック" charset="-128"/>
            </a:endParaRPr>
          </a:p>
          <a:p>
            <a:r>
              <a:rPr lang="en-US" altLang="en-US">
                <a:latin typeface="Arial" charset="0"/>
                <a:ea typeface="ＭＳ Ｐゴシック" charset="-128"/>
              </a:rPr>
              <a:t>Apollo-Soyuz in July 1975</a:t>
            </a:r>
          </a:p>
          <a:p>
            <a:r>
              <a:rPr lang="en-US" altLang="en-US">
                <a:latin typeface="Arial" charset="0"/>
                <a:ea typeface="ＭＳ Ｐゴシック" charset="-128"/>
              </a:rPr>
              <a:t>Alexi Leonov, had done 1965 spacewalk</a:t>
            </a:r>
          </a:p>
          <a:p>
            <a:r>
              <a:rPr lang="en-US" altLang="en-US">
                <a:latin typeface="Arial" charset="0"/>
                <a:ea typeface="ＭＳ Ｐゴシック" charset="-128"/>
              </a:rPr>
              <a:t>Kubarsov</a:t>
            </a:r>
          </a:p>
          <a:p>
            <a:r>
              <a:rPr lang="en-US" altLang="en-US">
                <a:latin typeface="Arial" charset="0"/>
                <a:ea typeface="ＭＳ Ｐゴシック" charset="-128"/>
              </a:rPr>
              <a:t>Deke Slayton from Mercury 7, docking module pilot</a:t>
            </a:r>
          </a:p>
          <a:p>
            <a:r>
              <a:rPr lang="en-US" altLang="en-US">
                <a:latin typeface="Arial" charset="0"/>
                <a:ea typeface="ＭＳ Ｐゴシック" charset="-128"/>
              </a:rPr>
              <a:t>Vance Bran and Tom Stafford.</a:t>
            </a:r>
          </a:p>
        </p:txBody>
      </p:sp>
      <p:sp>
        <p:nvSpPr>
          <p:cNvPr id="35843"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29EEFBB5-0A7F-FD4D-83A0-5B8701B3D004}" type="slidenum">
              <a:rPr lang="en-US" altLang="en-US" sz="1200" b="0"/>
              <a:pPr/>
              <a:t>18</a:t>
            </a:fld>
            <a:endParaRPr lang="en-US" altLang="en-US" sz="1200" b="0"/>
          </a:p>
        </p:txBody>
      </p:sp>
    </p:spTree>
    <p:extLst>
      <p:ext uri="{BB962C8B-B14F-4D97-AF65-F5344CB8AC3E}">
        <p14:creationId xmlns:p14="http://schemas.microsoft.com/office/powerpoint/2010/main" val="67899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7856C4A5-2C35-AD45-A29A-C373136D4F25}" type="slidenum">
              <a:rPr lang="en-US" altLang="en-US" sz="1200" b="0"/>
              <a:pPr/>
              <a:t>20</a:t>
            </a:fld>
            <a:endParaRPr lang="en-US" altLang="en-US" sz="1200" b="0"/>
          </a:p>
        </p:txBody>
      </p:sp>
      <p:sp>
        <p:nvSpPr>
          <p:cNvPr id="47106" name="Rectangle 2"/>
          <p:cNvSpPr>
            <a:spLocks noGrp="1" noRot="1" noChangeAspect="1" noChangeArrowheads="1"/>
          </p:cNvSpPr>
          <p:nvPr>
            <p:ph type="sldImg"/>
          </p:nvPr>
        </p:nvSpPr>
        <p:spPr>
          <a:xfrm>
            <a:off x="2314575" y="514350"/>
            <a:ext cx="4572000" cy="2571750"/>
          </a:xfrm>
          <a:solidFill>
            <a:srgbClr val="FFFFFF"/>
          </a:solidFill>
          <a:ln/>
        </p:spPr>
      </p:sp>
      <p:sp>
        <p:nvSpPr>
          <p:cNvPr id="47107" name="Rectangle 3"/>
          <p:cNvSpPr>
            <a:spLocks noGrp="1" noChangeArrowheads="1"/>
          </p:cNvSpPr>
          <p:nvPr>
            <p:ph type="body" idx="1"/>
          </p:nvPr>
        </p:nvSpPr>
        <p:spPr>
          <a:solidFill>
            <a:srgbClr val="FFFFFF"/>
          </a:solidFill>
          <a:ln>
            <a:solidFill>
              <a:srgbClr val="000000"/>
            </a:solidFill>
          </a:ln>
        </p:spPr>
        <p:txBody>
          <a:bodyPr lIns="89950" tIns="44975" rIns="89950" bIns="44975"/>
          <a:lstStyle/>
          <a:p>
            <a:pPr eaLnBrk="1" hangingPunct="1"/>
            <a:r>
              <a:rPr lang="en-US" altLang="en-US">
                <a:latin typeface="Arial" charset="0"/>
                <a:ea typeface="ＭＳ Ｐゴシック" charset="-128"/>
              </a:rPr>
              <a:t>The answer was a reusable Space Shuttle that would provide routine, inexpensive access to space for all users. ELVs were intended to be phased out of the U.S. launch inventory, and shuttle would eventually become the only launcher for U.S. payloads.</a:t>
            </a:r>
          </a:p>
        </p:txBody>
      </p:sp>
    </p:spTree>
    <p:extLst>
      <p:ext uri="{BB962C8B-B14F-4D97-AF65-F5344CB8AC3E}">
        <p14:creationId xmlns:p14="http://schemas.microsoft.com/office/powerpoint/2010/main" val="2016532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xfrm>
            <a:off x="2312988" y="514350"/>
            <a:ext cx="4572000" cy="2571750"/>
          </a:xfrm>
          <a:ln/>
        </p:spPr>
      </p:sp>
      <p:sp>
        <p:nvSpPr>
          <p:cNvPr id="38915" name="Notes Placeholder 2"/>
          <p:cNvSpPr>
            <a:spLocks noGrp="1"/>
          </p:cNvSpPr>
          <p:nvPr>
            <p:ph type="body" idx="1"/>
          </p:nvPr>
        </p:nvSpPr>
        <p:spPr>
          <a:noFill/>
          <a:ln/>
        </p:spPr>
        <p:txBody>
          <a:bodyPr/>
          <a:lstStyle/>
          <a:p>
            <a:endParaRPr lang="en-US">
              <a:latin typeface="Times"/>
            </a:endParaRPr>
          </a:p>
        </p:txBody>
      </p:sp>
      <p:sp>
        <p:nvSpPr>
          <p:cNvPr id="38916" name="Slide Number Placeholder 3"/>
          <p:cNvSpPr>
            <a:spLocks noGrp="1"/>
          </p:cNvSpPr>
          <p:nvPr>
            <p:ph type="sldNum" sz="quarter" idx="5"/>
          </p:nvPr>
        </p:nvSpPr>
        <p:spPr>
          <a:noFill/>
        </p:spPr>
        <p:txBody>
          <a:bodyPr/>
          <a:lstStyle/>
          <a:p>
            <a:fld id="{3280A4C0-2360-49E7-B957-38CFB81ABDC1}" type="slidenum">
              <a:rPr lang="en-US" smtClean="0">
                <a:latin typeface="Times"/>
              </a:rPr>
              <a:pPr/>
              <a:t>23</a:t>
            </a:fld>
            <a:endParaRPr lang="en-US">
              <a:latin typeface="Times"/>
            </a:endParaRPr>
          </a:p>
        </p:txBody>
      </p:sp>
    </p:spTree>
    <p:extLst>
      <p:ext uri="{BB962C8B-B14F-4D97-AF65-F5344CB8AC3E}">
        <p14:creationId xmlns:p14="http://schemas.microsoft.com/office/powerpoint/2010/main" val="280868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p:cNvSpPr>
          <p:nvPr>
            <p:ph type="sldImg"/>
          </p:nvPr>
        </p:nvSpPr>
        <p:spPr>
          <a:xfrm>
            <a:off x="2312988" y="514350"/>
            <a:ext cx="4572000" cy="2571750"/>
          </a:xfrm>
          <a:ln/>
        </p:spPr>
      </p:sp>
      <p:sp>
        <p:nvSpPr>
          <p:cNvPr id="53250"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a:latin typeface="Arial" charset="0"/>
                <a:ea typeface="ＭＳ Ｐゴシック" charset="-128"/>
              </a:rPr>
              <a:t>55-60 flights per year studied.</a:t>
            </a:r>
          </a:p>
          <a:p>
            <a:r>
              <a:rPr lang="en-US" altLang="en-US">
                <a:latin typeface="Arial" charset="0"/>
                <a:ea typeface="ＭＳ Ｐゴシック" charset="-128"/>
              </a:rPr>
              <a:t>Later reduced to 40 flights per year with 5 orbiter fleet.</a:t>
            </a:r>
          </a:p>
          <a:p>
            <a:r>
              <a:rPr lang="en-US" altLang="en-US">
                <a:latin typeface="Arial" charset="0"/>
                <a:ea typeface="ＭＳ Ｐゴシック" charset="-128"/>
              </a:rPr>
              <a:t>External tank production limitations at Michoud, maximum of 24 flights per year.  4 Orbiter fleet.</a:t>
            </a:r>
          </a:p>
          <a:p>
            <a:r>
              <a:rPr lang="en-US" altLang="en-US">
                <a:latin typeface="Arial" charset="0"/>
                <a:ea typeface="ＭＳ Ｐゴシック" charset="-128"/>
              </a:rPr>
              <a:t>This was the standard estimate until the loss of Challenger. </a:t>
            </a:r>
          </a:p>
        </p:txBody>
      </p:sp>
      <p:sp>
        <p:nvSpPr>
          <p:cNvPr id="53251"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8E983CEC-51D1-1D42-AD18-86D3A036E1F4}" type="slidenum">
              <a:rPr lang="en-US" altLang="en-US" sz="1200" b="0"/>
              <a:pPr/>
              <a:t>28</a:t>
            </a:fld>
            <a:endParaRPr lang="en-US" altLang="en-US" sz="1200" b="0"/>
          </a:p>
        </p:txBody>
      </p:sp>
    </p:spTree>
    <p:extLst>
      <p:ext uri="{BB962C8B-B14F-4D97-AF65-F5344CB8AC3E}">
        <p14:creationId xmlns:p14="http://schemas.microsoft.com/office/powerpoint/2010/main" val="2774660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p:cNvSpPr>
          <p:nvPr>
            <p:ph type="sldImg"/>
          </p:nvPr>
        </p:nvSpPr>
        <p:spPr>
          <a:xfrm>
            <a:off x="2312988" y="514350"/>
            <a:ext cx="4572000" cy="2571750"/>
          </a:xfrm>
          <a:ln/>
        </p:spPr>
      </p:sp>
      <p:sp>
        <p:nvSpPr>
          <p:cNvPr id="64514"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a:latin typeface="Arial" charset="0"/>
                <a:ea typeface="ＭＳ Ｐゴシック" charset="-128"/>
              </a:rPr>
              <a:t>SLC-6 was declared operational during acceptance ceremonies held on October 15, 1985. However, much additional work and testing was still required. </a:t>
            </a:r>
            <a:r>
              <a:rPr lang="en-US" altLang="en-US" i="1" u="sng">
                <a:latin typeface="Arial" charset="0"/>
                <a:ea typeface="ＭＳ Ｐゴシック" charset="-128"/>
              </a:rPr>
              <a:t>Enterprise</a:t>
            </a:r>
            <a:r>
              <a:rPr lang="en-US" altLang="en-US">
                <a:latin typeface="Arial" charset="0"/>
                <a:ea typeface="ＭＳ Ｐゴシック" charset="-128"/>
              </a:rPr>
              <a:t> was used for a series of fit checks like those conducted at LC-39 in 1980.</a:t>
            </a:r>
          </a:p>
          <a:p>
            <a:endParaRPr lang="en-US" altLang="en-US">
              <a:latin typeface="Arial" charset="0"/>
              <a:ea typeface="ＭＳ Ｐゴシック" charset="-128"/>
            </a:endParaRPr>
          </a:p>
          <a:p>
            <a:r>
              <a:rPr lang="en-US" altLang="en-US">
                <a:latin typeface="Arial" charset="0"/>
                <a:ea typeface="ＭＳ Ｐゴシック" charset="-128"/>
              </a:rPr>
              <a:t>The inaugural polar-orbit flight, designated </a:t>
            </a:r>
            <a:r>
              <a:rPr lang="en-US" altLang="en-US" u="sng">
                <a:latin typeface="Arial" charset="0"/>
                <a:ea typeface="ＭＳ Ｐゴシック" charset="-128"/>
              </a:rPr>
              <a:t>STS-62-A</a:t>
            </a:r>
            <a:r>
              <a:rPr lang="en-US" altLang="en-US">
                <a:latin typeface="Arial" charset="0"/>
                <a:ea typeface="ＭＳ Ｐゴシック" charset="-128"/>
              </a:rPr>
              <a:t>, and using </a:t>
            </a:r>
            <a:r>
              <a:rPr lang="en-US" altLang="en-US" i="1" u="sng">
                <a:latin typeface="Arial" charset="0"/>
                <a:ea typeface="ＭＳ Ｐゴシック" charset="-128"/>
              </a:rPr>
              <a:t>Discovery</a:t>
            </a:r>
            <a:r>
              <a:rPr lang="en-US" altLang="en-US">
                <a:latin typeface="Arial" charset="0"/>
                <a:ea typeface="ＭＳ Ｐゴシック" charset="-128"/>
              </a:rPr>
              <a:t> with Shuttle veteran </a:t>
            </a:r>
            <a:r>
              <a:rPr lang="en-US" altLang="en-US" u="sng">
                <a:latin typeface="Arial" charset="0"/>
                <a:ea typeface="ＭＳ Ｐゴシック" charset="-128"/>
              </a:rPr>
              <a:t>Robert Crippen</a:t>
            </a:r>
            <a:r>
              <a:rPr lang="en-US" altLang="en-US">
                <a:latin typeface="Arial" charset="0"/>
                <a:ea typeface="ＭＳ Ｐゴシック" charset="-128"/>
              </a:rPr>
              <a:t> as commander, was planned for October 15, 1986. However, the </a:t>
            </a:r>
            <a:r>
              <a:rPr lang="en-US" altLang="en-US" i="1" u="sng">
                <a:latin typeface="Arial" charset="0"/>
                <a:ea typeface="ＭＳ Ｐゴシック" charset="-128"/>
              </a:rPr>
              <a:t>Challenger</a:t>
            </a:r>
            <a:r>
              <a:rPr lang="en-US" altLang="en-US">
                <a:latin typeface="Arial" charset="0"/>
                <a:ea typeface="ＭＳ Ｐゴシック" charset="-128"/>
              </a:rPr>
              <a:t> </a:t>
            </a:r>
            <a:r>
              <a:rPr lang="en-US" altLang="en-US" u="sng">
                <a:latin typeface="Arial" charset="0"/>
                <a:ea typeface="ＭＳ Ｐゴシック" charset="-128"/>
              </a:rPr>
              <a:t>Disaster</a:t>
            </a:r>
            <a:r>
              <a:rPr lang="en-US" altLang="en-US">
                <a:latin typeface="Arial" charset="0"/>
                <a:ea typeface="ＭＳ Ｐゴシック" charset="-128"/>
              </a:rPr>
              <a:t> of January 28, 1986 grounded the Shuttle fleet as efforts were concentrated on recovery and returning the program to flight after a two year hiatus.</a:t>
            </a:r>
          </a:p>
          <a:p>
            <a:endParaRPr lang="en-US" altLang="en-US">
              <a:latin typeface="Arial" charset="0"/>
              <a:ea typeface="ＭＳ Ｐゴシック" charset="-128"/>
            </a:endParaRPr>
          </a:p>
          <a:p>
            <a:r>
              <a:rPr lang="en-US" altLang="en-US">
                <a:latin typeface="Arial" charset="0"/>
                <a:ea typeface="ＭＳ Ｐゴシック" charset="-128"/>
              </a:rPr>
              <a:t>On July 31, 1986 Secretary of the Air Force </a:t>
            </a:r>
            <a:r>
              <a:rPr lang="en-US" altLang="en-US" u="sng">
                <a:latin typeface="Arial" charset="0"/>
                <a:ea typeface="ＭＳ Ｐゴシック" charset="-128"/>
              </a:rPr>
              <a:t>Edward C. Aldridge Jr.</a:t>
            </a:r>
            <a:r>
              <a:rPr lang="en-US" altLang="en-US">
                <a:latin typeface="Arial" charset="0"/>
                <a:ea typeface="ＭＳ Ｐゴシック" charset="-128"/>
              </a:rPr>
              <a:t> announced that Vandenberg's space shuttle program would be placed in "operational caretaker status," six months after the space shuttle </a:t>
            </a:r>
            <a:r>
              <a:rPr lang="en-US" altLang="en-US" u="sng">
                <a:latin typeface="Arial" charset="0"/>
                <a:ea typeface="ＭＳ Ｐゴシック" charset="-128"/>
              </a:rPr>
              <a:t>Challenger</a:t>
            </a:r>
            <a:r>
              <a:rPr lang="en-US" altLang="en-US">
                <a:latin typeface="Arial" charset="0"/>
                <a:ea typeface="ＭＳ Ｐゴシック" charset="-128"/>
              </a:rPr>
              <a:t> accident. A few months later, however, SLC-6 was placed in "minimum caretaker status" on February 20, 1987.</a:t>
            </a:r>
          </a:p>
          <a:p>
            <a:endParaRPr lang="en-US" altLang="en-US">
              <a:latin typeface="Arial" charset="0"/>
              <a:ea typeface="ＭＳ Ｐゴシック" charset="-128"/>
            </a:endParaRPr>
          </a:p>
          <a:p>
            <a:r>
              <a:rPr lang="en-US" altLang="en-US">
                <a:latin typeface="Arial" charset="0"/>
                <a:ea typeface="ＭＳ Ｐゴシック" charset="-128"/>
              </a:rPr>
              <a:t>The Air Force officially terminated the space shuttle program at Vandenberg on December 26, 1989. The estimated cost for the failed program was $4 billion.</a:t>
            </a:r>
          </a:p>
          <a:p>
            <a:endParaRPr lang="en-US" altLang="en-US">
              <a:latin typeface="Arial" charset="0"/>
              <a:ea typeface="ＭＳ Ｐゴシック" charset="-128"/>
            </a:endParaRPr>
          </a:p>
          <a:p>
            <a:r>
              <a:rPr lang="en-US" altLang="en-US">
                <a:latin typeface="Arial" charset="0"/>
                <a:ea typeface="ＭＳ Ｐゴシック" charset="-128"/>
              </a:rPr>
              <a:t>Just six months later on July 6, 1990, Lockheed Space Operations Company (LSOC) was awarded an Air Force ground system contract to modify SLC-6 into a </a:t>
            </a:r>
            <a:r>
              <a:rPr lang="en-US" altLang="en-US" u="sng">
                <a:latin typeface="Arial" charset="0"/>
                <a:ea typeface="ＭＳ Ｐゴシック" charset="-128"/>
              </a:rPr>
              <a:t>Titan IV</a:t>
            </a:r>
            <a:r>
              <a:rPr lang="en-US" altLang="en-US">
                <a:latin typeface="Arial" charset="0"/>
                <a:ea typeface="ＭＳ Ｐゴシック" charset="-128"/>
              </a:rPr>
              <a:t>/</a:t>
            </a:r>
            <a:r>
              <a:rPr lang="en-US" altLang="en-US" u="sng">
                <a:latin typeface="Arial" charset="0"/>
                <a:ea typeface="ＭＳ Ｐゴシック" charset="-128"/>
              </a:rPr>
              <a:t>Centaur</a:t>
            </a:r>
            <a:r>
              <a:rPr lang="en-US" altLang="en-US">
                <a:latin typeface="Arial" charset="0"/>
                <a:ea typeface="ＭＳ Ｐゴシック" charset="-128"/>
              </a:rPr>
              <a:t> launch complex — essentially an uprated facility from the original MOL program that would have launched a Titan III vehicle. Site work was scheduled to begin in late-FY1992, and lead to an initial launch capability sometime in FY1996.</a:t>
            </a:r>
          </a:p>
          <a:p>
            <a:endParaRPr lang="en-US" altLang="en-US">
              <a:latin typeface="Arial" charset="0"/>
              <a:ea typeface="ＭＳ Ｐゴシック" charset="-128"/>
            </a:endParaRPr>
          </a:p>
          <a:p>
            <a:r>
              <a:rPr lang="en-US" altLang="en-US">
                <a:latin typeface="Arial" charset="0"/>
                <a:ea typeface="ＭＳ Ｐゴシック" charset="-128"/>
              </a:rPr>
              <a:t>However, on March 22, 1991, HQ USAF reversed itself again by announcing the termination of the Titan IV/Centaur program at SLC-6. The reasons given for the project being canceled was due to </a:t>
            </a:r>
            <a:r>
              <a:rPr lang="en-US" altLang="en-US" i="1">
                <a:latin typeface="Arial" charset="0"/>
                <a:ea typeface="ＭＳ Ｐゴシック" charset="-128"/>
              </a:rPr>
              <a:t>"insufficient Titan IV launch requirements from the West Coast to support the construction of a new launch pad."</a:t>
            </a:r>
            <a:r>
              <a:rPr lang="en-US" altLang="en-US">
                <a:latin typeface="Arial" charset="0"/>
                <a:ea typeface="ＭＳ Ｐゴシック" charset="-128"/>
              </a:rPr>
              <a:t>. The contract with LSOC was closed out several months later.</a:t>
            </a:r>
          </a:p>
          <a:p>
            <a:endParaRPr lang="en-US" altLang="en-US">
              <a:latin typeface="Arial" charset="0"/>
              <a:ea typeface="ＭＳ Ｐゴシック" charset="-128"/>
            </a:endParaRPr>
          </a:p>
        </p:txBody>
      </p:sp>
      <p:sp>
        <p:nvSpPr>
          <p:cNvPr id="64515"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BF4B8F4C-E961-E149-953D-231A95D4428C}" type="slidenum">
              <a:rPr lang="en-US" altLang="en-US" sz="1200" b="0"/>
              <a:pPr/>
              <a:t>38</a:t>
            </a:fld>
            <a:endParaRPr lang="en-US" altLang="en-US" sz="1200" b="0"/>
          </a:p>
        </p:txBody>
      </p:sp>
    </p:spTree>
    <p:extLst>
      <p:ext uri="{BB962C8B-B14F-4D97-AF65-F5344CB8AC3E}">
        <p14:creationId xmlns:p14="http://schemas.microsoft.com/office/powerpoint/2010/main" val="1184938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charset="0"/>
                <a:ea typeface="ＭＳ Ｐゴシック" charset="-128"/>
              </a:defRPr>
            </a:lvl1pPr>
            <a:lvl2pPr marL="742950" indent="-285750" defTabSz="917575">
              <a:defRPr sz="2400" b="1">
                <a:solidFill>
                  <a:schemeClr val="tx1"/>
                </a:solidFill>
                <a:latin typeface="Arial" charset="0"/>
                <a:ea typeface="ＭＳ Ｐゴシック" charset="-128"/>
              </a:defRPr>
            </a:lvl2pPr>
            <a:lvl3pPr marL="1143000" indent="-228600" defTabSz="917575">
              <a:defRPr sz="2400" b="1">
                <a:solidFill>
                  <a:schemeClr val="tx1"/>
                </a:solidFill>
                <a:latin typeface="Arial" charset="0"/>
                <a:ea typeface="ＭＳ Ｐゴシック" charset="-128"/>
              </a:defRPr>
            </a:lvl3pPr>
            <a:lvl4pPr marL="1600200" indent="-228600" defTabSz="917575">
              <a:defRPr sz="2400" b="1">
                <a:solidFill>
                  <a:schemeClr val="tx1"/>
                </a:solidFill>
                <a:latin typeface="Arial" charset="0"/>
                <a:ea typeface="ＭＳ Ｐゴシック" charset="-128"/>
              </a:defRPr>
            </a:lvl4pPr>
            <a:lvl5pPr marL="2057400" indent="-228600" defTabSz="917575">
              <a:defRPr sz="2400" b="1">
                <a:solidFill>
                  <a:schemeClr val="tx1"/>
                </a:solidFill>
                <a:latin typeface="Arial" charset="0"/>
                <a:ea typeface="ＭＳ Ｐゴシック" charset="-128"/>
              </a:defRPr>
            </a:lvl5pPr>
            <a:lvl6pPr marL="2514600" indent="-228600" defTabSz="917575"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defTabSz="917575"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defTabSz="917575"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defTabSz="917575" eaLnBrk="0" fontAlgn="base" hangingPunct="0">
              <a:spcBef>
                <a:spcPct val="0"/>
              </a:spcBef>
              <a:spcAft>
                <a:spcPct val="0"/>
              </a:spcAft>
              <a:defRPr sz="2400" b="1">
                <a:solidFill>
                  <a:schemeClr val="tx1"/>
                </a:solidFill>
                <a:latin typeface="Arial" charset="0"/>
                <a:ea typeface="ＭＳ Ｐゴシック" charset="-128"/>
              </a:defRPr>
            </a:lvl9pPr>
          </a:lstStyle>
          <a:p>
            <a:fld id="{8B4FD3C8-28A4-D748-A0DA-AB0D67657C12}" type="slidenum">
              <a:rPr lang="en-US" altLang="en-US" sz="1200" b="0"/>
              <a:pPr/>
              <a:t>41</a:t>
            </a:fld>
            <a:endParaRPr lang="en-US" altLang="en-US" sz="1200" b="0"/>
          </a:p>
        </p:txBody>
      </p:sp>
      <p:sp>
        <p:nvSpPr>
          <p:cNvPr id="67586" name="Rectangle 2"/>
          <p:cNvSpPr>
            <a:spLocks noGrp="1" noRot="1" noChangeAspect="1" noChangeArrowheads="1" noTextEdit="1"/>
          </p:cNvSpPr>
          <p:nvPr>
            <p:ph type="sldImg"/>
          </p:nvPr>
        </p:nvSpPr>
        <p:spPr>
          <a:xfrm>
            <a:off x="2312988" y="514350"/>
            <a:ext cx="4572000" cy="2571750"/>
          </a:xfrm>
          <a:ln/>
        </p:spPr>
      </p:sp>
      <p:sp>
        <p:nvSpPr>
          <p:cNvPr id="67587"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1642603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3CF24112-00FD-8F49-A195-5F93BED2F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575">
              <a:defRPr sz="2400" b="1">
                <a:solidFill>
                  <a:schemeClr val="tx1"/>
                </a:solidFill>
                <a:latin typeface="Arial" panose="020B0604020202020204" pitchFamily="34" charset="0"/>
                <a:ea typeface="ＭＳ Ｐゴシック" panose="020B0600070205080204" pitchFamily="34" charset="-128"/>
              </a:defRPr>
            </a:lvl1pPr>
            <a:lvl2pPr marL="742950" indent="-285750" defTabSz="917575">
              <a:defRPr sz="2400" b="1">
                <a:solidFill>
                  <a:schemeClr val="tx1"/>
                </a:solidFill>
                <a:latin typeface="Arial" panose="020B0604020202020204" pitchFamily="34" charset="0"/>
                <a:ea typeface="ＭＳ Ｐゴシック" panose="020B0600070205080204" pitchFamily="34" charset="-128"/>
              </a:defRPr>
            </a:lvl2pPr>
            <a:lvl3pPr marL="1143000" indent="-228600" defTabSz="917575">
              <a:defRPr sz="2400" b="1">
                <a:solidFill>
                  <a:schemeClr val="tx1"/>
                </a:solidFill>
                <a:latin typeface="Arial" panose="020B0604020202020204" pitchFamily="34" charset="0"/>
                <a:ea typeface="ＭＳ Ｐゴシック" panose="020B0600070205080204" pitchFamily="34" charset="-128"/>
              </a:defRPr>
            </a:lvl3pPr>
            <a:lvl4pPr marL="1600200" indent="-228600" defTabSz="917575">
              <a:defRPr sz="2400" b="1">
                <a:solidFill>
                  <a:schemeClr val="tx1"/>
                </a:solidFill>
                <a:latin typeface="Arial" panose="020B0604020202020204" pitchFamily="34" charset="0"/>
                <a:ea typeface="ＭＳ Ｐゴシック" panose="020B0600070205080204" pitchFamily="34" charset="-128"/>
              </a:defRPr>
            </a:lvl4pPr>
            <a:lvl5pPr marL="2057400" indent="-228600" defTabSz="917575">
              <a:defRPr sz="2400" b="1">
                <a:solidFill>
                  <a:schemeClr val="tx1"/>
                </a:solidFill>
                <a:latin typeface="Arial" panose="020B0604020202020204" pitchFamily="34" charset="0"/>
                <a:ea typeface="ＭＳ Ｐゴシック" panose="020B0600070205080204" pitchFamily="34" charset="-128"/>
              </a:defRPr>
            </a:lvl5pPr>
            <a:lvl6pPr marL="25146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17575"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fld id="{FA4D2C57-2CD9-8C4F-9399-7F443D171A8F}" type="slidenum">
              <a:rPr lang="en-US" altLang="en-US" sz="1200" b="0"/>
              <a:pPr/>
              <a:t>44</a:t>
            </a:fld>
            <a:endParaRPr lang="en-US" altLang="en-US" sz="1200" b="0"/>
          </a:p>
        </p:txBody>
      </p:sp>
      <p:sp>
        <p:nvSpPr>
          <p:cNvPr id="76802" name="Rectangle 2">
            <a:extLst>
              <a:ext uri="{FF2B5EF4-FFF2-40B4-BE49-F238E27FC236}">
                <a16:creationId xmlns:a16="http://schemas.microsoft.com/office/drawing/2014/main" id="{B37878F2-AB81-204D-9EC8-5328FD9FFDC4}"/>
              </a:ext>
            </a:extLst>
          </p:cNvPr>
          <p:cNvSpPr>
            <a:spLocks noGrp="1" noRot="1" noChangeAspect="1" noChangeArrowheads="1" noTextEdit="1"/>
          </p:cNvSpPr>
          <p:nvPr>
            <p:ph type="sldImg"/>
          </p:nvPr>
        </p:nvSpPr>
        <p:spPr>
          <a:xfrm>
            <a:off x="2312988" y="514350"/>
            <a:ext cx="4572000" cy="2571750"/>
          </a:xfrm>
          <a:ln/>
        </p:spPr>
      </p:sp>
      <p:sp>
        <p:nvSpPr>
          <p:cNvPr id="76803" name="Rectangle 3">
            <a:extLst>
              <a:ext uri="{FF2B5EF4-FFF2-40B4-BE49-F238E27FC236}">
                <a16:creationId xmlns:a16="http://schemas.microsoft.com/office/drawing/2014/main" id="{C5AA52DC-E2E3-C647-AD12-64F46275BB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03140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7"/>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7"/>
          <p:cNvSpPr>
            <a:spLocks noGrp="1" noChangeArrowheads="1"/>
          </p:cNvSpPr>
          <p:nvPr>
            <p:ph type="ftr" sz="quarter" idx="10"/>
          </p:nvPr>
        </p:nvSpPr>
        <p:spPr>
          <a:ln/>
        </p:spPr>
        <p:txBody>
          <a:bodyPr/>
          <a:lstStyle>
            <a:lvl1pPr>
              <a:defRPr/>
            </a:lvl1pPr>
          </a:lstStyle>
          <a:p>
            <a:pPr>
              <a:defRPr/>
            </a:pPr>
            <a:endParaRPr lang="en-US"/>
          </a:p>
        </p:txBody>
      </p:sp>
      <p:sp>
        <p:nvSpPr>
          <p:cNvPr id="5" name="Rectangle 70"/>
          <p:cNvSpPr>
            <a:spLocks noGrp="1" noChangeArrowheads="1"/>
          </p:cNvSpPr>
          <p:nvPr>
            <p:ph type="sldNum" sz="quarter" idx="11"/>
          </p:nvPr>
        </p:nvSpPr>
        <p:spPr>
          <a:ln/>
        </p:spPr>
        <p:txBody>
          <a:bodyPr/>
          <a:lstStyle>
            <a:lvl1pPr>
              <a:defRPr/>
            </a:lvl1pPr>
          </a:lstStyle>
          <a:p>
            <a:fld id="{54450719-98ED-4C45-9CD7-B10326B51DEE}" type="slidenum">
              <a:rPr lang="en-US" altLang="en-US"/>
              <a:pPr/>
              <a:t>‹#›</a:t>
            </a:fld>
            <a:endParaRPr lang="en-US" altLang="en-US"/>
          </a:p>
        </p:txBody>
      </p:sp>
    </p:spTree>
    <p:extLst>
      <p:ext uri="{BB962C8B-B14F-4D97-AF65-F5344CB8AC3E}">
        <p14:creationId xmlns:p14="http://schemas.microsoft.com/office/powerpoint/2010/main" val="1330675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7"/>
          <p:cNvSpPr>
            <a:spLocks noGrp="1" noChangeArrowheads="1"/>
          </p:cNvSpPr>
          <p:nvPr>
            <p:ph type="ftr" sz="quarter" idx="10"/>
          </p:nvPr>
        </p:nvSpPr>
        <p:spPr>
          <a:ln/>
        </p:spPr>
        <p:txBody>
          <a:bodyPr/>
          <a:lstStyle>
            <a:lvl1pPr>
              <a:defRPr/>
            </a:lvl1pPr>
          </a:lstStyle>
          <a:p>
            <a:pPr>
              <a:defRPr/>
            </a:pPr>
            <a:endParaRPr lang="en-US"/>
          </a:p>
        </p:txBody>
      </p:sp>
      <p:sp>
        <p:nvSpPr>
          <p:cNvPr id="5" name="Rectangle 70"/>
          <p:cNvSpPr>
            <a:spLocks noGrp="1" noChangeArrowheads="1"/>
          </p:cNvSpPr>
          <p:nvPr>
            <p:ph type="sldNum" sz="quarter" idx="11"/>
          </p:nvPr>
        </p:nvSpPr>
        <p:spPr>
          <a:ln/>
        </p:spPr>
        <p:txBody>
          <a:bodyPr/>
          <a:lstStyle>
            <a:lvl1pPr>
              <a:defRPr/>
            </a:lvl1pPr>
          </a:lstStyle>
          <a:p>
            <a:fld id="{38E73FAB-E902-9E49-897F-40757D2AAE3D}" type="slidenum">
              <a:rPr lang="en-US" altLang="en-US"/>
              <a:pPr/>
              <a:t>‹#›</a:t>
            </a:fld>
            <a:endParaRPr lang="en-US" altLang="en-US"/>
          </a:p>
        </p:txBody>
      </p:sp>
    </p:spTree>
    <p:extLst>
      <p:ext uri="{BB962C8B-B14F-4D97-AF65-F5344CB8AC3E}">
        <p14:creationId xmlns:p14="http://schemas.microsoft.com/office/powerpoint/2010/main" val="760378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7"/>
          <p:cNvSpPr>
            <a:spLocks noGrp="1" noChangeArrowheads="1"/>
          </p:cNvSpPr>
          <p:nvPr>
            <p:ph type="ftr" sz="quarter" idx="10"/>
          </p:nvPr>
        </p:nvSpPr>
        <p:spPr>
          <a:ln/>
        </p:spPr>
        <p:txBody>
          <a:bodyPr/>
          <a:lstStyle>
            <a:lvl1pPr>
              <a:defRPr/>
            </a:lvl1pPr>
          </a:lstStyle>
          <a:p>
            <a:pPr>
              <a:defRPr/>
            </a:pPr>
            <a:endParaRPr lang="en-US"/>
          </a:p>
        </p:txBody>
      </p:sp>
      <p:sp>
        <p:nvSpPr>
          <p:cNvPr id="5" name="Rectangle 70"/>
          <p:cNvSpPr>
            <a:spLocks noGrp="1" noChangeArrowheads="1"/>
          </p:cNvSpPr>
          <p:nvPr>
            <p:ph type="sldNum" sz="quarter" idx="11"/>
          </p:nvPr>
        </p:nvSpPr>
        <p:spPr>
          <a:ln/>
        </p:spPr>
        <p:txBody>
          <a:bodyPr/>
          <a:lstStyle>
            <a:lvl1pPr>
              <a:defRPr/>
            </a:lvl1pPr>
          </a:lstStyle>
          <a:p>
            <a:fld id="{07F78B70-ED68-8549-92B7-1ED5CD620E2D}" type="slidenum">
              <a:rPr lang="en-US" altLang="en-US"/>
              <a:pPr/>
              <a:t>‹#›</a:t>
            </a:fld>
            <a:endParaRPr lang="en-US" altLang="en-US"/>
          </a:p>
        </p:txBody>
      </p:sp>
    </p:spTree>
    <p:extLst>
      <p:ext uri="{BB962C8B-B14F-4D97-AF65-F5344CB8AC3E}">
        <p14:creationId xmlns:p14="http://schemas.microsoft.com/office/powerpoint/2010/main" val="214684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78933" y="1460502"/>
            <a:ext cx="5080000" cy="4741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62133" y="1460502"/>
            <a:ext cx="5080000" cy="4741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7"/>
          <p:cNvSpPr>
            <a:spLocks noGrp="1" noChangeArrowheads="1"/>
          </p:cNvSpPr>
          <p:nvPr>
            <p:ph type="ftr" sz="quarter" idx="10"/>
          </p:nvPr>
        </p:nvSpPr>
        <p:spPr>
          <a:ln/>
        </p:spPr>
        <p:txBody>
          <a:bodyPr/>
          <a:lstStyle>
            <a:lvl1pPr>
              <a:defRPr/>
            </a:lvl1pPr>
          </a:lstStyle>
          <a:p>
            <a:pPr>
              <a:defRPr/>
            </a:pPr>
            <a:endParaRPr lang="en-US"/>
          </a:p>
        </p:txBody>
      </p:sp>
      <p:sp>
        <p:nvSpPr>
          <p:cNvPr id="6" name="Rectangle 70"/>
          <p:cNvSpPr>
            <a:spLocks noGrp="1" noChangeArrowheads="1"/>
          </p:cNvSpPr>
          <p:nvPr>
            <p:ph type="sldNum" sz="quarter" idx="11"/>
          </p:nvPr>
        </p:nvSpPr>
        <p:spPr>
          <a:ln/>
        </p:spPr>
        <p:txBody>
          <a:bodyPr/>
          <a:lstStyle>
            <a:lvl1pPr>
              <a:defRPr/>
            </a:lvl1pPr>
          </a:lstStyle>
          <a:p>
            <a:fld id="{D3DE5002-C8EE-5241-83F4-98CA4D506698}" type="slidenum">
              <a:rPr lang="en-US" altLang="en-US"/>
              <a:pPr/>
              <a:t>‹#›</a:t>
            </a:fld>
            <a:endParaRPr lang="en-US" altLang="en-US"/>
          </a:p>
        </p:txBody>
      </p:sp>
    </p:spTree>
    <p:extLst>
      <p:ext uri="{BB962C8B-B14F-4D97-AF65-F5344CB8AC3E}">
        <p14:creationId xmlns:p14="http://schemas.microsoft.com/office/powerpoint/2010/main" val="2103648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7"/>
          <p:cNvSpPr>
            <a:spLocks noGrp="1" noChangeArrowheads="1"/>
          </p:cNvSpPr>
          <p:nvPr>
            <p:ph type="ftr" sz="quarter" idx="10"/>
          </p:nvPr>
        </p:nvSpPr>
        <p:spPr>
          <a:ln/>
        </p:spPr>
        <p:txBody>
          <a:bodyPr/>
          <a:lstStyle>
            <a:lvl1pPr>
              <a:defRPr/>
            </a:lvl1pPr>
          </a:lstStyle>
          <a:p>
            <a:pPr>
              <a:defRPr/>
            </a:pPr>
            <a:endParaRPr lang="en-US"/>
          </a:p>
        </p:txBody>
      </p:sp>
      <p:sp>
        <p:nvSpPr>
          <p:cNvPr id="8" name="Rectangle 70"/>
          <p:cNvSpPr>
            <a:spLocks noGrp="1" noChangeArrowheads="1"/>
          </p:cNvSpPr>
          <p:nvPr>
            <p:ph type="sldNum" sz="quarter" idx="11"/>
          </p:nvPr>
        </p:nvSpPr>
        <p:spPr>
          <a:ln/>
        </p:spPr>
        <p:txBody>
          <a:bodyPr/>
          <a:lstStyle>
            <a:lvl1pPr>
              <a:defRPr/>
            </a:lvl1pPr>
          </a:lstStyle>
          <a:p>
            <a:fld id="{917DCAD0-03A2-344B-91B7-87F0CEA212F4}" type="slidenum">
              <a:rPr lang="en-US" altLang="en-US"/>
              <a:pPr/>
              <a:t>‹#›</a:t>
            </a:fld>
            <a:endParaRPr lang="en-US" altLang="en-US"/>
          </a:p>
        </p:txBody>
      </p:sp>
    </p:spTree>
    <p:extLst>
      <p:ext uri="{BB962C8B-B14F-4D97-AF65-F5344CB8AC3E}">
        <p14:creationId xmlns:p14="http://schemas.microsoft.com/office/powerpoint/2010/main" val="1994773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7"/>
          <p:cNvSpPr>
            <a:spLocks noGrp="1" noChangeArrowheads="1"/>
          </p:cNvSpPr>
          <p:nvPr>
            <p:ph type="ftr" sz="quarter" idx="10"/>
          </p:nvPr>
        </p:nvSpPr>
        <p:spPr>
          <a:ln/>
        </p:spPr>
        <p:txBody>
          <a:bodyPr/>
          <a:lstStyle>
            <a:lvl1pPr>
              <a:defRPr/>
            </a:lvl1pPr>
          </a:lstStyle>
          <a:p>
            <a:pPr>
              <a:defRPr/>
            </a:pPr>
            <a:endParaRPr lang="en-US"/>
          </a:p>
        </p:txBody>
      </p:sp>
      <p:sp>
        <p:nvSpPr>
          <p:cNvPr id="4" name="Rectangle 70"/>
          <p:cNvSpPr>
            <a:spLocks noGrp="1" noChangeArrowheads="1"/>
          </p:cNvSpPr>
          <p:nvPr>
            <p:ph type="sldNum" sz="quarter" idx="11"/>
          </p:nvPr>
        </p:nvSpPr>
        <p:spPr>
          <a:ln/>
        </p:spPr>
        <p:txBody>
          <a:bodyPr/>
          <a:lstStyle>
            <a:lvl1pPr>
              <a:defRPr/>
            </a:lvl1pPr>
          </a:lstStyle>
          <a:p>
            <a:fld id="{E55D0397-20D1-B54D-9ADF-645EEAA00C7E}" type="slidenum">
              <a:rPr lang="en-US" altLang="en-US"/>
              <a:pPr/>
              <a:t>‹#›</a:t>
            </a:fld>
            <a:endParaRPr lang="en-US" altLang="en-US"/>
          </a:p>
        </p:txBody>
      </p:sp>
    </p:spTree>
    <p:extLst>
      <p:ext uri="{BB962C8B-B14F-4D97-AF65-F5344CB8AC3E}">
        <p14:creationId xmlns:p14="http://schemas.microsoft.com/office/powerpoint/2010/main" val="178574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ftr" sz="quarter" idx="10"/>
          </p:nvPr>
        </p:nvSpPr>
        <p:spPr>
          <a:ln/>
        </p:spPr>
        <p:txBody>
          <a:bodyPr/>
          <a:lstStyle>
            <a:lvl1pPr>
              <a:defRPr/>
            </a:lvl1pPr>
          </a:lstStyle>
          <a:p>
            <a:pPr>
              <a:defRPr/>
            </a:pPr>
            <a:endParaRPr lang="en-US"/>
          </a:p>
        </p:txBody>
      </p:sp>
      <p:sp>
        <p:nvSpPr>
          <p:cNvPr id="3" name="Rectangle 70"/>
          <p:cNvSpPr>
            <a:spLocks noGrp="1" noChangeArrowheads="1"/>
          </p:cNvSpPr>
          <p:nvPr>
            <p:ph type="sldNum" sz="quarter" idx="11"/>
          </p:nvPr>
        </p:nvSpPr>
        <p:spPr>
          <a:ln/>
        </p:spPr>
        <p:txBody>
          <a:bodyPr/>
          <a:lstStyle>
            <a:lvl1pPr>
              <a:defRPr/>
            </a:lvl1pPr>
          </a:lstStyle>
          <a:p>
            <a:fld id="{8EC424DB-4AEB-3A43-8511-BC056CE625DD}" type="slidenum">
              <a:rPr lang="en-US" altLang="en-US"/>
              <a:pPr/>
              <a:t>‹#›</a:t>
            </a:fld>
            <a:endParaRPr lang="en-US" altLang="en-US"/>
          </a:p>
        </p:txBody>
      </p:sp>
    </p:spTree>
    <p:extLst>
      <p:ext uri="{BB962C8B-B14F-4D97-AF65-F5344CB8AC3E}">
        <p14:creationId xmlns:p14="http://schemas.microsoft.com/office/powerpoint/2010/main" val="1858162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4" y="273052"/>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p:cNvSpPr>
            <a:spLocks noGrp="1" noChangeArrowheads="1"/>
          </p:cNvSpPr>
          <p:nvPr>
            <p:ph type="ftr" sz="quarter" idx="10"/>
          </p:nvPr>
        </p:nvSpPr>
        <p:spPr>
          <a:ln/>
        </p:spPr>
        <p:txBody>
          <a:bodyPr/>
          <a:lstStyle>
            <a:lvl1pPr>
              <a:defRPr/>
            </a:lvl1pPr>
          </a:lstStyle>
          <a:p>
            <a:pPr>
              <a:defRPr/>
            </a:pPr>
            <a:endParaRPr lang="en-US"/>
          </a:p>
        </p:txBody>
      </p:sp>
      <p:sp>
        <p:nvSpPr>
          <p:cNvPr id="6" name="Rectangle 70"/>
          <p:cNvSpPr>
            <a:spLocks noGrp="1" noChangeArrowheads="1"/>
          </p:cNvSpPr>
          <p:nvPr>
            <p:ph type="sldNum" sz="quarter" idx="11"/>
          </p:nvPr>
        </p:nvSpPr>
        <p:spPr>
          <a:ln/>
        </p:spPr>
        <p:txBody>
          <a:bodyPr/>
          <a:lstStyle>
            <a:lvl1pPr>
              <a:defRPr/>
            </a:lvl1pPr>
          </a:lstStyle>
          <a:p>
            <a:fld id="{0A4F163B-CD20-A842-A81D-3BF8FD4AFFA9}" type="slidenum">
              <a:rPr lang="en-US" altLang="en-US"/>
              <a:pPr/>
              <a:t>‹#›</a:t>
            </a:fld>
            <a:endParaRPr lang="en-US" altLang="en-US"/>
          </a:p>
        </p:txBody>
      </p:sp>
    </p:spTree>
    <p:extLst>
      <p:ext uri="{BB962C8B-B14F-4D97-AF65-F5344CB8AC3E}">
        <p14:creationId xmlns:p14="http://schemas.microsoft.com/office/powerpoint/2010/main" val="1436984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7"/>
          <p:cNvSpPr>
            <a:spLocks noGrp="1" noChangeArrowheads="1"/>
          </p:cNvSpPr>
          <p:nvPr>
            <p:ph type="ftr" sz="quarter" idx="10"/>
          </p:nvPr>
        </p:nvSpPr>
        <p:spPr>
          <a:ln/>
        </p:spPr>
        <p:txBody>
          <a:bodyPr/>
          <a:lstStyle>
            <a:lvl1pPr>
              <a:defRPr/>
            </a:lvl1pPr>
          </a:lstStyle>
          <a:p>
            <a:pPr>
              <a:defRPr/>
            </a:pPr>
            <a:endParaRPr lang="en-US"/>
          </a:p>
        </p:txBody>
      </p:sp>
      <p:sp>
        <p:nvSpPr>
          <p:cNvPr id="6" name="Rectangle 70"/>
          <p:cNvSpPr>
            <a:spLocks noGrp="1" noChangeArrowheads="1"/>
          </p:cNvSpPr>
          <p:nvPr>
            <p:ph type="sldNum" sz="quarter" idx="11"/>
          </p:nvPr>
        </p:nvSpPr>
        <p:spPr>
          <a:ln/>
        </p:spPr>
        <p:txBody>
          <a:bodyPr/>
          <a:lstStyle>
            <a:lvl1pPr>
              <a:defRPr/>
            </a:lvl1pPr>
          </a:lstStyle>
          <a:p>
            <a:fld id="{5A59DED2-0F99-1E46-BF11-4156DA5C52A3}" type="slidenum">
              <a:rPr lang="en-US" altLang="en-US"/>
              <a:pPr/>
              <a:t>‹#›</a:t>
            </a:fld>
            <a:endParaRPr lang="en-US" altLang="en-US"/>
          </a:p>
        </p:txBody>
      </p:sp>
    </p:spTree>
    <p:extLst>
      <p:ext uri="{BB962C8B-B14F-4D97-AF65-F5344CB8AC3E}">
        <p14:creationId xmlns:p14="http://schemas.microsoft.com/office/powerpoint/2010/main" val="805111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7"/>
          <p:cNvSpPr>
            <a:spLocks noGrp="1" noChangeArrowheads="1"/>
          </p:cNvSpPr>
          <p:nvPr>
            <p:ph type="ftr" sz="quarter" idx="10"/>
          </p:nvPr>
        </p:nvSpPr>
        <p:spPr>
          <a:ln/>
        </p:spPr>
        <p:txBody>
          <a:bodyPr/>
          <a:lstStyle>
            <a:lvl1pPr>
              <a:defRPr/>
            </a:lvl1pPr>
          </a:lstStyle>
          <a:p>
            <a:pPr>
              <a:defRPr/>
            </a:pPr>
            <a:endParaRPr lang="en-US"/>
          </a:p>
        </p:txBody>
      </p:sp>
      <p:sp>
        <p:nvSpPr>
          <p:cNvPr id="5" name="Rectangle 70"/>
          <p:cNvSpPr>
            <a:spLocks noGrp="1" noChangeArrowheads="1"/>
          </p:cNvSpPr>
          <p:nvPr>
            <p:ph type="sldNum" sz="quarter" idx="11"/>
          </p:nvPr>
        </p:nvSpPr>
        <p:spPr>
          <a:ln/>
        </p:spPr>
        <p:txBody>
          <a:bodyPr/>
          <a:lstStyle>
            <a:lvl1pPr>
              <a:defRPr/>
            </a:lvl1pPr>
          </a:lstStyle>
          <a:p>
            <a:fld id="{B74C1E6F-D80A-BD4D-8095-D46948528C88}" type="slidenum">
              <a:rPr lang="en-US" altLang="en-US"/>
              <a:pPr/>
              <a:t>‹#›</a:t>
            </a:fld>
            <a:endParaRPr lang="en-US" altLang="en-US"/>
          </a:p>
        </p:txBody>
      </p:sp>
    </p:spTree>
    <p:extLst>
      <p:ext uri="{BB962C8B-B14F-4D97-AF65-F5344CB8AC3E}">
        <p14:creationId xmlns:p14="http://schemas.microsoft.com/office/powerpoint/2010/main" val="218739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51335" y="142875"/>
            <a:ext cx="2590800" cy="60594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8935" y="142875"/>
            <a:ext cx="7569200" cy="60594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7"/>
          <p:cNvSpPr>
            <a:spLocks noGrp="1" noChangeArrowheads="1"/>
          </p:cNvSpPr>
          <p:nvPr>
            <p:ph type="ftr" sz="quarter" idx="10"/>
          </p:nvPr>
        </p:nvSpPr>
        <p:spPr>
          <a:ln/>
        </p:spPr>
        <p:txBody>
          <a:bodyPr/>
          <a:lstStyle>
            <a:lvl1pPr>
              <a:defRPr/>
            </a:lvl1pPr>
          </a:lstStyle>
          <a:p>
            <a:pPr>
              <a:defRPr/>
            </a:pPr>
            <a:endParaRPr lang="en-US"/>
          </a:p>
        </p:txBody>
      </p:sp>
      <p:sp>
        <p:nvSpPr>
          <p:cNvPr id="5" name="Rectangle 70"/>
          <p:cNvSpPr>
            <a:spLocks noGrp="1" noChangeArrowheads="1"/>
          </p:cNvSpPr>
          <p:nvPr>
            <p:ph type="sldNum" sz="quarter" idx="11"/>
          </p:nvPr>
        </p:nvSpPr>
        <p:spPr>
          <a:ln/>
        </p:spPr>
        <p:txBody>
          <a:bodyPr/>
          <a:lstStyle>
            <a:lvl1pPr>
              <a:defRPr/>
            </a:lvl1pPr>
          </a:lstStyle>
          <a:p>
            <a:fld id="{B226399B-B8D9-3C40-8ACC-08608FBD7C77}" type="slidenum">
              <a:rPr lang="en-US" altLang="en-US"/>
              <a:pPr/>
              <a:t>‹#›</a:t>
            </a:fld>
            <a:endParaRPr lang="en-US" altLang="en-US"/>
          </a:p>
        </p:txBody>
      </p:sp>
    </p:spTree>
    <p:extLst>
      <p:ext uri="{BB962C8B-B14F-4D97-AF65-F5344CB8AC3E}">
        <p14:creationId xmlns:p14="http://schemas.microsoft.com/office/powerpoint/2010/main" val="2007063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301751" y="142875"/>
            <a:ext cx="9711268" cy="801688"/>
          </a:xfrm>
        </p:spPr>
        <p:txBody>
          <a:bodyPr/>
          <a:lstStyle/>
          <a:p>
            <a:r>
              <a:rPr lang="en-US"/>
              <a:t>Click to edit Master title style</a:t>
            </a:r>
          </a:p>
        </p:txBody>
      </p:sp>
      <p:sp>
        <p:nvSpPr>
          <p:cNvPr id="3" name="Content Placeholder 2"/>
          <p:cNvSpPr>
            <a:spLocks noGrp="1"/>
          </p:cNvSpPr>
          <p:nvPr>
            <p:ph sz="quarter" idx="1"/>
          </p:nvPr>
        </p:nvSpPr>
        <p:spPr>
          <a:xfrm>
            <a:off x="778933" y="1460500"/>
            <a:ext cx="5080000" cy="229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62133" y="1460500"/>
            <a:ext cx="5080000" cy="229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778933" y="3906840"/>
            <a:ext cx="10363200" cy="229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7"/>
          <p:cNvSpPr>
            <a:spLocks noGrp="1" noChangeArrowheads="1"/>
          </p:cNvSpPr>
          <p:nvPr>
            <p:ph type="ftr" sz="quarter" idx="10"/>
          </p:nvPr>
        </p:nvSpPr>
        <p:spPr>
          <a:ln/>
        </p:spPr>
        <p:txBody>
          <a:bodyPr/>
          <a:lstStyle>
            <a:lvl1pPr>
              <a:defRPr/>
            </a:lvl1pPr>
          </a:lstStyle>
          <a:p>
            <a:pPr>
              <a:defRPr/>
            </a:pPr>
            <a:endParaRPr lang="en-US"/>
          </a:p>
        </p:txBody>
      </p:sp>
      <p:sp>
        <p:nvSpPr>
          <p:cNvPr id="7" name="Rectangle 70"/>
          <p:cNvSpPr>
            <a:spLocks noGrp="1" noChangeArrowheads="1"/>
          </p:cNvSpPr>
          <p:nvPr>
            <p:ph type="sldNum" sz="quarter" idx="11"/>
          </p:nvPr>
        </p:nvSpPr>
        <p:spPr>
          <a:ln/>
        </p:spPr>
        <p:txBody>
          <a:bodyPr/>
          <a:lstStyle>
            <a:lvl1pPr>
              <a:defRPr/>
            </a:lvl1pPr>
          </a:lstStyle>
          <a:p>
            <a:fld id="{0AE9EBE2-CCAF-264F-8B9A-123399410B9B}" type="slidenum">
              <a:rPr lang="en-US" altLang="en-US"/>
              <a:pPr/>
              <a:t>‹#›</a:t>
            </a:fld>
            <a:endParaRPr lang="en-US" altLang="en-US"/>
          </a:p>
        </p:txBody>
      </p:sp>
    </p:spTree>
    <p:extLst>
      <p:ext uri="{BB962C8B-B14F-4D97-AF65-F5344CB8AC3E}">
        <p14:creationId xmlns:p14="http://schemas.microsoft.com/office/powerpoint/2010/main" val="372853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301751" y="142875"/>
            <a:ext cx="9711268" cy="801688"/>
          </a:xfrm>
        </p:spPr>
        <p:txBody>
          <a:bodyPr/>
          <a:lstStyle/>
          <a:p>
            <a:r>
              <a:rPr lang="en-US"/>
              <a:t>Click to edit Master title style</a:t>
            </a:r>
          </a:p>
        </p:txBody>
      </p:sp>
      <p:sp>
        <p:nvSpPr>
          <p:cNvPr id="3" name="ClipArt Placeholder 2"/>
          <p:cNvSpPr>
            <a:spLocks noGrp="1"/>
          </p:cNvSpPr>
          <p:nvPr>
            <p:ph type="clipArt" sz="half" idx="1"/>
          </p:nvPr>
        </p:nvSpPr>
        <p:spPr>
          <a:xfrm>
            <a:off x="778933" y="1460502"/>
            <a:ext cx="5080000" cy="4741863"/>
          </a:xfrm>
        </p:spPr>
        <p:txBody>
          <a:bodyPr/>
          <a:lstStyle/>
          <a:p>
            <a:pPr lvl="0"/>
            <a:endParaRPr lang="en-US" noProof="0"/>
          </a:p>
        </p:txBody>
      </p:sp>
      <p:sp>
        <p:nvSpPr>
          <p:cNvPr id="4" name="Text Placeholder 3"/>
          <p:cNvSpPr>
            <a:spLocks noGrp="1"/>
          </p:cNvSpPr>
          <p:nvPr>
            <p:ph type="body" sz="half" idx="2"/>
          </p:nvPr>
        </p:nvSpPr>
        <p:spPr>
          <a:xfrm>
            <a:off x="6062133" y="1460502"/>
            <a:ext cx="5080000" cy="4741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7"/>
          <p:cNvSpPr>
            <a:spLocks noGrp="1" noChangeArrowheads="1"/>
          </p:cNvSpPr>
          <p:nvPr>
            <p:ph type="ftr" sz="quarter" idx="10"/>
          </p:nvPr>
        </p:nvSpPr>
        <p:spPr>
          <a:ln/>
        </p:spPr>
        <p:txBody>
          <a:bodyPr/>
          <a:lstStyle>
            <a:lvl1pPr>
              <a:defRPr/>
            </a:lvl1pPr>
          </a:lstStyle>
          <a:p>
            <a:pPr>
              <a:defRPr/>
            </a:pPr>
            <a:endParaRPr lang="en-US"/>
          </a:p>
        </p:txBody>
      </p:sp>
      <p:sp>
        <p:nvSpPr>
          <p:cNvPr id="6" name="Rectangle 70"/>
          <p:cNvSpPr>
            <a:spLocks noGrp="1" noChangeArrowheads="1"/>
          </p:cNvSpPr>
          <p:nvPr>
            <p:ph type="sldNum" sz="quarter" idx="11"/>
          </p:nvPr>
        </p:nvSpPr>
        <p:spPr>
          <a:ln/>
        </p:spPr>
        <p:txBody>
          <a:bodyPr/>
          <a:lstStyle>
            <a:lvl1pPr>
              <a:defRPr/>
            </a:lvl1pPr>
          </a:lstStyle>
          <a:p>
            <a:fld id="{07D36717-3FCD-2642-8BC3-895198741BC0}" type="slidenum">
              <a:rPr lang="en-US" altLang="en-US"/>
              <a:pPr/>
              <a:t>‹#›</a:t>
            </a:fld>
            <a:endParaRPr lang="en-US" altLang="en-US"/>
          </a:p>
        </p:txBody>
      </p:sp>
    </p:spTree>
    <p:extLst>
      <p:ext uri="{BB962C8B-B14F-4D97-AF65-F5344CB8AC3E}">
        <p14:creationId xmlns:p14="http://schemas.microsoft.com/office/powerpoint/2010/main" val="1737892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301751" y="142875"/>
            <a:ext cx="9711268" cy="801688"/>
          </a:xfrm>
        </p:spPr>
        <p:txBody>
          <a:bodyPr/>
          <a:lstStyle/>
          <a:p>
            <a:r>
              <a:rPr lang="en-US"/>
              <a:t>Click to edit Master title style</a:t>
            </a:r>
          </a:p>
        </p:txBody>
      </p:sp>
      <p:sp>
        <p:nvSpPr>
          <p:cNvPr id="3" name="Content Placeholder 2"/>
          <p:cNvSpPr>
            <a:spLocks noGrp="1"/>
          </p:cNvSpPr>
          <p:nvPr>
            <p:ph sz="half" idx="1"/>
          </p:nvPr>
        </p:nvSpPr>
        <p:spPr>
          <a:xfrm>
            <a:off x="778933" y="1460502"/>
            <a:ext cx="5080000" cy="4741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62133" y="1460502"/>
            <a:ext cx="5080000" cy="4741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7"/>
          <p:cNvSpPr>
            <a:spLocks noGrp="1" noChangeArrowheads="1"/>
          </p:cNvSpPr>
          <p:nvPr>
            <p:ph type="ftr" sz="quarter" idx="10"/>
          </p:nvPr>
        </p:nvSpPr>
        <p:spPr>
          <a:ln/>
        </p:spPr>
        <p:txBody>
          <a:bodyPr/>
          <a:lstStyle>
            <a:lvl1pPr>
              <a:defRPr/>
            </a:lvl1pPr>
          </a:lstStyle>
          <a:p>
            <a:pPr>
              <a:defRPr/>
            </a:pPr>
            <a:endParaRPr lang="en-US"/>
          </a:p>
        </p:txBody>
      </p:sp>
      <p:sp>
        <p:nvSpPr>
          <p:cNvPr id="6" name="Rectangle 70"/>
          <p:cNvSpPr>
            <a:spLocks noGrp="1" noChangeArrowheads="1"/>
          </p:cNvSpPr>
          <p:nvPr>
            <p:ph type="sldNum" sz="quarter" idx="11"/>
          </p:nvPr>
        </p:nvSpPr>
        <p:spPr>
          <a:ln/>
        </p:spPr>
        <p:txBody>
          <a:bodyPr/>
          <a:lstStyle>
            <a:lvl1pPr>
              <a:defRPr/>
            </a:lvl1pPr>
          </a:lstStyle>
          <a:p>
            <a:fld id="{C53F0B7C-49B8-264B-8ABF-2F1F3510EE38}" type="slidenum">
              <a:rPr lang="en-US" altLang="en-US"/>
              <a:pPr/>
              <a:t>‹#›</a:t>
            </a:fld>
            <a:endParaRPr lang="en-US" altLang="en-US"/>
          </a:p>
        </p:txBody>
      </p:sp>
    </p:spTree>
    <p:extLst>
      <p:ext uri="{BB962C8B-B14F-4D97-AF65-F5344CB8AC3E}">
        <p14:creationId xmlns:p14="http://schemas.microsoft.com/office/powerpoint/2010/main" val="8339629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301751" y="142875"/>
            <a:ext cx="9711268" cy="801688"/>
          </a:xfrm>
        </p:spPr>
        <p:txBody>
          <a:bodyPr/>
          <a:lstStyle/>
          <a:p>
            <a:r>
              <a:rPr lang="en-US"/>
              <a:t>Click to edit Master title style</a:t>
            </a:r>
          </a:p>
        </p:txBody>
      </p:sp>
      <p:sp>
        <p:nvSpPr>
          <p:cNvPr id="3" name="Content Placeholder 2"/>
          <p:cNvSpPr>
            <a:spLocks noGrp="1"/>
          </p:cNvSpPr>
          <p:nvPr>
            <p:ph sz="quarter" idx="1"/>
          </p:nvPr>
        </p:nvSpPr>
        <p:spPr>
          <a:xfrm>
            <a:off x="778933" y="1460500"/>
            <a:ext cx="5080000" cy="229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778933" y="3906840"/>
            <a:ext cx="5080000" cy="2295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062133" y="1460502"/>
            <a:ext cx="5080000" cy="4741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7"/>
          <p:cNvSpPr>
            <a:spLocks noGrp="1" noChangeArrowheads="1"/>
          </p:cNvSpPr>
          <p:nvPr>
            <p:ph type="ftr" sz="quarter" idx="10"/>
          </p:nvPr>
        </p:nvSpPr>
        <p:spPr>
          <a:ln/>
        </p:spPr>
        <p:txBody>
          <a:bodyPr/>
          <a:lstStyle>
            <a:lvl1pPr>
              <a:defRPr/>
            </a:lvl1pPr>
          </a:lstStyle>
          <a:p>
            <a:pPr>
              <a:defRPr/>
            </a:pPr>
            <a:endParaRPr lang="en-US"/>
          </a:p>
        </p:txBody>
      </p:sp>
      <p:sp>
        <p:nvSpPr>
          <p:cNvPr id="7" name="Rectangle 70"/>
          <p:cNvSpPr>
            <a:spLocks noGrp="1" noChangeArrowheads="1"/>
          </p:cNvSpPr>
          <p:nvPr>
            <p:ph type="sldNum" sz="quarter" idx="11"/>
          </p:nvPr>
        </p:nvSpPr>
        <p:spPr>
          <a:ln/>
        </p:spPr>
        <p:txBody>
          <a:bodyPr/>
          <a:lstStyle>
            <a:lvl1pPr>
              <a:defRPr/>
            </a:lvl1pPr>
          </a:lstStyle>
          <a:p>
            <a:fld id="{1C560B1F-935D-6D4F-A384-E26BBA9E34C9}" type="slidenum">
              <a:rPr lang="en-US" altLang="en-US"/>
              <a:pPr/>
              <a:t>‹#›</a:t>
            </a:fld>
            <a:endParaRPr lang="en-US" altLang="en-US"/>
          </a:p>
        </p:txBody>
      </p:sp>
    </p:spTree>
    <p:extLst>
      <p:ext uri="{BB962C8B-B14F-4D97-AF65-F5344CB8AC3E}">
        <p14:creationId xmlns:p14="http://schemas.microsoft.com/office/powerpoint/2010/main" val="1937339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778933" y="1460501"/>
            <a:ext cx="10363200" cy="47418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7" name="Rectangle 2"/>
          <p:cNvSpPr>
            <a:spLocks noGrp="1" noChangeArrowheads="1"/>
          </p:cNvSpPr>
          <p:nvPr>
            <p:ph type="title"/>
          </p:nvPr>
        </p:nvSpPr>
        <p:spPr bwMode="auto">
          <a:xfrm>
            <a:off x="1301751" y="142875"/>
            <a:ext cx="9711267" cy="8016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91" name="Rectangle 67"/>
          <p:cNvSpPr>
            <a:spLocks noGrp="1" noChangeArrowheads="1"/>
          </p:cNvSpPr>
          <p:nvPr>
            <p:ph type="ftr" sz="quarter" idx="3"/>
          </p:nvPr>
        </p:nvSpPr>
        <p:spPr bwMode="auto">
          <a:xfrm>
            <a:off x="3657600" y="64008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itchFamily="-106" charset="0"/>
                <a:ea typeface="ＭＳ Ｐゴシック" pitchFamily="-106" charset="-128"/>
                <a:cs typeface="ＭＳ Ｐゴシック" pitchFamily="-106" charset="-128"/>
              </a:defRPr>
            </a:lvl1pPr>
          </a:lstStyle>
          <a:p>
            <a:pPr>
              <a:defRPr/>
            </a:pPr>
            <a:endParaRPr lang="en-US"/>
          </a:p>
        </p:txBody>
      </p:sp>
      <p:sp>
        <p:nvSpPr>
          <p:cNvPr id="1029" name="Text Box 69"/>
          <p:cNvSpPr txBox="1">
            <a:spLocks noChangeArrowheads="1"/>
          </p:cNvSpPr>
          <p:nvPr userDrawn="1"/>
        </p:nvSpPr>
        <p:spPr bwMode="auto">
          <a:xfrm>
            <a:off x="11597218" y="6613526"/>
            <a:ext cx="594783" cy="246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a:spcBef>
                <a:spcPct val="50000"/>
              </a:spcBef>
              <a:defRPr/>
            </a:pPr>
            <a:endParaRPr lang="en-US" sz="1000"/>
          </a:p>
        </p:txBody>
      </p:sp>
      <p:sp>
        <p:nvSpPr>
          <p:cNvPr id="1030" name="AutoShape 71"/>
          <p:cNvSpPr>
            <a:spLocks noChangeArrowheads="1"/>
          </p:cNvSpPr>
          <p:nvPr userDrawn="1"/>
        </p:nvSpPr>
        <p:spPr bwMode="auto">
          <a:xfrm>
            <a:off x="0" y="893763"/>
            <a:ext cx="12192000" cy="42862"/>
          </a:xfrm>
          <a:prstGeom prst="roundRect">
            <a:avLst>
              <a:gd name="adj" fmla="val 16667"/>
            </a:avLst>
          </a:pr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wrap="none" anchor="ct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pPr algn="ctr"/>
            <a:endParaRPr lang="en-US" altLang="en-US" sz="2400">
              <a:solidFill>
                <a:schemeClr val="bg1"/>
              </a:solidFill>
            </a:endParaRPr>
          </a:p>
        </p:txBody>
      </p:sp>
      <p:sp>
        <p:nvSpPr>
          <p:cNvPr id="1094" name="Rectangle 70"/>
          <p:cNvSpPr>
            <a:spLocks noGrp="1" noChangeArrowheads="1"/>
          </p:cNvSpPr>
          <p:nvPr>
            <p:ph type="sldNum" sz="quarter" idx="4"/>
          </p:nvPr>
        </p:nvSpPr>
        <p:spPr bwMode="auto">
          <a:xfrm>
            <a:off x="10466917" y="6645276"/>
            <a:ext cx="1725083" cy="212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0">
                <a:solidFill>
                  <a:schemeClr val="bg1"/>
                </a:solidFill>
              </a:defRPr>
            </a:lvl1pPr>
          </a:lstStyle>
          <a:p>
            <a:fld id="{7B3417AB-D266-0242-81E6-D7709AFC586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rtl="0" eaLnBrk="0" fontAlgn="base" hangingPunct="0">
        <a:spcBef>
          <a:spcPct val="0"/>
        </a:spcBef>
        <a:spcAft>
          <a:spcPct val="0"/>
        </a:spcAft>
        <a:defRPr sz="2800">
          <a:solidFill>
            <a:schemeClr val="tx2"/>
          </a:solidFill>
          <a:latin typeface="+mj-lt"/>
          <a:ea typeface="+mj-ea"/>
          <a:cs typeface="+mj-cs"/>
        </a:defRPr>
      </a:lvl1pPr>
      <a:lvl2pPr algn="l" rtl="0" eaLnBrk="0" fontAlgn="base" hangingPunct="0">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2pPr>
      <a:lvl3pPr algn="l" rtl="0" eaLnBrk="0" fontAlgn="base" hangingPunct="0">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3pPr>
      <a:lvl4pPr algn="l" rtl="0" eaLnBrk="0" fontAlgn="base" hangingPunct="0">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4pPr>
      <a:lvl5pPr algn="l" rtl="0" eaLnBrk="0" fontAlgn="base" hangingPunct="0">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5pPr>
      <a:lvl6pPr marL="457200" algn="l" rtl="0" fontAlgn="base">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6pPr>
      <a:lvl7pPr marL="914400" algn="l" rtl="0" fontAlgn="base">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7pPr>
      <a:lvl8pPr marL="1371600" algn="l" rtl="0" fontAlgn="base">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8pPr>
      <a:lvl9pPr marL="1828800" algn="l" rtl="0" fontAlgn="base">
        <a:spcBef>
          <a:spcPct val="0"/>
        </a:spcBef>
        <a:spcAft>
          <a:spcPct val="0"/>
        </a:spcAft>
        <a:defRPr sz="2800">
          <a:solidFill>
            <a:schemeClr val="tx2"/>
          </a:solidFill>
          <a:latin typeface="Arial Black" pitchFamily="-112" charset="0"/>
          <a:ea typeface="ＭＳ Ｐゴシック" pitchFamily="-112" charset="-128"/>
          <a:cs typeface="ＭＳ Ｐゴシック" pitchFamily="-112" charset="-128"/>
        </a:defRPr>
      </a:lvl9pPr>
    </p:titleStyle>
    <p:body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mn-ea"/>
        </a:defRPr>
      </a:lvl2pPr>
      <a:lvl3pPr marL="1143000" indent="-228600" algn="l" rtl="0" eaLnBrk="0" fontAlgn="base" hangingPunct="0">
        <a:spcBef>
          <a:spcPct val="20000"/>
        </a:spcBef>
        <a:spcAft>
          <a:spcPct val="0"/>
        </a:spcAft>
        <a:buChar char="•"/>
        <a:defRPr b="1">
          <a:solidFill>
            <a:schemeClr val="tx1"/>
          </a:solidFill>
          <a:latin typeface="+mn-lt"/>
          <a:ea typeface="+mn-ea"/>
        </a:defRPr>
      </a:lvl3pPr>
      <a:lvl4pPr marL="1600200" indent="-228600" algn="l" rtl="0" eaLnBrk="0" fontAlgn="base" hangingPunct="0">
        <a:spcBef>
          <a:spcPct val="20000"/>
        </a:spcBef>
        <a:spcAft>
          <a:spcPct val="0"/>
        </a:spcAft>
        <a:buChar char="–"/>
        <a:defRPr sz="1600" b="1">
          <a:solidFill>
            <a:schemeClr val="tx1"/>
          </a:solidFill>
          <a:latin typeface="+mn-lt"/>
          <a:ea typeface="+mn-ea"/>
        </a:defRPr>
      </a:lvl4pPr>
      <a:lvl5pPr marL="2057400" indent="-228600" algn="l" rtl="0" eaLnBrk="0" fontAlgn="base" hangingPunct="0">
        <a:spcBef>
          <a:spcPct val="20000"/>
        </a:spcBef>
        <a:spcAft>
          <a:spcPct val="0"/>
        </a:spcAft>
        <a:buChar char="»"/>
        <a:defRPr sz="1400" b="1">
          <a:solidFill>
            <a:schemeClr val="tx1"/>
          </a:solidFill>
          <a:latin typeface="+mn-lt"/>
          <a:ea typeface="+mn-ea"/>
        </a:defRPr>
      </a:lvl5pPr>
      <a:lvl6pPr marL="2514600" indent="-228600" algn="l" rtl="0" fontAlgn="base">
        <a:spcBef>
          <a:spcPct val="20000"/>
        </a:spcBef>
        <a:spcAft>
          <a:spcPct val="0"/>
        </a:spcAft>
        <a:buChar char="»"/>
        <a:defRPr sz="1400" b="1">
          <a:solidFill>
            <a:schemeClr val="tx1"/>
          </a:solidFill>
          <a:latin typeface="+mn-lt"/>
          <a:ea typeface="+mn-ea"/>
        </a:defRPr>
      </a:lvl6pPr>
      <a:lvl7pPr marL="2971800" indent="-228600" algn="l" rtl="0" fontAlgn="base">
        <a:spcBef>
          <a:spcPct val="20000"/>
        </a:spcBef>
        <a:spcAft>
          <a:spcPct val="0"/>
        </a:spcAft>
        <a:buChar char="»"/>
        <a:defRPr sz="1400" b="1">
          <a:solidFill>
            <a:schemeClr val="tx1"/>
          </a:solidFill>
          <a:latin typeface="+mn-lt"/>
          <a:ea typeface="+mn-ea"/>
        </a:defRPr>
      </a:lvl7pPr>
      <a:lvl8pPr marL="3429000" indent="-228600" algn="l" rtl="0" fontAlgn="base">
        <a:spcBef>
          <a:spcPct val="20000"/>
        </a:spcBef>
        <a:spcAft>
          <a:spcPct val="0"/>
        </a:spcAft>
        <a:buChar char="»"/>
        <a:defRPr sz="1400" b="1">
          <a:solidFill>
            <a:schemeClr val="tx1"/>
          </a:solidFill>
          <a:latin typeface="+mn-lt"/>
          <a:ea typeface="+mn-ea"/>
        </a:defRPr>
      </a:lvl8pPr>
      <a:lvl9pPr marL="3886200" indent="-228600" algn="l" rtl="0" fontAlgn="base">
        <a:spcBef>
          <a:spcPct val="20000"/>
        </a:spcBef>
        <a:spcAft>
          <a:spcPct val="0"/>
        </a:spcAft>
        <a:buChar char="»"/>
        <a:defRPr sz="1400" b="1">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9.jpeg"/><Relationship Id="rId4" Type="http://schemas.openxmlformats.org/officeDocument/2006/relationships/image" Target="../media/image18.jpg"/></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hyperlink" Target="https://en.wikipedia.org/wiki/Skylab" TargetMode="External"/><Relationship Id="rId7" Type="http://schemas.openxmlformats.org/officeDocument/2006/relationships/image" Target="../media/image26.jpeg"/><Relationship Id="rId2" Type="http://schemas.openxmlformats.org/officeDocument/2006/relationships/image" Target="../media/image22.jpg"/><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jp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32.jpeg"/></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C7EC9E-655C-0803-5496-1CE7182BB6A7}"/>
              </a:ext>
            </a:extLst>
          </p:cNvPr>
          <p:cNvPicPr>
            <a:picLocks noChangeAspect="1"/>
          </p:cNvPicPr>
          <p:nvPr/>
        </p:nvPicPr>
        <p:blipFill>
          <a:blip r:embed="rId3"/>
          <a:stretch>
            <a:fillRect/>
          </a:stretch>
        </p:blipFill>
        <p:spPr>
          <a:xfrm>
            <a:off x="556875" y="0"/>
            <a:ext cx="11078250" cy="6858000"/>
          </a:xfrm>
          <a:prstGeom prst="rect">
            <a:avLst/>
          </a:prstGeom>
        </p:spPr>
      </p:pic>
      <p:sp>
        <p:nvSpPr>
          <p:cNvPr id="19457"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64929A02-B077-C144-B2DD-23EEC1B541C0}" type="slidenum">
              <a:rPr lang="en-US" altLang="en-US" sz="1000" b="0">
                <a:solidFill>
                  <a:srgbClr val="FFFF00"/>
                </a:solidFill>
              </a:rPr>
              <a:pPr/>
              <a:t>1</a:t>
            </a:fld>
            <a:endParaRPr lang="en-US" altLang="en-US" sz="1000" b="0">
              <a:solidFill>
                <a:srgbClr val="FFFF00"/>
              </a:solidFill>
            </a:endParaRPr>
          </a:p>
        </p:txBody>
      </p:sp>
      <p:sp>
        <p:nvSpPr>
          <p:cNvPr id="19459" name="Rectangle 60"/>
          <p:cNvSpPr>
            <a:spLocks noChangeArrowheads="1"/>
          </p:cNvSpPr>
          <p:nvPr/>
        </p:nvSpPr>
        <p:spPr bwMode="auto">
          <a:xfrm>
            <a:off x="2266950" y="544514"/>
            <a:ext cx="7666038" cy="2789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pPr algn="ctr" eaLnBrk="1" hangingPunct="1">
              <a:spcBef>
                <a:spcPct val="20000"/>
              </a:spcBef>
            </a:pPr>
            <a:r>
              <a:rPr lang="en-US" altLang="en-US" sz="3600" dirty="0">
                <a:solidFill>
                  <a:srgbClr val="FFFF00"/>
                </a:solidFill>
              </a:rPr>
              <a:t>U.S. Space Policy</a:t>
            </a:r>
          </a:p>
          <a:p>
            <a:pPr algn="ctr" eaLnBrk="1" hangingPunct="1">
              <a:spcBef>
                <a:spcPct val="20000"/>
              </a:spcBef>
            </a:pPr>
            <a:r>
              <a:rPr lang="en-US" altLang="en-US" sz="3600" dirty="0">
                <a:solidFill>
                  <a:srgbClr val="FFFF00"/>
                </a:solidFill>
              </a:rPr>
              <a:t>Fall 2026</a:t>
            </a:r>
          </a:p>
          <a:p>
            <a:pPr algn="ctr" eaLnBrk="1" hangingPunct="1">
              <a:spcBef>
                <a:spcPct val="20000"/>
              </a:spcBef>
            </a:pPr>
            <a:endParaRPr lang="en-US" altLang="en-US" sz="3600" dirty="0">
              <a:solidFill>
                <a:srgbClr val="FFFF00"/>
              </a:solidFill>
            </a:endParaRPr>
          </a:p>
          <a:p>
            <a:pPr algn="ctr" eaLnBrk="1" hangingPunct="1">
              <a:spcBef>
                <a:spcPct val="20000"/>
              </a:spcBef>
            </a:pPr>
            <a:r>
              <a:rPr lang="en-US" altLang="en-US" dirty="0">
                <a:solidFill>
                  <a:srgbClr val="FFFF00"/>
                </a:solidFill>
              </a:rPr>
              <a:t>After Apollo – What’</a:t>
            </a:r>
            <a:r>
              <a:rPr lang="en-US" altLang="ja-JP" dirty="0">
                <a:solidFill>
                  <a:srgbClr val="FFFF00"/>
                </a:solidFill>
              </a:rPr>
              <a:t>s Next?</a:t>
            </a:r>
            <a:endParaRPr lang="en-US" altLang="ja-JP" sz="2800" b="0" dirty="0">
              <a:solidFill>
                <a:srgbClr val="FFFF00"/>
              </a:solidFill>
            </a:endParaRPr>
          </a:p>
          <a:p>
            <a:pPr algn="ctr" eaLnBrk="1" hangingPunct="1">
              <a:spcBef>
                <a:spcPct val="20000"/>
              </a:spcBef>
            </a:pPr>
            <a:endParaRPr lang="en-US" altLang="en-US" sz="2000" b="0" dirty="0">
              <a:solidFill>
                <a:srgbClr val="FFFF00"/>
              </a:solidFill>
            </a:endParaRPr>
          </a:p>
        </p:txBody>
      </p:sp>
      <p:sp>
        <p:nvSpPr>
          <p:cNvPr id="19460" name="Text Box 62"/>
          <p:cNvSpPr txBox="1">
            <a:spLocks noChangeArrowheads="1"/>
          </p:cNvSpPr>
          <p:nvPr/>
        </p:nvSpPr>
        <p:spPr bwMode="auto">
          <a:xfrm>
            <a:off x="4227513" y="4203700"/>
            <a:ext cx="3733800" cy="2370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pPr algn="ctr"/>
            <a:r>
              <a:rPr lang="en-US" altLang="en-US" sz="1600">
                <a:solidFill>
                  <a:srgbClr val="FFFF00"/>
                </a:solidFill>
              </a:rPr>
              <a:t>Dr. Scott Pace</a:t>
            </a:r>
          </a:p>
          <a:p>
            <a:pPr algn="ctr"/>
            <a:r>
              <a:rPr lang="en-US" altLang="en-US" sz="1600">
                <a:solidFill>
                  <a:srgbClr val="FFFF00"/>
                </a:solidFill>
              </a:rPr>
              <a:t>George Washington University</a:t>
            </a:r>
          </a:p>
          <a:p>
            <a:pPr algn="ctr"/>
            <a:r>
              <a:rPr lang="en-US" altLang="en-US" sz="1600">
                <a:solidFill>
                  <a:srgbClr val="FFFF00"/>
                </a:solidFill>
              </a:rPr>
              <a:t>Elliott School of International Affairs</a:t>
            </a:r>
          </a:p>
          <a:p>
            <a:pPr algn="ctr"/>
            <a:endParaRPr lang="en-US" altLang="en-US" sz="1600">
              <a:solidFill>
                <a:srgbClr val="FFFF00"/>
              </a:solidFill>
            </a:endParaRPr>
          </a:p>
          <a:p>
            <a:pPr algn="ctr"/>
            <a:r>
              <a:rPr lang="en-US" altLang="en-US" sz="1600">
                <a:solidFill>
                  <a:srgbClr val="FFFF00"/>
                </a:solidFill>
              </a:rPr>
              <a:t>space1@gwu.edu</a:t>
            </a:r>
          </a:p>
          <a:p>
            <a:pPr algn="ctr"/>
            <a:r>
              <a:rPr lang="en-US" altLang="en-US" sz="1600">
                <a:solidFill>
                  <a:srgbClr val="FFFF00"/>
                </a:solidFill>
              </a:rPr>
              <a:t>(202) 994-5278</a:t>
            </a:r>
          </a:p>
          <a:p>
            <a:pPr algn="ctr"/>
            <a:r>
              <a:rPr lang="en-US" altLang="en-US" sz="1600">
                <a:solidFill>
                  <a:srgbClr val="FFFF00"/>
                </a:solidFill>
              </a:rPr>
              <a:t>1957 E Street, NW</a:t>
            </a:r>
          </a:p>
          <a:p>
            <a:pPr algn="ctr"/>
            <a:r>
              <a:rPr lang="en-US" altLang="en-US" sz="1600">
                <a:solidFill>
                  <a:srgbClr val="FFFF00"/>
                </a:solidFill>
              </a:rPr>
              <a:t>Suite 403</a:t>
            </a:r>
          </a:p>
          <a:p>
            <a:pPr algn="ctr"/>
            <a:endParaRPr lang="en-US" altLang="en-US" sz="1800">
              <a:solidFill>
                <a:srgbClr val="FFFF00"/>
              </a:solidFill>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4"/>
          <p:cNvSpPr>
            <a:spLocks noGrp="1"/>
          </p:cNvSpPr>
          <p:nvPr>
            <p:ph type="title"/>
          </p:nvPr>
        </p:nvSpPr>
        <p:spPr>
          <a:xfrm>
            <a:off x="311649" y="428251"/>
            <a:ext cx="11568701" cy="801688"/>
          </a:xfrm>
        </p:spPr>
        <p:txBody>
          <a:bodyPr/>
          <a:lstStyle/>
          <a:p>
            <a:r>
              <a:rPr lang="en-US" altLang="en-US" b="1" dirty="0"/>
              <a:t>Nixon’s space views before becoming President</a:t>
            </a:r>
          </a:p>
        </p:txBody>
      </p:sp>
      <p:sp>
        <p:nvSpPr>
          <p:cNvPr id="6" name="Content Placeholder 5"/>
          <p:cNvSpPr>
            <a:spLocks noGrp="1"/>
          </p:cNvSpPr>
          <p:nvPr>
            <p:ph idx="1"/>
          </p:nvPr>
        </p:nvSpPr>
        <p:spPr>
          <a:xfrm>
            <a:off x="503971" y="1364036"/>
            <a:ext cx="7948594" cy="5065713"/>
          </a:xfrm>
        </p:spPr>
        <p:txBody>
          <a:bodyPr>
            <a:normAutofit lnSpcReduction="10000"/>
          </a:bodyPr>
          <a:lstStyle/>
          <a:p>
            <a:pPr>
              <a:spcBef>
                <a:spcPct val="0"/>
              </a:spcBef>
            </a:pPr>
            <a:r>
              <a:rPr lang="en-US" altLang="en-US" sz="2000" dirty="0"/>
              <a:t>During the Eisenhower administration, Vice President Nixon had advocated a separate civilian space agency and supported a “sharp increase in our space program.” He was much more knowledgeable about the space program as he became president in 1969 than John Kennedy had been in 1961. </a:t>
            </a:r>
          </a:p>
          <a:p>
            <a:pPr>
              <a:spcBef>
                <a:spcPct val="0"/>
              </a:spcBef>
            </a:pPr>
            <a:endParaRPr lang="en-US" altLang="en-US" sz="2000" dirty="0"/>
          </a:p>
          <a:p>
            <a:pPr>
              <a:spcBef>
                <a:spcPct val="0"/>
              </a:spcBef>
            </a:pPr>
            <a:r>
              <a:rPr lang="en-US" altLang="en-US" sz="2000" dirty="0"/>
              <a:t>In May 1968, before announcing his candidacy, Nixon told a Washington audience</a:t>
            </a:r>
          </a:p>
          <a:p>
            <a:pPr lvl="1">
              <a:spcBef>
                <a:spcPct val="0"/>
              </a:spcBef>
            </a:pPr>
            <a:r>
              <a:rPr lang="en-US" altLang="en-US" sz="2000" dirty="0"/>
              <a:t>“We must support a space program that is second to none. That’s looking at it in long-term objectives.”</a:t>
            </a:r>
          </a:p>
          <a:p>
            <a:pPr lvl="1">
              <a:spcBef>
                <a:spcPct val="0"/>
              </a:spcBef>
            </a:pPr>
            <a:r>
              <a:rPr lang="en-US" altLang="en-US" sz="2000" dirty="0"/>
              <a:t>But also “I believe that space is one of the areas that will have to be in the [next] President’s recommendations for budget cutting.”</a:t>
            </a:r>
          </a:p>
          <a:p>
            <a:pPr lvl="1">
              <a:spcBef>
                <a:spcPct val="0"/>
              </a:spcBef>
            </a:pPr>
            <a:endParaRPr lang="en-US" altLang="en-US" sz="2000" dirty="0"/>
          </a:p>
          <a:p>
            <a:pPr>
              <a:spcBef>
                <a:spcPct val="0"/>
              </a:spcBef>
            </a:pPr>
            <a:r>
              <a:rPr lang="en-US" altLang="en-US" sz="2000" dirty="0"/>
              <a:t>These two conflicting perspectives would characterize Nixon’s space decisions as president.</a:t>
            </a:r>
          </a:p>
          <a:p>
            <a:pPr>
              <a:lnSpc>
                <a:spcPct val="80000"/>
              </a:lnSpc>
            </a:pPr>
            <a:endParaRPr lang="en-US" altLang="en-US" sz="2200" dirty="0"/>
          </a:p>
        </p:txBody>
      </p:sp>
      <p:sp>
        <p:nvSpPr>
          <p:cNvPr id="23555" name="Rectangle 1"/>
          <p:cNvSpPr>
            <a:spLocks noChangeArrowheads="1"/>
          </p:cNvSpPr>
          <p:nvPr/>
        </p:nvSpPr>
        <p:spPr bwMode="auto">
          <a:xfrm>
            <a:off x="10000181" y="6386779"/>
            <a:ext cx="2005013"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200" dirty="0"/>
              <a:t>Courtesy: John Logsdon</a:t>
            </a:r>
          </a:p>
        </p:txBody>
      </p:sp>
      <p:pic>
        <p:nvPicPr>
          <p:cNvPr id="3" name="Picture 2">
            <a:extLst>
              <a:ext uri="{FF2B5EF4-FFF2-40B4-BE49-F238E27FC236}">
                <a16:creationId xmlns:a16="http://schemas.microsoft.com/office/drawing/2014/main" id="{4E0F1A55-52AC-C349-8713-8D9B07637646}"/>
              </a:ext>
            </a:extLst>
          </p:cNvPr>
          <p:cNvPicPr>
            <a:picLocks noChangeAspect="1"/>
          </p:cNvPicPr>
          <p:nvPr/>
        </p:nvPicPr>
        <p:blipFill>
          <a:blip r:embed="rId2"/>
          <a:stretch>
            <a:fillRect/>
          </a:stretch>
        </p:blipFill>
        <p:spPr>
          <a:xfrm>
            <a:off x="8452565" y="1484402"/>
            <a:ext cx="3426431" cy="1944598"/>
          </a:xfrm>
          <a:prstGeom prst="rect">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4"/>
          <p:cNvSpPr>
            <a:spLocks noGrp="1"/>
          </p:cNvSpPr>
          <p:nvPr>
            <p:ph type="title"/>
          </p:nvPr>
        </p:nvSpPr>
        <p:spPr>
          <a:xfrm>
            <a:off x="820220" y="319088"/>
            <a:ext cx="10551560" cy="762000"/>
          </a:xfrm>
        </p:spPr>
        <p:txBody>
          <a:bodyPr/>
          <a:lstStyle/>
          <a:p>
            <a:r>
              <a:rPr lang="en-US" altLang="en-US" b="1" dirty="0"/>
              <a:t>Space Policy in the Nixon White House</a:t>
            </a:r>
          </a:p>
        </p:txBody>
      </p:sp>
      <p:sp>
        <p:nvSpPr>
          <p:cNvPr id="6" name="Content Placeholder 5"/>
          <p:cNvSpPr>
            <a:spLocks noGrp="1"/>
          </p:cNvSpPr>
          <p:nvPr>
            <p:ph sz="half" idx="1"/>
          </p:nvPr>
        </p:nvSpPr>
        <p:spPr>
          <a:xfrm>
            <a:off x="349321" y="1157288"/>
            <a:ext cx="5671335" cy="5381624"/>
          </a:xfrm>
        </p:spPr>
        <p:txBody>
          <a:bodyPr>
            <a:normAutofit/>
          </a:bodyPr>
          <a:lstStyle/>
          <a:p>
            <a:pPr>
              <a:spcBef>
                <a:spcPts val="600"/>
              </a:spcBef>
            </a:pPr>
            <a:r>
              <a:rPr lang="en-US" altLang="en-US" sz="1600" dirty="0"/>
              <a:t>Nixon transition task force on space suggested that a NASA budget of $4 billion per year, with a human space flight budget shrinking to $1.25 billion per year, was adequate for a strong space program.</a:t>
            </a:r>
          </a:p>
          <a:p>
            <a:pPr>
              <a:spcBef>
                <a:spcPts val="600"/>
              </a:spcBef>
            </a:pPr>
            <a:r>
              <a:rPr lang="en-US" altLang="en-US" sz="1600" dirty="0"/>
              <a:t>There was an initial, failed, attempt by Science Adviser Lee </a:t>
            </a:r>
            <a:r>
              <a:rPr lang="en-US" altLang="en-US" sz="1600" dirty="0" err="1"/>
              <a:t>DuBridge</a:t>
            </a:r>
            <a:r>
              <a:rPr lang="en-US" altLang="en-US" sz="1600" dirty="0"/>
              <a:t> to take the lead in space policy.</a:t>
            </a:r>
          </a:p>
          <a:p>
            <a:pPr>
              <a:spcBef>
                <a:spcPts val="600"/>
              </a:spcBef>
            </a:pPr>
            <a:r>
              <a:rPr lang="en-US" altLang="en-US" sz="1600" dirty="0"/>
              <a:t>There was also a failed attempt to revitalize the Space Council under Vice President Spiro T. Agnew</a:t>
            </a:r>
          </a:p>
          <a:p>
            <a:pPr>
              <a:spcBef>
                <a:spcPts val="600"/>
              </a:spcBef>
            </a:pPr>
            <a:r>
              <a:rPr lang="en-US" altLang="en-US" sz="1600" dirty="0"/>
              <a:t>Richard Nixon categorized the post-Apollo space program as an issue of domestic policy; this meant that the NASA budget had to compete for priority and funding with other domestic government programs. Nixon’s commitment to a balanced budget was an overriding factor in  his space decisions.</a:t>
            </a:r>
          </a:p>
          <a:p>
            <a:pPr>
              <a:spcBef>
                <a:spcPts val="600"/>
              </a:spcBef>
            </a:pPr>
            <a:r>
              <a:rPr lang="en-US" altLang="en-US" sz="1600" dirty="0"/>
              <a:t>Nixon  in April 1969  assigned lead responsibility within the White House for overseeing NASA to his domestic policy assistant Peter Flanigan.  Flanigan’s staff person for space was 30-year-old Clay Thomas “Tom” Whitehead. </a:t>
            </a:r>
          </a:p>
        </p:txBody>
      </p:sp>
      <p:pic>
        <p:nvPicPr>
          <p:cNvPr id="24579" name="Picture 2" descr="C:\Users\user\Desktop\Post-Apollo Book\Revised Final\Photos for Book\Figure 2.4.tif"/>
          <p:cNvPicPr>
            <a:picLocks noGrp="1" noChangeAspect="1" noChangeArrowheads="1"/>
          </p:cNvPicPr>
          <p:nvPr>
            <p:ph sz="half" idx="2"/>
          </p:nvPr>
        </p:nvPicPr>
        <p:blipFill>
          <a:blip r:embed="rId2">
            <a:extLst>
              <a:ext uri="{28A0092B-C50C-407E-A947-70E740481C1C}">
                <a14:useLocalDpi xmlns:a14="http://schemas.microsoft.com/office/drawing/2010/main"/>
              </a:ext>
            </a:extLst>
          </a:blip>
          <a:srcRect/>
          <a:stretch>
            <a:fillRect/>
          </a:stretch>
        </p:blipFill>
        <p:spPr>
          <a:xfrm>
            <a:off x="6596745" y="1243897"/>
            <a:ext cx="4901995" cy="3360487"/>
          </a:xfrm>
        </p:spPr>
      </p:pic>
      <p:sp>
        <p:nvSpPr>
          <p:cNvPr id="24580" name="TextBox 8"/>
          <p:cNvSpPr txBox="1">
            <a:spLocks noChangeArrowheads="1"/>
          </p:cNvSpPr>
          <p:nvPr/>
        </p:nvSpPr>
        <p:spPr bwMode="auto">
          <a:xfrm>
            <a:off x="6484466" y="4681267"/>
            <a:ext cx="5126554" cy="9541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400" dirty="0"/>
              <a:t>Apollo 8 astronaut Bill Anders, with his wife Valerie,</a:t>
            </a:r>
          </a:p>
          <a:p>
            <a:r>
              <a:rPr lang="en-US" altLang="en-US" sz="1400" dirty="0"/>
              <a:t>being introduced in May 1969 by Vice President Agnew as the new Executive Secretary of the National Aeronautics and Space Council</a:t>
            </a:r>
          </a:p>
        </p:txBody>
      </p:sp>
      <p:sp>
        <p:nvSpPr>
          <p:cNvPr id="24581" name="Rectangle 1"/>
          <p:cNvSpPr>
            <a:spLocks noChangeArrowheads="1"/>
          </p:cNvSpPr>
          <p:nvPr/>
        </p:nvSpPr>
        <p:spPr bwMode="auto">
          <a:xfrm>
            <a:off x="9836079" y="6400799"/>
            <a:ext cx="2006600"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200" dirty="0"/>
              <a:t>Courtesy: John Logsdon</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Number Placeholder 2"/>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84ED1497-EB71-8444-8A28-E5BAFC68795E}" type="slidenum">
              <a:rPr lang="en-US" altLang="en-US" sz="1000" b="0">
                <a:solidFill>
                  <a:schemeClr val="bg1"/>
                </a:solidFill>
              </a:rPr>
              <a:pPr/>
              <a:t>4</a:t>
            </a:fld>
            <a:endParaRPr lang="en-US" altLang="en-US" sz="1000" b="0">
              <a:solidFill>
                <a:schemeClr val="bg1"/>
              </a:solidFill>
            </a:endParaRPr>
          </a:p>
        </p:txBody>
      </p:sp>
      <p:pic>
        <p:nvPicPr>
          <p:cNvPr id="2662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387725" y="0"/>
            <a:ext cx="541655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Number Placeholder 6"/>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2DCE3A08-3924-9F46-94D5-0D086B8FA85A}" type="slidenum">
              <a:rPr lang="en-US" altLang="en-US" sz="1000" b="0">
                <a:solidFill>
                  <a:schemeClr val="bg1"/>
                </a:solidFill>
              </a:rPr>
              <a:pPr/>
              <a:t>5</a:t>
            </a:fld>
            <a:endParaRPr lang="en-US" altLang="en-US" sz="1000" b="0">
              <a:solidFill>
                <a:schemeClr val="bg1"/>
              </a:solidFill>
            </a:endParaRPr>
          </a:p>
        </p:txBody>
      </p:sp>
      <p:sp>
        <p:nvSpPr>
          <p:cNvPr id="28674" name="Rectangle 2"/>
          <p:cNvSpPr>
            <a:spLocks noGrp="1" noChangeArrowheads="1"/>
          </p:cNvSpPr>
          <p:nvPr>
            <p:ph type="title"/>
          </p:nvPr>
        </p:nvSpPr>
        <p:spPr>
          <a:xfrm>
            <a:off x="1781210" y="207169"/>
            <a:ext cx="8629579" cy="801688"/>
          </a:xfrm>
        </p:spPr>
        <p:txBody>
          <a:bodyPr/>
          <a:lstStyle/>
          <a:p>
            <a:pPr eaLnBrk="1" hangingPunct="1"/>
            <a:r>
              <a:rPr lang="en-US" altLang="en-US" dirty="0"/>
              <a:t>NASA Field Centers</a:t>
            </a:r>
          </a:p>
        </p:txBody>
      </p:sp>
      <p:sp>
        <p:nvSpPr>
          <p:cNvPr id="28675" name="Rectangle 5"/>
          <p:cNvSpPr>
            <a:spLocks noGrp="1" noChangeArrowheads="1"/>
          </p:cNvSpPr>
          <p:nvPr>
            <p:ph type="body" sz="half" idx="3"/>
          </p:nvPr>
        </p:nvSpPr>
        <p:spPr>
          <a:xfrm>
            <a:off x="2209800" y="4313239"/>
            <a:ext cx="7772400" cy="2295525"/>
          </a:xfrm>
        </p:spPr>
        <p:txBody>
          <a:bodyPr/>
          <a:lstStyle/>
          <a:p>
            <a:pPr eaLnBrk="1" hangingPunct="1"/>
            <a:r>
              <a:rPr lang="en-US" altLang="en-US" sz="2400" dirty="0"/>
              <a:t>Today’</a:t>
            </a:r>
            <a:r>
              <a:rPr lang="en-US" altLang="ja-JP" sz="2400" dirty="0"/>
              <a:t>s infrastructure created in the 1960s</a:t>
            </a:r>
          </a:p>
          <a:p>
            <a:pPr eaLnBrk="1" hangingPunct="1"/>
            <a:r>
              <a:rPr lang="en-US" altLang="en-US" sz="2400" dirty="0"/>
              <a:t>Combination of existing and new facilities</a:t>
            </a:r>
          </a:p>
          <a:p>
            <a:pPr eaLnBrk="1" hangingPunct="1"/>
            <a:r>
              <a:rPr lang="en-US" altLang="en-US" sz="2400" dirty="0"/>
              <a:t>Reflects pre-NASA history, the distribution of industry, and congressional interests of the time</a:t>
            </a:r>
          </a:p>
          <a:p>
            <a:pPr lvl="1" eaLnBrk="1" hangingPunct="1"/>
            <a:r>
              <a:rPr lang="en-US" altLang="en-US" sz="2000" dirty="0"/>
              <a:t>Only 1 center (in Massachusetts) ever closed</a:t>
            </a:r>
          </a:p>
        </p:txBody>
      </p:sp>
      <p:pic>
        <p:nvPicPr>
          <p:cNvPr id="28676" name="Picture 6"/>
          <p:cNvPicPr>
            <a:picLocks noGrp="1" noChangeAspect="1" noChangeArrowheads="1"/>
          </p:cNvPicPr>
          <p:nvPr>
            <p:ph sz="quarter" idx="1"/>
          </p:nvPr>
        </p:nvPicPr>
        <p:blipFill>
          <a:blip r:embed="rId3">
            <a:extLst>
              <a:ext uri="{28A0092B-C50C-407E-A947-70E740481C1C}">
                <a14:useLocalDpi xmlns:a14="http://schemas.microsoft.com/office/drawing/2010/main"/>
              </a:ext>
            </a:extLst>
          </a:blip>
          <a:srcRect/>
          <a:stretch>
            <a:fillRect/>
          </a:stretch>
        </p:blipFill>
        <p:spPr>
          <a:xfrm>
            <a:off x="1993900" y="1106488"/>
            <a:ext cx="4065588" cy="2970212"/>
          </a:xfrm>
        </p:spPr>
      </p:pic>
      <p:pic>
        <p:nvPicPr>
          <p:cNvPr id="28677" name="Picture 7"/>
          <p:cNvPicPr>
            <a:picLocks noGrp="1" noChangeAspect="1" noChangeArrowheads="1"/>
          </p:cNvPicPr>
          <p:nvPr>
            <p:ph sz="quarter" idx="2"/>
          </p:nvPr>
        </p:nvPicPr>
        <p:blipFill>
          <a:blip r:embed="rId4">
            <a:extLst>
              <a:ext uri="{28A0092B-C50C-407E-A947-70E740481C1C}">
                <a14:useLocalDpi xmlns:a14="http://schemas.microsoft.com/office/drawing/2010/main"/>
              </a:ext>
            </a:extLst>
          </a:blip>
          <a:srcRect/>
          <a:stretch>
            <a:fillRect/>
          </a:stretch>
        </p:blipFill>
        <p:spPr>
          <a:xfrm>
            <a:off x="6238875" y="1127126"/>
            <a:ext cx="3917950" cy="2638425"/>
          </a:xfrm>
        </p:spPr>
      </p:pic>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5"/>
          <p:cNvSpPr>
            <a:spLocks noGrp="1"/>
          </p:cNvSpPr>
          <p:nvPr>
            <p:ph type="title"/>
          </p:nvPr>
        </p:nvSpPr>
        <p:spPr>
          <a:xfrm>
            <a:off x="609600" y="274638"/>
            <a:ext cx="10969375" cy="782639"/>
          </a:xfrm>
        </p:spPr>
        <p:txBody>
          <a:bodyPr/>
          <a:lstStyle/>
          <a:p>
            <a:r>
              <a:rPr lang="en-US" altLang="en-US" dirty="0"/>
              <a:t>USAF Human Spaceflight had Ended</a:t>
            </a:r>
          </a:p>
        </p:txBody>
      </p:sp>
      <p:sp>
        <p:nvSpPr>
          <p:cNvPr id="30722" name="Text Placeholder 6"/>
          <p:cNvSpPr>
            <a:spLocks noGrp="1"/>
          </p:cNvSpPr>
          <p:nvPr>
            <p:ph type="body" idx="1"/>
          </p:nvPr>
        </p:nvSpPr>
        <p:spPr>
          <a:xfrm>
            <a:off x="1296194" y="1351910"/>
            <a:ext cx="4040188" cy="841375"/>
          </a:xfrm>
        </p:spPr>
        <p:txBody>
          <a:bodyPr/>
          <a:lstStyle/>
          <a:p>
            <a:r>
              <a:rPr lang="en-US" altLang="en-US" dirty="0"/>
              <a:t>X-20 Dyna-Soar</a:t>
            </a:r>
          </a:p>
          <a:p>
            <a:r>
              <a:rPr lang="en-US" altLang="en-US" dirty="0"/>
              <a:t>cancelled December 1963</a:t>
            </a:r>
          </a:p>
        </p:txBody>
      </p:sp>
      <p:pic>
        <p:nvPicPr>
          <p:cNvPr id="30723" name="Content Placeholder 10" descr="180px-NASA_Color_Dyna_Soar.jpg"/>
          <p:cNvPicPr>
            <a:picLocks noGrp="1" noChangeAspect="1"/>
          </p:cNvPicPr>
          <p:nvPr>
            <p:ph sz="half" idx="2"/>
          </p:nvPr>
        </p:nvPicPr>
        <p:blipFill>
          <a:blip r:embed="rId3" cstate="print">
            <a:extLst>
              <a:ext uri="{28A0092B-C50C-407E-A947-70E740481C1C}">
                <a14:useLocalDpi xmlns:a14="http://schemas.microsoft.com/office/drawing/2010/main"/>
              </a:ext>
            </a:extLst>
          </a:blip>
          <a:srcRect t="-21561" b="-21561"/>
          <a:stretch>
            <a:fillRect/>
          </a:stretch>
        </p:blipFill>
        <p:spPr>
          <a:xfrm>
            <a:off x="1398589" y="1862371"/>
            <a:ext cx="2969312" cy="2904838"/>
          </a:xfrm>
        </p:spPr>
      </p:pic>
      <p:sp>
        <p:nvSpPr>
          <p:cNvPr id="30724" name="Text Placeholder 8"/>
          <p:cNvSpPr>
            <a:spLocks noGrp="1"/>
          </p:cNvSpPr>
          <p:nvPr>
            <p:ph type="body" sz="quarter" idx="3"/>
          </p:nvPr>
        </p:nvSpPr>
        <p:spPr>
          <a:xfrm>
            <a:off x="6549231" y="1351910"/>
            <a:ext cx="4346575" cy="854075"/>
          </a:xfrm>
        </p:spPr>
        <p:txBody>
          <a:bodyPr/>
          <a:lstStyle/>
          <a:p>
            <a:r>
              <a:rPr lang="en-US" altLang="en-US" dirty="0"/>
              <a:t>Manned Orbital Laboratory cancelled June 1969</a:t>
            </a:r>
          </a:p>
        </p:txBody>
      </p:sp>
      <p:pic>
        <p:nvPicPr>
          <p:cNvPr id="30725" name="Content Placeholder 11" descr="Mol.jpg"/>
          <p:cNvPicPr>
            <a:picLocks noGrp="1" noChangeAspect="1"/>
          </p:cNvPicPr>
          <p:nvPr>
            <p:ph sz="quarter" idx="4"/>
          </p:nvPr>
        </p:nvPicPr>
        <p:blipFill>
          <a:blip r:embed="rId4" cstate="print">
            <a:extLst>
              <a:ext uri="{28A0092B-C50C-407E-A947-70E740481C1C}">
                <a14:useLocalDpi xmlns:a14="http://schemas.microsoft.com/office/drawing/2010/main"/>
              </a:ext>
            </a:extLst>
          </a:blip>
          <a:srcRect t="-11655" b="-11655"/>
          <a:stretch>
            <a:fillRect/>
          </a:stretch>
        </p:blipFill>
        <p:spPr>
          <a:xfrm>
            <a:off x="8449468" y="1900047"/>
            <a:ext cx="3129507" cy="3057906"/>
          </a:xfrm>
        </p:spPr>
      </p:pic>
      <p:sp>
        <p:nvSpPr>
          <p:cNvPr id="30726"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5FAF8477-6AFF-BE49-AA45-6764768CA023}" type="slidenum">
              <a:rPr lang="en-US" altLang="en-US" sz="1000" b="0">
                <a:solidFill>
                  <a:schemeClr val="bg1"/>
                </a:solidFill>
              </a:rPr>
              <a:pPr/>
              <a:t>6</a:t>
            </a:fld>
            <a:endParaRPr lang="en-US" altLang="en-US" sz="1000" b="0">
              <a:solidFill>
                <a:schemeClr val="bg1"/>
              </a:solidFill>
            </a:endParaRPr>
          </a:p>
        </p:txBody>
      </p:sp>
      <p:pic>
        <p:nvPicPr>
          <p:cNvPr id="30727" name="Picture 12" descr="Dyna-Soar.jpg"/>
          <p:cNvPicPr>
            <a:picLocks noChangeAspect="1"/>
          </p:cNvPicPr>
          <p:nvPr/>
        </p:nvPicPr>
        <p:blipFill>
          <a:blip r:embed="rId5">
            <a:extLst>
              <a:ext uri="{28A0092B-C50C-407E-A947-70E740481C1C}">
                <a14:useLocalDpi xmlns:a14="http://schemas.microsoft.com/office/drawing/2010/main"/>
              </a:ext>
            </a:extLst>
          </a:blip>
          <a:srcRect/>
          <a:stretch>
            <a:fillRect/>
          </a:stretch>
        </p:blipFill>
        <p:spPr bwMode="auto">
          <a:xfrm>
            <a:off x="1398589" y="4714306"/>
            <a:ext cx="4494211" cy="15531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0728" name="Picture 13" descr="MOL_Launch.jpg"/>
          <p:cNvPicPr>
            <a:picLocks noChangeAspect="1"/>
          </p:cNvPicPr>
          <p:nvPr/>
        </p:nvPicPr>
        <p:blipFill>
          <a:blip r:embed="rId6">
            <a:extLst>
              <a:ext uri="{28A0092B-C50C-407E-A947-70E740481C1C}">
                <a14:useLocalDpi xmlns:a14="http://schemas.microsoft.com/office/drawing/2010/main"/>
              </a:ext>
            </a:extLst>
          </a:blip>
          <a:srcRect/>
          <a:stretch>
            <a:fillRect/>
          </a:stretch>
        </p:blipFill>
        <p:spPr bwMode="auto">
          <a:xfrm>
            <a:off x="6613641" y="2217595"/>
            <a:ext cx="1387475" cy="4521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0729" name="TextBox 14"/>
          <p:cNvSpPr txBox="1">
            <a:spLocks noChangeArrowheads="1"/>
          </p:cNvSpPr>
          <p:nvPr/>
        </p:nvSpPr>
        <p:spPr bwMode="auto">
          <a:xfrm>
            <a:off x="8616023" y="4834307"/>
            <a:ext cx="2514600" cy="1570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600" dirty="0"/>
              <a:t>One test flight in 1966</a:t>
            </a:r>
          </a:p>
          <a:p>
            <a:endParaRPr lang="en-US" altLang="en-US" sz="1600" dirty="0"/>
          </a:p>
          <a:p>
            <a:r>
              <a:rPr lang="en-US" altLang="en-US" sz="1600" dirty="0"/>
              <a:t>7 of 15 MOL astronauts transferred to NASA and eventually flew on the Shuttle</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1602902" y="160337"/>
            <a:ext cx="8986196" cy="801688"/>
          </a:xfrm>
        </p:spPr>
        <p:txBody>
          <a:bodyPr/>
          <a:lstStyle/>
          <a:p>
            <a:pPr eaLnBrk="1" hangingPunct="1"/>
            <a:r>
              <a:rPr lang="en-US" altLang="en-US" dirty="0"/>
              <a:t>Aerospace Employment</a:t>
            </a:r>
          </a:p>
        </p:txBody>
      </p:sp>
      <p:sp>
        <p:nvSpPr>
          <p:cNvPr id="32770" name="Text Placeholder 5"/>
          <p:cNvSpPr>
            <a:spLocks noGrp="1"/>
          </p:cNvSpPr>
          <p:nvPr>
            <p:ph type="body" sz="half" idx="2"/>
          </p:nvPr>
        </p:nvSpPr>
        <p:spPr>
          <a:xfrm>
            <a:off x="6287785" y="1401851"/>
            <a:ext cx="5753528" cy="4775200"/>
          </a:xfrm>
        </p:spPr>
        <p:txBody>
          <a:bodyPr/>
          <a:lstStyle/>
          <a:p>
            <a:r>
              <a:rPr lang="en-US" altLang="en-US" dirty="0"/>
              <a:t>Decline from peak of 1.4 million in 1967 to 900,000 in 1971</a:t>
            </a:r>
          </a:p>
          <a:p>
            <a:r>
              <a:rPr lang="en-US" altLang="en-US" dirty="0"/>
              <a:t>~620,000 in 2011</a:t>
            </a:r>
          </a:p>
          <a:p>
            <a:r>
              <a:rPr lang="en-US" altLang="en-US" dirty="0"/>
              <a:t>End of Apollo</a:t>
            </a:r>
          </a:p>
          <a:p>
            <a:r>
              <a:rPr lang="en-US" altLang="en-US" dirty="0"/>
              <a:t>Viet Nam War decline</a:t>
            </a:r>
          </a:p>
          <a:p>
            <a:r>
              <a:rPr lang="en-US" altLang="en-US" dirty="0"/>
              <a:t>Economic recession</a:t>
            </a:r>
          </a:p>
          <a:p>
            <a:r>
              <a:rPr lang="en-US" altLang="en-US" dirty="0"/>
              <a:t>California hard hit</a:t>
            </a:r>
          </a:p>
        </p:txBody>
      </p:sp>
      <p:sp>
        <p:nvSpPr>
          <p:cNvPr id="3277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F485624A-0194-704B-9026-503A9BDA3446}" type="slidenum">
              <a:rPr lang="en-US" altLang="en-US" sz="1000" b="0">
                <a:solidFill>
                  <a:schemeClr val="bg1"/>
                </a:solidFill>
              </a:rPr>
              <a:pPr/>
              <a:t>7</a:t>
            </a:fld>
            <a:endParaRPr lang="en-US" altLang="en-US" sz="1000" b="0">
              <a:solidFill>
                <a:schemeClr val="bg1"/>
              </a:solidFill>
            </a:endParaRPr>
          </a:p>
        </p:txBody>
      </p:sp>
      <p:pic>
        <p:nvPicPr>
          <p:cNvPr id="32772" name="Content Placeholder 6" descr="p292.gif"/>
          <p:cNvPicPr>
            <a:picLocks noGrp="1" noChangeAspect="1"/>
          </p:cNvPicPr>
          <p:nvPr>
            <p:ph sz="half" idx="1"/>
          </p:nvPr>
        </p:nvPicPr>
        <p:blipFill>
          <a:blip r:embed="rId2" cstate="print">
            <a:extLst>
              <a:ext uri="{28A0092B-C50C-407E-A947-70E740481C1C}">
                <a14:useLocalDpi xmlns:a14="http://schemas.microsoft.com/office/drawing/2010/main"/>
              </a:ext>
            </a:extLst>
          </a:blip>
          <a:srcRect t="-3442" b="-3442"/>
          <a:stretch>
            <a:fillRect/>
          </a:stretch>
        </p:blipFill>
        <p:spPr>
          <a:xfrm>
            <a:off x="1016999" y="962025"/>
            <a:ext cx="4737100" cy="5895975"/>
          </a:xfr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3"/>
          <p:cNvSpPr>
            <a:spLocks noGrp="1"/>
          </p:cNvSpPr>
          <p:nvPr>
            <p:ph type="title"/>
          </p:nvPr>
        </p:nvSpPr>
        <p:spPr>
          <a:xfrm>
            <a:off x="958921" y="302874"/>
            <a:ext cx="10274157" cy="587375"/>
          </a:xfrm>
        </p:spPr>
        <p:txBody>
          <a:bodyPr/>
          <a:lstStyle/>
          <a:p>
            <a:r>
              <a:rPr lang="en-US" altLang="en-US" b="1" dirty="0"/>
              <a:t>Richard Nixon’s “Pet Idea”</a:t>
            </a:r>
          </a:p>
        </p:txBody>
      </p:sp>
      <p:sp>
        <p:nvSpPr>
          <p:cNvPr id="5" name="Content Placeholder 4"/>
          <p:cNvSpPr>
            <a:spLocks noGrp="1"/>
          </p:cNvSpPr>
          <p:nvPr>
            <p:ph sz="half" idx="1"/>
          </p:nvPr>
        </p:nvSpPr>
        <p:spPr>
          <a:xfrm>
            <a:off x="462336" y="1152525"/>
            <a:ext cx="5633663" cy="5410200"/>
          </a:xfrm>
        </p:spPr>
        <p:txBody>
          <a:bodyPr>
            <a:noAutofit/>
          </a:bodyPr>
          <a:lstStyle/>
          <a:p>
            <a:pPr>
              <a:spcBef>
                <a:spcPts val="600"/>
              </a:spcBef>
            </a:pPr>
            <a:r>
              <a:rPr lang="en-US" altLang="en-US" sz="1800" dirty="0"/>
              <a:t>President Nixon from the start of his time in the White House was interested in expanded international space cooperation. This was the only area of space activity in which national security adviser Henry Kissinger was involved.</a:t>
            </a:r>
          </a:p>
          <a:p>
            <a:pPr>
              <a:spcBef>
                <a:spcPts val="600"/>
              </a:spcBef>
            </a:pPr>
            <a:endParaRPr lang="en-US" altLang="en-US" sz="1800" dirty="0"/>
          </a:p>
          <a:p>
            <a:pPr>
              <a:spcBef>
                <a:spcPts val="600"/>
              </a:spcBef>
            </a:pPr>
            <a:r>
              <a:rPr lang="en-US" altLang="en-US" sz="1800" dirty="0"/>
              <a:t>To Nixon, this primarily meant flying non-U.S. people on U.S. spacecraft. He called this his “pet idea.” Nixon in February 1970 asked for “a program which could be announced as soon as possible for German, Japanese, British and French astronauts to participate in our space program.”</a:t>
            </a:r>
          </a:p>
          <a:p>
            <a:pPr>
              <a:spcBef>
                <a:spcPts val="600"/>
              </a:spcBef>
            </a:pPr>
            <a:endParaRPr lang="en-US" altLang="en-US" sz="1800" dirty="0"/>
          </a:p>
          <a:p>
            <a:pPr>
              <a:spcBef>
                <a:spcPts val="600"/>
              </a:spcBef>
            </a:pPr>
            <a:r>
              <a:rPr lang="en-US" altLang="en-US" sz="1800" dirty="0"/>
              <a:t>This Nixon interest ultimately led to the Apollo-Soyuz Test Project and European and Canadian participation in the space shuttle program.</a:t>
            </a:r>
          </a:p>
          <a:p>
            <a:pPr>
              <a:lnSpc>
                <a:spcPct val="80000"/>
              </a:lnSpc>
            </a:pPr>
            <a:endParaRPr lang="en-US" altLang="en-US" sz="1800" dirty="0"/>
          </a:p>
        </p:txBody>
      </p:sp>
      <p:pic>
        <p:nvPicPr>
          <p:cNvPr id="33795" name="Picture 2" descr="C:\Users\user\Desktop\Post-Apollo Book\Revised Final\Photos for Book\Figure 8.1.jpg"/>
          <p:cNvPicPr>
            <a:picLocks noGrp="1" noChangeAspect="1" noChangeArrowheads="1"/>
          </p:cNvPicPr>
          <p:nvPr>
            <p:ph sz="half" idx="2"/>
          </p:nvPr>
        </p:nvPicPr>
        <p:blipFill>
          <a:blip r:embed="rId2" cstate="print">
            <a:extLst>
              <a:ext uri="{28A0092B-C50C-407E-A947-70E740481C1C}">
                <a14:useLocalDpi xmlns:a14="http://schemas.microsoft.com/office/drawing/2010/main"/>
              </a:ext>
            </a:extLst>
          </a:blip>
          <a:srcRect/>
          <a:stretch>
            <a:fillRect/>
          </a:stretch>
        </p:blipFill>
        <p:spPr>
          <a:xfrm>
            <a:off x="7304391" y="1152525"/>
            <a:ext cx="4038600" cy="2870200"/>
          </a:xfrm>
          <a:ln>
            <a:solidFill>
              <a:srgbClr val="000000"/>
            </a:solidFill>
            <a:miter lim="800000"/>
            <a:headEnd/>
            <a:tailEnd/>
          </a:ln>
        </p:spPr>
      </p:pic>
      <p:sp>
        <p:nvSpPr>
          <p:cNvPr id="33796" name="TextBox 7"/>
          <p:cNvSpPr txBox="1">
            <a:spLocks noChangeArrowheads="1"/>
          </p:cNvSpPr>
          <p:nvPr/>
        </p:nvSpPr>
        <p:spPr bwMode="auto">
          <a:xfrm>
            <a:off x="6812909" y="4091221"/>
            <a:ext cx="5379091" cy="9541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400" dirty="0"/>
              <a:t>President Nixon and his national security adviser Henry Kissinger, together with astronauts Bill Anders and Mike Collins, watch the safe return of the Apollo 13 spacecraft, April 17, 1970.</a:t>
            </a:r>
          </a:p>
        </p:txBody>
      </p:sp>
      <p:sp>
        <p:nvSpPr>
          <p:cNvPr id="33797" name="Rectangle 1"/>
          <p:cNvSpPr>
            <a:spLocks noChangeArrowheads="1"/>
          </p:cNvSpPr>
          <p:nvPr/>
        </p:nvSpPr>
        <p:spPr bwMode="auto">
          <a:xfrm>
            <a:off x="9897440" y="6416220"/>
            <a:ext cx="2005013" cy="2778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200" dirty="0"/>
              <a:t>Courtesy: John Logsdon</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66729046-43BF-F246-811B-23F5DF4425EA}" type="slidenum">
              <a:rPr lang="en-US" altLang="en-US" sz="1000" b="0">
                <a:solidFill>
                  <a:schemeClr val="bg1"/>
                </a:solidFill>
              </a:rPr>
              <a:pPr/>
              <a:t>9</a:t>
            </a:fld>
            <a:endParaRPr lang="en-US" altLang="en-US" sz="1000" b="0">
              <a:solidFill>
                <a:schemeClr val="bg1"/>
              </a:solidFill>
            </a:endParaRPr>
          </a:p>
        </p:txBody>
      </p:sp>
      <p:sp>
        <p:nvSpPr>
          <p:cNvPr id="36866" name="Rectangle 2"/>
          <p:cNvSpPr>
            <a:spLocks noGrp="1" noChangeArrowheads="1"/>
          </p:cNvSpPr>
          <p:nvPr>
            <p:ph type="title"/>
          </p:nvPr>
        </p:nvSpPr>
        <p:spPr>
          <a:xfrm>
            <a:off x="907907" y="214794"/>
            <a:ext cx="10376186" cy="801688"/>
          </a:xfrm>
        </p:spPr>
        <p:txBody>
          <a:bodyPr/>
          <a:lstStyle/>
          <a:p>
            <a:pPr eaLnBrk="1" hangingPunct="1"/>
            <a:r>
              <a:rPr lang="en-US" altLang="en-US" dirty="0"/>
              <a:t>Space Task Group – September 15, 1969</a:t>
            </a:r>
          </a:p>
        </p:txBody>
      </p:sp>
      <p:sp>
        <p:nvSpPr>
          <p:cNvPr id="36867" name="Rectangle 3"/>
          <p:cNvSpPr>
            <a:spLocks noGrp="1" noChangeArrowheads="1"/>
          </p:cNvSpPr>
          <p:nvPr>
            <p:ph type="body" idx="1"/>
          </p:nvPr>
        </p:nvSpPr>
        <p:spPr>
          <a:xfrm>
            <a:off x="734602" y="1278179"/>
            <a:ext cx="10722796" cy="5105400"/>
          </a:xfrm>
        </p:spPr>
        <p:txBody>
          <a:bodyPr/>
          <a:lstStyle/>
          <a:p>
            <a:pPr eaLnBrk="1" hangingPunct="1"/>
            <a:r>
              <a:rPr lang="en-US" altLang="en-US" sz="2400" dirty="0"/>
              <a:t>Program Objectives</a:t>
            </a:r>
          </a:p>
          <a:p>
            <a:pPr lvl="1" eaLnBrk="1" hangingPunct="1"/>
            <a:r>
              <a:rPr lang="en-US" altLang="en-US" dirty="0"/>
              <a:t>Space applications program</a:t>
            </a:r>
          </a:p>
          <a:p>
            <a:pPr lvl="1" eaLnBrk="1" hangingPunct="1"/>
            <a:r>
              <a:rPr lang="en-US" altLang="en-US" dirty="0"/>
              <a:t>Space techniques for accomplishment of military missions</a:t>
            </a:r>
          </a:p>
          <a:p>
            <a:pPr lvl="1" eaLnBrk="1" hangingPunct="1"/>
            <a:r>
              <a:rPr lang="en-US" altLang="en-US" dirty="0"/>
              <a:t>Lunar and planetary exploration, astronomy, physics, the earth and life sciences</a:t>
            </a:r>
          </a:p>
          <a:p>
            <a:pPr lvl="1" eaLnBrk="1" hangingPunct="1"/>
            <a:r>
              <a:rPr lang="en-US" altLang="en-US" dirty="0"/>
              <a:t>New space transportation capability and space station modules</a:t>
            </a:r>
          </a:p>
          <a:p>
            <a:pPr lvl="2" eaLnBrk="1" hangingPunct="1"/>
            <a:r>
              <a:rPr lang="en-US" altLang="en-US" sz="2400" dirty="0"/>
              <a:t>Commonality, reusability, economy</a:t>
            </a:r>
          </a:p>
          <a:p>
            <a:pPr lvl="1" eaLnBrk="1" hangingPunct="1"/>
            <a:r>
              <a:rPr lang="en-US" altLang="en-US" dirty="0"/>
              <a:t>Broad international participation and cooperation</a:t>
            </a:r>
          </a:p>
          <a:p>
            <a:pPr eaLnBrk="1" hangingPunct="1"/>
            <a:r>
              <a:rPr lang="ja-JP" altLang="en-US" sz="2400"/>
              <a:t>“</a:t>
            </a:r>
            <a:r>
              <a:rPr lang="en-US" altLang="ja-JP" sz="2400" dirty="0"/>
              <a:t>As a focus… manned Mars mission before the end of this century as the first target</a:t>
            </a:r>
            <a:r>
              <a:rPr lang="ja-JP" altLang="en-US" sz="2400"/>
              <a:t>”</a:t>
            </a:r>
            <a:endParaRPr lang="en-US" altLang="en-US" sz="2400" dirty="0"/>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7749ED7D-496D-F34D-94FD-699A11A4E95F}" type="slidenum">
              <a:rPr lang="en-US" altLang="en-US" sz="1000" b="0">
                <a:solidFill>
                  <a:schemeClr val="bg1"/>
                </a:solidFill>
              </a:rPr>
              <a:pPr/>
              <a:t>10</a:t>
            </a:fld>
            <a:endParaRPr lang="en-US" altLang="en-US" sz="1000" b="0">
              <a:solidFill>
                <a:schemeClr val="bg1"/>
              </a:solidFill>
            </a:endParaRPr>
          </a:p>
        </p:txBody>
      </p:sp>
      <p:sp>
        <p:nvSpPr>
          <p:cNvPr id="37890" name="Rectangle 2"/>
          <p:cNvSpPr>
            <a:spLocks noGrp="1" noChangeArrowheads="1"/>
          </p:cNvSpPr>
          <p:nvPr>
            <p:ph type="title"/>
          </p:nvPr>
        </p:nvSpPr>
        <p:spPr>
          <a:xfrm>
            <a:off x="1065266" y="254792"/>
            <a:ext cx="10061467" cy="801688"/>
          </a:xfrm>
        </p:spPr>
        <p:txBody>
          <a:bodyPr/>
          <a:lstStyle/>
          <a:p>
            <a:pPr eaLnBrk="1" hangingPunct="1"/>
            <a:r>
              <a:rPr lang="en-US" altLang="en-US" dirty="0"/>
              <a:t>Seeking a Shuttle, Station and More</a:t>
            </a:r>
          </a:p>
        </p:txBody>
      </p:sp>
      <p:sp>
        <p:nvSpPr>
          <p:cNvPr id="37891" name="Rectangle 3"/>
          <p:cNvSpPr>
            <a:spLocks noGrp="1" noChangeArrowheads="1"/>
          </p:cNvSpPr>
          <p:nvPr>
            <p:ph type="body" idx="1"/>
          </p:nvPr>
        </p:nvSpPr>
        <p:spPr>
          <a:xfrm>
            <a:off x="921337" y="1300253"/>
            <a:ext cx="10349323" cy="4881563"/>
          </a:xfrm>
        </p:spPr>
        <p:txBody>
          <a:bodyPr/>
          <a:lstStyle/>
          <a:p>
            <a:pPr eaLnBrk="1" hangingPunct="1"/>
            <a:r>
              <a:rPr lang="en-US" altLang="en-US" dirty="0"/>
              <a:t>Space Transportation System</a:t>
            </a:r>
          </a:p>
          <a:p>
            <a:pPr lvl="1" eaLnBrk="1" hangingPunct="1"/>
            <a:r>
              <a:rPr lang="en-US" altLang="en-US" sz="2000" dirty="0"/>
              <a:t>Earth to orbit: 1975-1977</a:t>
            </a:r>
          </a:p>
          <a:p>
            <a:pPr lvl="1" eaLnBrk="1" hangingPunct="1"/>
            <a:r>
              <a:rPr lang="en-US" altLang="en-US" sz="2000" dirty="0"/>
              <a:t>Space Tug: 1976-1981</a:t>
            </a:r>
          </a:p>
          <a:p>
            <a:pPr eaLnBrk="1" hangingPunct="1"/>
            <a:r>
              <a:rPr lang="en-US" altLang="en-US" dirty="0"/>
              <a:t>Space Station: 1975-1977</a:t>
            </a:r>
          </a:p>
          <a:p>
            <a:pPr lvl="1" eaLnBrk="1" hangingPunct="1"/>
            <a:r>
              <a:rPr lang="en-US" altLang="en-US" sz="2000" dirty="0"/>
              <a:t>50 man space base: 1975-1977</a:t>
            </a:r>
          </a:p>
          <a:p>
            <a:pPr lvl="1" eaLnBrk="1" hangingPunct="1"/>
            <a:r>
              <a:rPr lang="en-US" altLang="en-US" sz="2000" dirty="0"/>
              <a:t>Lunar orbiting station: 1976-1981</a:t>
            </a:r>
          </a:p>
          <a:p>
            <a:pPr eaLnBrk="1" hangingPunct="1"/>
            <a:r>
              <a:rPr lang="en-US" altLang="en-US" dirty="0"/>
              <a:t>Demonstrate Satellite Navigation: 1974</a:t>
            </a:r>
          </a:p>
          <a:p>
            <a:pPr eaLnBrk="1" hangingPunct="1"/>
            <a:r>
              <a:rPr lang="en-US" altLang="en-US" dirty="0"/>
              <a:t>Demonstrate Direct Broadcast TV: 1978</a:t>
            </a:r>
          </a:p>
          <a:p>
            <a:pPr eaLnBrk="1" hangingPunct="1"/>
            <a:r>
              <a:rPr lang="en-US" altLang="en-US" dirty="0"/>
              <a:t>Large Orbiting Observatory: 1979</a:t>
            </a:r>
          </a:p>
          <a:p>
            <a:pPr eaLnBrk="1" hangingPunct="1"/>
            <a:r>
              <a:rPr lang="en-US" altLang="en-US" dirty="0"/>
              <a:t>Initial Mars Expedition: 1981-1986</a:t>
            </a:r>
          </a:p>
          <a:p>
            <a:pPr eaLnBrk="1" hangingPunct="1"/>
            <a:endParaRPr lang="en-US" altLang="en-US" dirty="0"/>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3"/>
          <p:cNvSpPr>
            <a:spLocks noGrp="1"/>
          </p:cNvSpPr>
          <p:nvPr>
            <p:ph type="title"/>
          </p:nvPr>
        </p:nvSpPr>
        <p:spPr>
          <a:xfrm>
            <a:off x="853981" y="246061"/>
            <a:ext cx="10519511" cy="873303"/>
          </a:xfrm>
        </p:spPr>
        <p:txBody>
          <a:bodyPr/>
          <a:lstStyle/>
          <a:p>
            <a:r>
              <a:rPr lang="en-US" altLang="en-US" b="1" dirty="0"/>
              <a:t>Reaction to the Space Task Group Report</a:t>
            </a:r>
          </a:p>
        </p:txBody>
      </p:sp>
      <p:sp>
        <p:nvSpPr>
          <p:cNvPr id="5" name="Content Placeholder 4"/>
          <p:cNvSpPr>
            <a:spLocks noGrp="1"/>
          </p:cNvSpPr>
          <p:nvPr>
            <p:ph sz="half" idx="1"/>
          </p:nvPr>
        </p:nvSpPr>
        <p:spPr>
          <a:xfrm>
            <a:off x="544529" y="1214439"/>
            <a:ext cx="5917915" cy="5121275"/>
          </a:xfrm>
        </p:spPr>
        <p:txBody>
          <a:bodyPr>
            <a:normAutofit fontScale="92500" lnSpcReduction="10000"/>
          </a:bodyPr>
          <a:lstStyle/>
          <a:p>
            <a:pPr>
              <a:spcBef>
                <a:spcPts val="600"/>
              </a:spcBef>
            </a:pPr>
            <a:r>
              <a:rPr lang="en-US" altLang="en-US" sz="2000" dirty="0"/>
              <a:t>STG report presented to Nixon on September 15, 1969.</a:t>
            </a:r>
          </a:p>
          <a:p>
            <a:pPr>
              <a:spcBef>
                <a:spcPts val="600"/>
              </a:spcBef>
            </a:pPr>
            <a:endParaRPr lang="en-US" altLang="en-US" sz="2000" dirty="0"/>
          </a:p>
          <a:p>
            <a:pPr>
              <a:spcBef>
                <a:spcPts val="600"/>
              </a:spcBef>
            </a:pPr>
            <a:r>
              <a:rPr lang="en-US" altLang="en-US" sz="2000" dirty="0"/>
              <a:t>Decisions on the report’s recommendations were made in the context of a chaotic FY1971 budget process that featured three sets of final budget decisions, each reducing NASA’s allocation.</a:t>
            </a:r>
          </a:p>
          <a:p>
            <a:pPr>
              <a:spcBef>
                <a:spcPts val="600"/>
              </a:spcBef>
            </a:pPr>
            <a:endParaRPr lang="en-US" altLang="en-US" sz="2000" dirty="0"/>
          </a:p>
          <a:p>
            <a:pPr>
              <a:spcBef>
                <a:spcPts val="600"/>
              </a:spcBef>
            </a:pPr>
            <a:r>
              <a:rPr lang="en-US" altLang="en-US" sz="2000" dirty="0"/>
              <a:t>Outcome was rejection of STG recommendations and further reduction in NASA’s budget, even after Apollo 11 and 12 successes.</a:t>
            </a:r>
          </a:p>
          <a:p>
            <a:pPr>
              <a:spcBef>
                <a:spcPts val="600"/>
              </a:spcBef>
            </a:pPr>
            <a:endParaRPr lang="en-US" altLang="en-US" sz="2000" dirty="0"/>
          </a:p>
          <a:p>
            <a:pPr>
              <a:spcBef>
                <a:spcPts val="600"/>
              </a:spcBef>
            </a:pPr>
            <a:r>
              <a:rPr lang="en-US" altLang="en-US" sz="2000" dirty="0"/>
              <a:t>The result was thus a decision on what NOT to do after Apollo. There would not be another Apollo-like effort.</a:t>
            </a:r>
          </a:p>
        </p:txBody>
      </p:sp>
      <p:pic>
        <p:nvPicPr>
          <p:cNvPr id="38915" name="Picture 2" descr="C:\Users\user\Desktop\Post-Apollo Book\Photos for Book\Figure 3.3.jpg"/>
          <p:cNvPicPr>
            <a:picLocks noGrp="1" noChangeAspect="1" noChangeArrowheads="1"/>
          </p:cNvPicPr>
          <p:nvPr>
            <p:ph sz="half" idx="2"/>
          </p:nvPr>
        </p:nvPicPr>
        <p:blipFill>
          <a:blip r:embed="rId2" cstate="print">
            <a:extLst>
              <a:ext uri="{28A0092B-C50C-407E-A947-70E740481C1C}">
                <a14:useLocalDpi xmlns:a14="http://schemas.microsoft.com/office/drawing/2010/main"/>
              </a:ext>
            </a:extLst>
          </a:blip>
          <a:srcRect/>
          <a:stretch>
            <a:fillRect/>
          </a:stretch>
        </p:blipFill>
        <p:spPr>
          <a:xfrm>
            <a:off x="6785949" y="1214439"/>
            <a:ext cx="4861521" cy="3598125"/>
          </a:xfrm>
          <a:ln>
            <a:solidFill>
              <a:srgbClr val="000000"/>
            </a:solidFill>
            <a:miter lim="800000"/>
            <a:headEnd/>
            <a:tailEnd/>
          </a:ln>
        </p:spPr>
      </p:pic>
      <p:sp>
        <p:nvSpPr>
          <p:cNvPr id="38916" name="TextBox 1"/>
          <p:cNvSpPr txBox="1">
            <a:spLocks noChangeArrowheads="1"/>
          </p:cNvSpPr>
          <p:nvPr/>
        </p:nvSpPr>
        <p:spPr bwMode="auto">
          <a:xfrm>
            <a:off x="7267558" y="4812564"/>
            <a:ext cx="4198402"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600" dirty="0"/>
              <a:t>Members of the Space Task Group meet with President Nixon in the Cabinet Room, September 15, 1969</a:t>
            </a:r>
          </a:p>
        </p:txBody>
      </p:sp>
      <p:sp>
        <p:nvSpPr>
          <p:cNvPr id="38917" name="Rectangle 2"/>
          <p:cNvSpPr>
            <a:spLocks noChangeArrowheads="1"/>
          </p:cNvSpPr>
          <p:nvPr/>
        </p:nvSpPr>
        <p:spPr bwMode="auto">
          <a:xfrm>
            <a:off x="9763875" y="6335714"/>
            <a:ext cx="2005013"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200"/>
              <a:t>Courtesy: John Logsdon</a:t>
            </a:r>
            <a:endParaRPr lang="en-US" altLang="en-US" sz="1800"/>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6"/>
          <p:cNvSpPr>
            <a:spLocks noGrp="1"/>
          </p:cNvSpPr>
          <p:nvPr>
            <p:ph type="title"/>
          </p:nvPr>
        </p:nvSpPr>
        <p:spPr>
          <a:xfrm>
            <a:off x="975759" y="411859"/>
            <a:ext cx="9767869" cy="639763"/>
          </a:xfrm>
        </p:spPr>
        <p:txBody>
          <a:bodyPr/>
          <a:lstStyle/>
          <a:p>
            <a:r>
              <a:rPr lang="en-US" altLang="en-US" b="1" dirty="0"/>
              <a:t>The End of Human Space Exploration</a:t>
            </a:r>
          </a:p>
        </p:txBody>
      </p:sp>
      <p:sp>
        <p:nvSpPr>
          <p:cNvPr id="8" name="Content Placeholder 7"/>
          <p:cNvSpPr>
            <a:spLocks noGrp="1"/>
          </p:cNvSpPr>
          <p:nvPr>
            <p:ph idx="1"/>
          </p:nvPr>
        </p:nvSpPr>
        <p:spPr>
          <a:xfrm>
            <a:off x="536315" y="1284251"/>
            <a:ext cx="11165949" cy="4376810"/>
          </a:xfrm>
        </p:spPr>
        <p:txBody>
          <a:bodyPr>
            <a:noAutofit/>
          </a:bodyPr>
          <a:lstStyle/>
          <a:p>
            <a:pPr>
              <a:spcBef>
                <a:spcPts val="600"/>
              </a:spcBef>
            </a:pPr>
            <a:r>
              <a:rPr lang="en-US" altLang="en-US" sz="2000" dirty="0"/>
              <a:t>During negotiations on the FY1971 budget, NASA Administrator Paine had agreed to suspending  production of Saturn V booster in order to get funds for the new projects recommended by the STG, especially a space station and space shuttle.</a:t>
            </a:r>
          </a:p>
          <a:p>
            <a:pPr>
              <a:spcBef>
                <a:spcPts val="600"/>
              </a:spcBef>
            </a:pPr>
            <a:r>
              <a:rPr lang="en-US" altLang="en-US" sz="2000" dirty="0"/>
              <a:t>With this decision, the U.S. gave up the exploratory capabilities, especially the Saturn V launcher,  that had both been at the center of James Webb’s goal of lasting U.S. space pre-eminence and a necessary element of a continuing program of human space exploration.</a:t>
            </a:r>
          </a:p>
          <a:p>
            <a:pPr>
              <a:spcBef>
                <a:spcPts val="600"/>
              </a:spcBef>
            </a:pPr>
            <a:r>
              <a:rPr lang="en-US" altLang="en-US" sz="2000" dirty="0"/>
              <a:t>The combination of a low FY1971 budget and a low budget target given NASA for FY1972, plus concern by people like Robert </a:t>
            </a:r>
            <a:r>
              <a:rPr lang="en-US" altLang="en-US" sz="2000" dirty="0" err="1"/>
              <a:t>Gilruth</a:t>
            </a:r>
            <a:r>
              <a:rPr lang="en-US" altLang="en-US" sz="2000" dirty="0"/>
              <a:t> and George Low about risks of additional Apollo flights, especially after Apollo 13 in April 1970, led NASA in August 1970 to cancel Apollo 15 and Apollo 19 and renumber the three remaining missions Apollo 15, 16, and 17. This truncated the Apollo program; there would be no more missions to the Moon after 1972. </a:t>
            </a:r>
          </a:p>
          <a:p>
            <a:endParaRPr lang="en-US" altLang="en-US" sz="1800" dirty="0"/>
          </a:p>
          <a:p>
            <a:endParaRPr lang="en-US" altLang="en-US" sz="1400" dirty="0"/>
          </a:p>
        </p:txBody>
      </p:sp>
      <p:sp>
        <p:nvSpPr>
          <p:cNvPr id="4" name="TextBox 3">
            <a:extLst>
              <a:ext uri="{FF2B5EF4-FFF2-40B4-BE49-F238E27FC236}">
                <a16:creationId xmlns:a16="http://schemas.microsoft.com/office/drawing/2014/main" id="{9B27C3E7-7122-3B44-8A81-F1BC2CDE40BB}"/>
              </a:ext>
            </a:extLst>
          </p:cNvPr>
          <p:cNvSpPr txBox="1"/>
          <p:nvPr/>
        </p:nvSpPr>
        <p:spPr>
          <a:xfrm>
            <a:off x="9284696" y="6307641"/>
            <a:ext cx="2476072" cy="276999"/>
          </a:xfrm>
          <a:prstGeom prst="rect">
            <a:avLst/>
          </a:prstGeom>
          <a:noFill/>
        </p:spPr>
        <p:txBody>
          <a:bodyPr wrap="square" rtlCol="0">
            <a:spAutoFit/>
          </a:bodyPr>
          <a:lstStyle/>
          <a:p>
            <a:r>
              <a:rPr lang="en-US" sz="1200" dirty="0"/>
              <a:t>Courtesy: John Logsdon</a:t>
            </a: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a:xfrm>
            <a:off x="1116816" y="252412"/>
            <a:ext cx="10010096" cy="801688"/>
          </a:xfrm>
        </p:spPr>
        <p:txBody>
          <a:bodyPr/>
          <a:lstStyle/>
          <a:p>
            <a:r>
              <a:rPr lang="en-US" altLang="en-US" sz="3200" dirty="0"/>
              <a:t>Nixon Ends What Kennedy Started</a:t>
            </a:r>
          </a:p>
        </p:txBody>
      </p:sp>
      <p:pic>
        <p:nvPicPr>
          <p:cNvPr id="40962" name="Content Placeholder 4" descr="Apollo17_plaque.jpg"/>
          <p:cNvPicPr>
            <a:picLocks noGrp="1" noChangeAspect="1"/>
          </p:cNvPicPr>
          <p:nvPr>
            <p:ph idx="1"/>
          </p:nvPr>
        </p:nvPicPr>
        <p:blipFill>
          <a:blip r:embed="rId3" cstate="print">
            <a:extLst>
              <a:ext uri="{28A0092B-C50C-407E-A947-70E740481C1C}">
                <a14:useLocalDpi xmlns:a14="http://schemas.microsoft.com/office/drawing/2010/main"/>
              </a:ext>
            </a:extLst>
          </a:blip>
          <a:srcRect l="-16522" r="-16522"/>
          <a:stretch>
            <a:fillRect/>
          </a:stretch>
        </p:blipFill>
        <p:spPr>
          <a:xfrm>
            <a:off x="-507573" y="1054100"/>
            <a:ext cx="8577816" cy="5232686"/>
          </a:xfrm>
        </p:spPr>
      </p:pic>
      <p:sp>
        <p:nvSpPr>
          <p:cNvPr id="40963" name="Slide Number Placeholder 2"/>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46507554-C7F7-C94B-8A7F-E116D5B86AB8}" type="slidenum">
              <a:rPr lang="en-US" altLang="en-US" sz="1000" b="0">
                <a:solidFill>
                  <a:schemeClr val="bg1"/>
                </a:solidFill>
              </a:rPr>
              <a:pPr/>
              <a:t>13</a:t>
            </a:fld>
            <a:endParaRPr lang="en-US" altLang="en-US" sz="1000" b="0">
              <a:solidFill>
                <a:schemeClr val="bg1"/>
              </a:solidFill>
            </a:endParaRPr>
          </a:p>
        </p:txBody>
      </p:sp>
      <p:sp>
        <p:nvSpPr>
          <p:cNvPr id="40964" name="TextBox 5"/>
          <p:cNvSpPr txBox="1">
            <a:spLocks noChangeArrowheads="1"/>
          </p:cNvSpPr>
          <p:nvPr/>
        </p:nvSpPr>
        <p:spPr bwMode="auto">
          <a:xfrm>
            <a:off x="7645400" y="1219200"/>
            <a:ext cx="4262348" cy="56323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800" dirty="0"/>
              <a:t>The last five lunar missions were designed for the Extended Lunar Module, capable of three-day stays:</a:t>
            </a:r>
          </a:p>
          <a:p>
            <a:endParaRPr lang="en-US" altLang="en-US" sz="1800" dirty="0"/>
          </a:p>
          <a:p>
            <a:r>
              <a:rPr lang="en-US" altLang="en-US" sz="1800" dirty="0"/>
              <a:t>Apollo 16 (J1) Descartes Highlands</a:t>
            </a:r>
          </a:p>
          <a:p>
            <a:r>
              <a:rPr lang="en-US" altLang="en-US" sz="1800" dirty="0"/>
              <a:t>Apollo 17 (J2) Marius Hills</a:t>
            </a:r>
          </a:p>
          <a:p>
            <a:r>
              <a:rPr lang="en-US" altLang="en-US" sz="1800" dirty="0"/>
              <a:t>Apollo 18 (J3) Copernicus crater</a:t>
            </a:r>
          </a:p>
          <a:p>
            <a:r>
              <a:rPr lang="en-US" altLang="en-US" sz="1800" dirty="0"/>
              <a:t>Apollo 19 (J4) Hadley </a:t>
            </a:r>
            <a:r>
              <a:rPr lang="en-US" altLang="en-US" sz="1800" dirty="0" err="1"/>
              <a:t>Rille</a:t>
            </a:r>
            <a:endParaRPr lang="en-US" altLang="en-US" sz="1800" dirty="0"/>
          </a:p>
          <a:p>
            <a:r>
              <a:rPr lang="en-US" altLang="en-US" sz="1800" dirty="0"/>
              <a:t>Apollo 20 (J5) Tycho crater</a:t>
            </a:r>
          </a:p>
          <a:p>
            <a:endParaRPr lang="en-US" altLang="en-US" sz="1800" dirty="0"/>
          </a:p>
          <a:p>
            <a:r>
              <a:rPr lang="en-US" altLang="en-US" sz="1800" dirty="0"/>
              <a:t>Apollo 20 cancelled so its Saturn V could launch Skylab.</a:t>
            </a:r>
          </a:p>
          <a:p>
            <a:endParaRPr lang="en-US" altLang="en-US" sz="1800" dirty="0"/>
          </a:p>
          <a:p>
            <a:r>
              <a:rPr lang="en-US" altLang="en-US" sz="1800" dirty="0"/>
              <a:t>Apollo 19 site assigned to Apollo 15</a:t>
            </a:r>
          </a:p>
          <a:p>
            <a:endParaRPr lang="en-US" altLang="en-US" sz="1800" dirty="0"/>
          </a:p>
          <a:p>
            <a:r>
              <a:rPr lang="en-US" altLang="en-US" sz="1800" dirty="0"/>
              <a:t>Apollo 16 and 17 cancelled and then restored.  Apollo 17 gets the Taurus-Littrow valley</a:t>
            </a:r>
          </a:p>
          <a:p>
            <a:endParaRPr lang="en-US" altLang="en-US" sz="1200" dirty="0"/>
          </a:p>
          <a:p>
            <a:r>
              <a:rPr lang="en-US" altLang="en-US" sz="1200" dirty="0"/>
              <a:t> </a:t>
            </a:r>
          </a:p>
          <a:p>
            <a:endParaRPr lang="en-US" altLang="en-US" sz="1200" dirty="0"/>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742EF6-457E-1942-8FA1-CDE06DD05E41}"/>
              </a:ext>
            </a:extLst>
          </p:cNvPr>
          <p:cNvSpPr>
            <a:spLocks noGrp="1"/>
          </p:cNvSpPr>
          <p:nvPr>
            <p:ph type="sldNum" sz="quarter" idx="11"/>
          </p:nvPr>
        </p:nvSpPr>
        <p:spPr/>
        <p:txBody>
          <a:bodyPr/>
          <a:lstStyle/>
          <a:p>
            <a:fld id="{8EC424DB-4AEB-3A43-8511-BC056CE625DD}" type="slidenum">
              <a:rPr lang="en-US" altLang="en-US" smtClean="0"/>
              <a:pPr/>
              <a:t>14</a:t>
            </a:fld>
            <a:endParaRPr lang="en-US" altLang="en-US"/>
          </a:p>
        </p:txBody>
      </p:sp>
      <p:pic>
        <p:nvPicPr>
          <p:cNvPr id="4" name="Picture 3">
            <a:extLst>
              <a:ext uri="{FF2B5EF4-FFF2-40B4-BE49-F238E27FC236}">
                <a16:creationId xmlns:a16="http://schemas.microsoft.com/office/drawing/2014/main" id="{68C3919A-2765-1A4D-97C1-85D7D646A5C0}"/>
              </a:ext>
            </a:extLst>
          </p:cNvPr>
          <p:cNvPicPr>
            <a:picLocks noChangeAspect="1"/>
          </p:cNvPicPr>
          <p:nvPr/>
        </p:nvPicPr>
        <p:blipFill>
          <a:blip r:embed="rId2"/>
          <a:stretch>
            <a:fillRect/>
          </a:stretch>
        </p:blipFill>
        <p:spPr>
          <a:xfrm>
            <a:off x="1481604" y="0"/>
            <a:ext cx="9228792" cy="6858000"/>
          </a:xfrm>
          <a:prstGeom prst="rect">
            <a:avLst/>
          </a:prstGeom>
        </p:spPr>
      </p:pic>
      <p:sp>
        <p:nvSpPr>
          <p:cNvPr id="5" name="TextBox 4">
            <a:extLst>
              <a:ext uri="{FF2B5EF4-FFF2-40B4-BE49-F238E27FC236}">
                <a16:creationId xmlns:a16="http://schemas.microsoft.com/office/drawing/2014/main" id="{4ADCB124-8911-A144-8609-3887F6B0996F}"/>
              </a:ext>
            </a:extLst>
          </p:cNvPr>
          <p:cNvSpPr txBox="1"/>
          <p:nvPr/>
        </p:nvSpPr>
        <p:spPr>
          <a:xfrm>
            <a:off x="8486455" y="6368277"/>
            <a:ext cx="2223941" cy="276999"/>
          </a:xfrm>
          <a:prstGeom prst="rect">
            <a:avLst/>
          </a:prstGeom>
          <a:noFill/>
        </p:spPr>
        <p:txBody>
          <a:bodyPr wrap="square" rtlCol="0">
            <a:spAutoFit/>
          </a:bodyPr>
          <a:lstStyle/>
          <a:p>
            <a:r>
              <a:rPr lang="en-US" sz="1200" dirty="0"/>
              <a:t>Courtesy: John Logsdon</a:t>
            </a:r>
          </a:p>
        </p:txBody>
      </p:sp>
    </p:spTree>
    <p:extLst>
      <p:ext uri="{BB962C8B-B14F-4D97-AF65-F5344CB8AC3E}">
        <p14:creationId xmlns:p14="http://schemas.microsoft.com/office/powerpoint/2010/main" val="365905538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C9D67750-454B-40F6-31AF-55EC9719024A}"/>
              </a:ext>
            </a:extLst>
          </p:cNvPr>
          <p:cNvSpPr/>
          <p:nvPr/>
        </p:nvSpPr>
        <p:spPr bwMode="auto">
          <a:xfrm>
            <a:off x="890914" y="1263721"/>
            <a:ext cx="10575046" cy="3945277"/>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endParaRPr>
          </a:p>
        </p:txBody>
      </p:sp>
      <p:sp>
        <p:nvSpPr>
          <p:cNvPr id="3" name="Title 2">
            <a:extLst>
              <a:ext uri="{FF2B5EF4-FFF2-40B4-BE49-F238E27FC236}">
                <a16:creationId xmlns:a16="http://schemas.microsoft.com/office/drawing/2014/main" id="{ED696C1D-1A22-70D3-25C0-7C190D83BBA1}"/>
              </a:ext>
            </a:extLst>
          </p:cNvPr>
          <p:cNvSpPr>
            <a:spLocks noGrp="1"/>
          </p:cNvSpPr>
          <p:nvPr>
            <p:ph type="title"/>
          </p:nvPr>
        </p:nvSpPr>
        <p:spPr>
          <a:xfrm>
            <a:off x="1240366" y="386538"/>
            <a:ext cx="9711267" cy="801688"/>
          </a:xfrm>
        </p:spPr>
        <p:txBody>
          <a:bodyPr/>
          <a:lstStyle/>
          <a:p>
            <a:pPr algn="ctr"/>
            <a:r>
              <a:rPr lang="en-US" sz="3600" dirty="0"/>
              <a:t>The Nixon Space Doctrine</a:t>
            </a:r>
          </a:p>
        </p:txBody>
      </p:sp>
      <p:sp>
        <p:nvSpPr>
          <p:cNvPr id="6" name="Content Placeholder 5">
            <a:extLst>
              <a:ext uri="{FF2B5EF4-FFF2-40B4-BE49-F238E27FC236}">
                <a16:creationId xmlns:a16="http://schemas.microsoft.com/office/drawing/2014/main" id="{727308AA-48BC-4627-73FF-90371B02D7B0}"/>
              </a:ext>
            </a:extLst>
          </p:cNvPr>
          <p:cNvSpPr>
            <a:spLocks noGrp="1"/>
          </p:cNvSpPr>
          <p:nvPr>
            <p:ph idx="1"/>
          </p:nvPr>
        </p:nvSpPr>
        <p:spPr>
          <a:xfrm>
            <a:off x="1133856" y="1460501"/>
            <a:ext cx="10249910" cy="4741863"/>
          </a:xfrm>
        </p:spPr>
        <p:txBody>
          <a:bodyPr/>
          <a:lstStyle/>
          <a:p>
            <a:pPr marL="0" indent="0" eaLnBrk="1" hangingPunct="1">
              <a:lnSpc>
                <a:spcPct val="90000"/>
              </a:lnSpc>
              <a:buNone/>
            </a:pPr>
            <a:r>
              <a:rPr lang="en-US" altLang="en-US" b="1" dirty="0"/>
              <a:t>“We must think of (space activities) as part of a continuing process…and not as a series of separate leaps, each requiring a massive concentration of energy.</a:t>
            </a:r>
            <a:r>
              <a:rPr lang="en-US" altLang="en-US" dirty="0"/>
              <a:t> </a:t>
            </a:r>
            <a:r>
              <a:rPr lang="en-US" altLang="en-US" b="1" dirty="0"/>
              <a:t>Space expenditures must take their proper place within a rigorous system of national priorities.  . . . What we do in space from here on in must become a normal and regular part of our national life and must therefore be planned in conjunction with all of the other undertakings which are important to us.”</a:t>
            </a:r>
          </a:p>
          <a:p>
            <a:pPr marL="0" indent="0" eaLnBrk="1" hangingPunct="1">
              <a:lnSpc>
                <a:spcPct val="90000"/>
              </a:lnSpc>
              <a:buNone/>
            </a:pPr>
            <a:endParaRPr lang="en-US" altLang="en-US" b="1" dirty="0"/>
          </a:p>
          <a:p>
            <a:pPr marL="457200" lvl="1" indent="0" eaLnBrk="1" hangingPunct="1">
              <a:lnSpc>
                <a:spcPct val="90000"/>
              </a:lnSpc>
              <a:buNone/>
            </a:pPr>
            <a:r>
              <a:rPr lang="en-US" altLang="en-US" sz="2800" b="1" dirty="0"/>
              <a:t>- President Richard M. Nixon, March 7, 1970 </a:t>
            </a:r>
          </a:p>
          <a:p>
            <a:pPr marL="0" indent="0">
              <a:buNone/>
            </a:pPr>
            <a:endParaRPr lang="en-US" dirty="0"/>
          </a:p>
        </p:txBody>
      </p:sp>
      <p:sp>
        <p:nvSpPr>
          <p:cNvPr id="2" name="Slide Number Placeholder 1">
            <a:extLst>
              <a:ext uri="{FF2B5EF4-FFF2-40B4-BE49-F238E27FC236}">
                <a16:creationId xmlns:a16="http://schemas.microsoft.com/office/drawing/2014/main" id="{7AC05CDC-CE94-D046-9CF4-7D8D16978AD8}"/>
              </a:ext>
            </a:extLst>
          </p:cNvPr>
          <p:cNvSpPr>
            <a:spLocks noGrp="1"/>
          </p:cNvSpPr>
          <p:nvPr>
            <p:ph type="sldNum" sz="quarter" idx="11"/>
          </p:nvPr>
        </p:nvSpPr>
        <p:spPr/>
        <p:txBody>
          <a:bodyPr/>
          <a:lstStyle/>
          <a:p>
            <a:fld id="{8EC424DB-4AEB-3A43-8511-BC056CE625DD}" type="slidenum">
              <a:rPr lang="en-US" altLang="en-US" smtClean="0"/>
              <a:pPr/>
              <a:t>15</a:t>
            </a:fld>
            <a:endParaRPr lang="en-US" altLang="en-US"/>
          </a:p>
        </p:txBody>
      </p:sp>
      <p:sp>
        <p:nvSpPr>
          <p:cNvPr id="5" name="TextBox 4">
            <a:extLst>
              <a:ext uri="{FF2B5EF4-FFF2-40B4-BE49-F238E27FC236}">
                <a16:creationId xmlns:a16="http://schemas.microsoft.com/office/drawing/2014/main" id="{CDD93553-F881-2F44-861C-3B3425E22700}"/>
              </a:ext>
            </a:extLst>
          </p:cNvPr>
          <p:cNvSpPr txBox="1"/>
          <p:nvPr/>
        </p:nvSpPr>
        <p:spPr>
          <a:xfrm>
            <a:off x="8794680" y="6474639"/>
            <a:ext cx="2160450" cy="276999"/>
          </a:xfrm>
          <a:prstGeom prst="rect">
            <a:avLst/>
          </a:prstGeom>
          <a:noFill/>
        </p:spPr>
        <p:txBody>
          <a:bodyPr wrap="square" rtlCol="0">
            <a:spAutoFit/>
          </a:bodyPr>
          <a:lstStyle/>
          <a:p>
            <a:r>
              <a:rPr lang="en-US" sz="1200" dirty="0"/>
              <a:t>Courtesy: John Logsdon</a:t>
            </a:r>
          </a:p>
        </p:txBody>
      </p:sp>
    </p:spTree>
    <p:extLst>
      <p:ext uri="{BB962C8B-B14F-4D97-AF65-F5344CB8AC3E}">
        <p14:creationId xmlns:p14="http://schemas.microsoft.com/office/powerpoint/2010/main" val="121680698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01F55-C8BA-EC4B-8123-2ED7E47F8721}"/>
              </a:ext>
            </a:extLst>
          </p:cNvPr>
          <p:cNvSpPr>
            <a:spLocks noGrp="1"/>
          </p:cNvSpPr>
          <p:nvPr>
            <p:ph type="sldNum" sz="quarter" idx="11"/>
          </p:nvPr>
        </p:nvSpPr>
        <p:spPr/>
        <p:txBody>
          <a:bodyPr/>
          <a:lstStyle/>
          <a:p>
            <a:fld id="{8EC424DB-4AEB-3A43-8511-BC056CE625DD}" type="slidenum">
              <a:rPr lang="en-US" altLang="en-US" smtClean="0"/>
              <a:pPr/>
              <a:t>16</a:t>
            </a:fld>
            <a:endParaRPr lang="en-US" altLang="en-US"/>
          </a:p>
        </p:txBody>
      </p:sp>
      <p:pic>
        <p:nvPicPr>
          <p:cNvPr id="4" name="Picture 3">
            <a:extLst>
              <a:ext uri="{FF2B5EF4-FFF2-40B4-BE49-F238E27FC236}">
                <a16:creationId xmlns:a16="http://schemas.microsoft.com/office/drawing/2014/main" id="{7A9F7E88-4222-FF4B-A28E-3C649FE06E35}"/>
              </a:ext>
            </a:extLst>
          </p:cNvPr>
          <p:cNvPicPr>
            <a:picLocks noChangeAspect="1"/>
          </p:cNvPicPr>
          <p:nvPr/>
        </p:nvPicPr>
        <p:blipFill>
          <a:blip r:embed="rId3"/>
          <a:stretch>
            <a:fillRect/>
          </a:stretch>
        </p:blipFill>
        <p:spPr>
          <a:xfrm>
            <a:off x="1381742" y="0"/>
            <a:ext cx="9284677" cy="6858000"/>
          </a:xfrm>
          <a:prstGeom prst="rect">
            <a:avLst/>
          </a:prstGeom>
        </p:spPr>
      </p:pic>
      <p:sp>
        <p:nvSpPr>
          <p:cNvPr id="5" name="TextBox 4">
            <a:extLst>
              <a:ext uri="{FF2B5EF4-FFF2-40B4-BE49-F238E27FC236}">
                <a16:creationId xmlns:a16="http://schemas.microsoft.com/office/drawing/2014/main" id="{1E486079-440F-C340-ADFC-A4B76AC56F80}"/>
              </a:ext>
            </a:extLst>
          </p:cNvPr>
          <p:cNvSpPr txBox="1"/>
          <p:nvPr/>
        </p:nvSpPr>
        <p:spPr>
          <a:xfrm>
            <a:off x="8414536" y="6442502"/>
            <a:ext cx="2251883" cy="276999"/>
          </a:xfrm>
          <a:prstGeom prst="rect">
            <a:avLst/>
          </a:prstGeom>
          <a:noFill/>
        </p:spPr>
        <p:txBody>
          <a:bodyPr wrap="square" rtlCol="0">
            <a:spAutoFit/>
          </a:bodyPr>
          <a:lstStyle/>
          <a:p>
            <a:r>
              <a:rPr lang="en-US" sz="1200" dirty="0"/>
              <a:t>Courtesy: John Logsdon</a:t>
            </a:r>
          </a:p>
        </p:txBody>
      </p:sp>
    </p:spTree>
    <p:extLst>
      <p:ext uri="{BB962C8B-B14F-4D97-AF65-F5344CB8AC3E}">
        <p14:creationId xmlns:p14="http://schemas.microsoft.com/office/powerpoint/2010/main" val="323832825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landsat-1.jp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01433" y="1207455"/>
            <a:ext cx="1941650" cy="2671995"/>
          </a:xfrm>
          <a:prstGeom prst="rect">
            <a:avLst/>
          </a:prstGeom>
        </p:spPr>
      </p:pic>
      <p:pic>
        <p:nvPicPr>
          <p:cNvPr id="7" name="Picture 6" descr="imgres.jpg"/>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653728" y="1207455"/>
            <a:ext cx="3361685" cy="2121914"/>
          </a:xfrm>
          <a:prstGeom prst="rect">
            <a:avLst/>
          </a:prstGeom>
        </p:spPr>
      </p:pic>
      <p:sp>
        <p:nvSpPr>
          <p:cNvPr id="43009"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FDC03F4C-6201-FC48-97B2-F191827EC27E}" type="slidenum">
              <a:rPr lang="en-US" altLang="en-US" sz="1000" b="0">
                <a:solidFill>
                  <a:schemeClr val="bg1"/>
                </a:solidFill>
              </a:rPr>
              <a:pPr/>
              <a:t>17</a:t>
            </a:fld>
            <a:endParaRPr lang="en-US" altLang="en-US" sz="1000" b="0">
              <a:solidFill>
                <a:schemeClr val="bg1"/>
              </a:solidFill>
            </a:endParaRPr>
          </a:p>
        </p:txBody>
      </p:sp>
      <p:sp>
        <p:nvSpPr>
          <p:cNvPr id="43010" name="Rectangle 2"/>
          <p:cNvSpPr>
            <a:spLocks noGrp="1" noChangeArrowheads="1"/>
          </p:cNvSpPr>
          <p:nvPr>
            <p:ph type="title"/>
          </p:nvPr>
        </p:nvSpPr>
        <p:spPr>
          <a:xfrm>
            <a:off x="925465" y="288120"/>
            <a:ext cx="10341069" cy="919335"/>
          </a:xfrm>
        </p:spPr>
        <p:txBody>
          <a:bodyPr/>
          <a:lstStyle/>
          <a:p>
            <a:pPr eaLnBrk="1" hangingPunct="1"/>
            <a:r>
              <a:rPr lang="en-US" altLang="en-US" dirty="0"/>
              <a:t>Envisioning the Future:  Civil Space</a:t>
            </a:r>
          </a:p>
        </p:txBody>
      </p:sp>
      <p:sp>
        <p:nvSpPr>
          <p:cNvPr id="43011" name="Rectangle 3"/>
          <p:cNvSpPr>
            <a:spLocks noGrp="1" noChangeArrowheads="1"/>
          </p:cNvSpPr>
          <p:nvPr>
            <p:ph type="body" sz="half" idx="2"/>
          </p:nvPr>
        </p:nvSpPr>
        <p:spPr>
          <a:xfrm>
            <a:off x="6096000" y="1515280"/>
            <a:ext cx="5893942" cy="5054600"/>
          </a:xfrm>
        </p:spPr>
        <p:txBody>
          <a:bodyPr/>
          <a:lstStyle/>
          <a:p>
            <a:pPr eaLnBrk="1" hangingPunct="1">
              <a:buFont typeface="Symbol" charset="2"/>
              <a:buChar char="·"/>
            </a:pPr>
            <a:r>
              <a:rPr lang="en-US" altLang="en-US" sz="2000" dirty="0"/>
              <a:t>Robotic missions to planets, especially Mars (</a:t>
            </a:r>
            <a:r>
              <a:rPr lang="en-US" altLang="en-US" sz="2000" i="1" dirty="0"/>
              <a:t>Viking 1 </a:t>
            </a:r>
            <a:r>
              <a:rPr lang="en-US" altLang="en-US" sz="2000" dirty="0"/>
              <a:t>and</a:t>
            </a:r>
            <a:r>
              <a:rPr lang="en-US" altLang="en-US" sz="2000" i="1" dirty="0"/>
              <a:t> 2</a:t>
            </a:r>
            <a:r>
              <a:rPr lang="en-US" altLang="en-US" sz="2000" dirty="0"/>
              <a:t>), and the outer planets (</a:t>
            </a:r>
            <a:r>
              <a:rPr lang="en-US" altLang="en-US" sz="2000" i="1" dirty="0"/>
              <a:t>Pioneer 10</a:t>
            </a:r>
            <a:r>
              <a:rPr lang="en-US" altLang="en-US" sz="2000" dirty="0"/>
              <a:t> and </a:t>
            </a:r>
            <a:r>
              <a:rPr lang="en-US" altLang="en-US" sz="2000" i="1" dirty="0"/>
              <a:t>11</a:t>
            </a:r>
            <a:r>
              <a:rPr lang="en-US" altLang="en-US" sz="2000" dirty="0"/>
              <a:t>, </a:t>
            </a:r>
            <a:r>
              <a:rPr lang="en-US" altLang="en-US" sz="2000" i="1" dirty="0"/>
              <a:t>Voyager 1</a:t>
            </a:r>
            <a:r>
              <a:rPr lang="en-US" altLang="en-US" sz="2000" dirty="0"/>
              <a:t> and </a:t>
            </a:r>
            <a:r>
              <a:rPr lang="en-US" altLang="en-US" sz="2000" i="1" dirty="0"/>
              <a:t>2</a:t>
            </a:r>
            <a:r>
              <a:rPr lang="en-US" altLang="en-US" sz="2000" dirty="0"/>
              <a:t>)</a:t>
            </a:r>
          </a:p>
          <a:p>
            <a:pPr eaLnBrk="1" hangingPunct="1">
              <a:buFont typeface="Symbol" charset="2"/>
              <a:buChar char="·"/>
            </a:pPr>
            <a:r>
              <a:rPr lang="en-US" altLang="en-US" sz="2000" dirty="0"/>
              <a:t>Remote-sensing Earth-satellites for information gathering (Landsat) and environmental monitoring</a:t>
            </a:r>
          </a:p>
          <a:p>
            <a:pPr eaLnBrk="1" hangingPunct="1">
              <a:buFont typeface="Symbol" charset="2"/>
              <a:buChar char="·"/>
            </a:pPr>
            <a:r>
              <a:rPr lang="en-US" altLang="en-US" sz="2000" dirty="0"/>
              <a:t>Applications satellites for communications, navigation, and weather </a:t>
            </a:r>
          </a:p>
          <a:p>
            <a:pPr eaLnBrk="1" hangingPunct="1">
              <a:buFont typeface="Symbol" charset="2"/>
              <a:buChar char="·"/>
            </a:pPr>
            <a:endParaRPr lang="en-US" altLang="en-US" sz="2000" dirty="0"/>
          </a:p>
          <a:p>
            <a:pPr eaLnBrk="1" hangingPunct="1">
              <a:buFont typeface="Symbol" charset="2"/>
              <a:buChar char="·"/>
            </a:pPr>
            <a:r>
              <a:rPr lang="en-US" altLang="en-US" sz="2000" dirty="0"/>
              <a:t>Orbital workshop for astronauts (Skylab 1973-75, re-entered 1979)</a:t>
            </a:r>
          </a:p>
          <a:p>
            <a:pPr eaLnBrk="1" hangingPunct="1">
              <a:buFont typeface="Symbol" charset="2"/>
              <a:buChar char="·"/>
            </a:pPr>
            <a:r>
              <a:rPr lang="en-US" altLang="en-US" sz="2000" dirty="0"/>
              <a:t>Apollo-Soyuz Test Project 1975</a:t>
            </a:r>
          </a:p>
          <a:p>
            <a:pPr eaLnBrk="1" hangingPunct="1">
              <a:buFont typeface="Symbol" charset="2"/>
              <a:buChar char="·"/>
            </a:pPr>
            <a:r>
              <a:rPr lang="en-US" altLang="en-US" sz="2000" dirty="0"/>
              <a:t>A reusable Space Shuttle</a:t>
            </a:r>
          </a:p>
        </p:txBody>
      </p:sp>
      <p:pic>
        <p:nvPicPr>
          <p:cNvPr id="5" name="Picture 4" descr="8590720411_4f832ee0bf_b.jpg"/>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006412" y="3639204"/>
            <a:ext cx="3978943" cy="3112434"/>
          </a:xfrm>
          <a:prstGeom prst="rect">
            <a:avLst/>
          </a:prstGeom>
        </p:spPr>
      </p:pic>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a:xfrm>
            <a:off x="1349339" y="227011"/>
            <a:ext cx="9493321" cy="801688"/>
          </a:xfrm>
        </p:spPr>
        <p:txBody>
          <a:bodyPr/>
          <a:lstStyle/>
          <a:p>
            <a:r>
              <a:rPr lang="en-US" altLang="en-US" dirty="0"/>
              <a:t>Using Left Over Apollo Hardware</a:t>
            </a:r>
          </a:p>
        </p:txBody>
      </p:sp>
      <p:sp>
        <p:nvSpPr>
          <p:cNvPr id="3481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036C0A2A-CCEB-0F46-AAD9-CE1FF18B656B}" type="slidenum">
              <a:rPr lang="en-US" altLang="en-US" sz="1000" b="0">
                <a:solidFill>
                  <a:schemeClr val="bg1"/>
                </a:solidFill>
              </a:rPr>
              <a:pPr/>
              <a:t>18</a:t>
            </a:fld>
            <a:endParaRPr lang="en-US" altLang="en-US" sz="1000" b="0">
              <a:solidFill>
                <a:schemeClr val="bg1"/>
              </a:solidFill>
            </a:endParaRPr>
          </a:p>
        </p:txBody>
      </p:sp>
      <p:pic>
        <p:nvPicPr>
          <p:cNvPr id="34820" name="Picture 6" descr="Skylab_2.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390418" y="1546223"/>
            <a:ext cx="5705582" cy="459044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821" name="Picture 8" descr="apollo-soyuz_dock.gif"/>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rot="5400000">
            <a:off x="7171747" y="711784"/>
            <a:ext cx="3971002" cy="56398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4822" name="TextBox 1"/>
          <p:cNvSpPr txBox="1">
            <a:spLocks noChangeArrowheads="1"/>
          </p:cNvSpPr>
          <p:nvPr/>
        </p:nvSpPr>
        <p:spPr bwMode="auto">
          <a:xfrm>
            <a:off x="1514154" y="1077911"/>
            <a:ext cx="38227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800" dirty="0"/>
              <a:t>Three missions during 1973-74 </a:t>
            </a:r>
          </a:p>
        </p:txBody>
      </p:sp>
      <p:sp>
        <p:nvSpPr>
          <p:cNvPr id="34823" name="TextBox 2"/>
          <p:cNvSpPr txBox="1">
            <a:spLocks noChangeArrowheads="1"/>
          </p:cNvSpPr>
          <p:nvPr/>
        </p:nvSpPr>
        <p:spPr bwMode="auto">
          <a:xfrm>
            <a:off x="7904311" y="1135283"/>
            <a:ext cx="30861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800" dirty="0"/>
              <a:t>One mission in 1975</a:t>
            </a:r>
          </a:p>
        </p:txBody>
      </p:sp>
      <p:sp>
        <p:nvSpPr>
          <p:cNvPr id="2" name="TextBox 1">
            <a:extLst>
              <a:ext uri="{FF2B5EF4-FFF2-40B4-BE49-F238E27FC236}">
                <a16:creationId xmlns:a16="http://schemas.microsoft.com/office/drawing/2014/main" id="{D259D5E8-7A64-D740-AAE4-281B3A7BB1F2}"/>
              </a:ext>
            </a:extLst>
          </p:cNvPr>
          <p:cNvSpPr txBox="1"/>
          <p:nvPr/>
        </p:nvSpPr>
        <p:spPr>
          <a:xfrm>
            <a:off x="6337308" y="5813506"/>
            <a:ext cx="4984813" cy="646331"/>
          </a:xfrm>
          <a:prstGeom prst="rect">
            <a:avLst/>
          </a:prstGeom>
          <a:noFill/>
        </p:spPr>
        <p:txBody>
          <a:bodyPr wrap="square" rtlCol="0">
            <a:spAutoFit/>
          </a:bodyPr>
          <a:lstStyle/>
          <a:p>
            <a:r>
              <a:rPr lang="en-US" sz="1800" b="0" dirty="0"/>
              <a:t>Two unused Saturn Vs put on display at JSC and KSC. Test article at Huntsville Museum.</a:t>
            </a:r>
          </a:p>
        </p:txBody>
      </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111_副本.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069173" y="4048351"/>
            <a:ext cx="3393091" cy="2714472"/>
          </a:xfrm>
          <a:prstGeom prst="rect">
            <a:avLst/>
          </a:prstGeom>
        </p:spPr>
      </p:pic>
      <p:sp>
        <p:nvSpPr>
          <p:cNvPr id="2" name="Title 1"/>
          <p:cNvSpPr>
            <a:spLocks noGrp="1"/>
          </p:cNvSpPr>
          <p:nvPr>
            <p:ph type="title"/>
          </p:nvPr>
        </p:nvSpPr>
        <p:spPr>
          <a:xfrm>
            <a:off x="2719387" y="246812"/>
            <a:ext cx="6753226" cy="751450"/>
          </a:xfrm>
        </p:spPr>
        <p:txBody>
          <a:bodyPr>
            <a:normAutofit/>
          </a:bodyPr>
          <a:lstStyle/>
          <a:p>
            <a:r>
              <a:rPr lang="en-US" b="1" dirty="0">
                <a:solidFill>
                  <a:srgbClr val="17375E"/>
                </a:solidFill>
                <a:latin typeface="Verdana" panose="020B0604030504040204" pitchFamily="34" charset="0"/>
                <a:ea typeface="Verdana" panose="020B0604030504040204" pitchFamily="34" charset="0"/>
                <a:cs typeface="Verdana" panose="020B0604030504040204" pitchFamily="34" charset="0"/>
              </a:rPr>
              <a:t>Skylab Reentry, July 11, 1979</a:t>
            </a:r>
          </a:p>
        </p:txBody>
      </p:sp>
      <p:sp>
        <p:nvSpPr>
          <p:cNvPr id="6" name="TextBox 5"/>
          <p:cNvSpPr txBox="1"/>
          <p:nvPr/>
        </p:nvSpPr>
        <p:spPr>
          <a:xfrm>
            <a:off x="453783" y="6128558"/>
            <a:ext cx="3449630" cy="246221"/>
          </a:xfrm>
          <a:prstGeom prst="rect">
            <a:avLst/>
          </a:prstGeom>
          <a:noFill/>
        </p:spPr>
        <p:txBody>
          <a:bodyPr wrap="square" rtlCol="0">
            <a:spAutoFit/>
          </a:bodyPr>
          <a:lstStyle/>
          <a:p>
            <a:r>
              <a:rPr lang="en-US" sz="1000" dirty="0">
                <a:latin typeface="Verdana" panose="020B0604030504040204" pitchFamily="34" charset="0"/>
                <a:ea typeface="Verdana" panose="020B0604030504040204" pitchFamily="34" charset="0"/>
                <a:cs typeface="Verdana" panose="020B0604030504040204" pitchFamily="34" charset="0"/>
              </a:rPr>
              <a:t>Source </a:t>
            </a:r>
            <a:r>
              <a:rPr lang="en-US" sz="1000" dirty="0">
                <a:latin typeface="Verdana" panose="020B0604030504040204" pitchFamily="34" charset="0"/>
                <a:ea typeface="Verdana" panose="020B0604030504040204" pitchFamily="34" charset="0"/>
                <a:cs typeface="Verdana" panose="020B0604030504040204" pitchFamily="34" charset="0"/>
                <a:hlinkClick r:id="rId3"/>
              </a:rPr>
              <a:t>https://en.wikipedia.org/wiki/Skylab</a:t>
            </a:r>
            <a:r>
              <a:rPr lang="en-US" sz="1000" dirty="0">
                <a:latin typeface="Verdana" panose="020B0604030504040204" pitchFamily="34" charset="0"/>
                <a:ea typeface="Verdana" panose="020B0604030504040204" pitchFamily="34" charset="0"/>
                <a:cs typeface="Verdana" panose="020B0604030504040204" pitchFamily="34" charset="0"/>
              </a:rPr>
              <a:t>  </a:t>
            </a:r>
          </a:p>
        </p:txBody>
      </p:sp>
      <p:pic>
        <p:nvPicPr>
          <p:cNvPr id="1027" name="Picture 3" descr="https://upload.wikimedia.org/wikipedia/commons/thumb/2/25/Skylab_Program_Patch.png/150px-Skylab_Program_Patch.pn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75773" y="152401"/>
            <a:ext cx="1658741" cy="1669799"/>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5400000">
            <a:off x="8528689" y="1324077"/>
            <a:ext cx="4219368" cy="1931914"/>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4466523" y="998262"/>
            <a:ext cx="3393091" cy="2968955"/>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763857" y="4535968"/>
            <a:ext cx="3257280" cy="2169632"/>
          </a:xfrm>
          <a:prstGeom prst="rect">
            <a:avLst/>
          </a:prstGeom>
        </p:spPr>
      </p:pic>
      <p:sp>
        <p:nvSpPr>
          <p:cNvPr id="18" name="TextBox 17"/>
          <p:cNvSpPr txBox="1"/>
          <p:nvPr/>
        </p:nvSpPr>
        <p:spPr>
          <a:xfrm>
            <a:off x="829001" y="1881241"/>
            <a:ext cx="3524036" cy="4247317"/>
          </a:xfrm>
          <a:prstGeom prst="rect">
            <a:avLst/>
          </a:prstGeom>
          <a:noFill/>
        </p:spPr>
        <p:txBody>
          <a:bodyPr wrap="square" rtlCol="0">
            <a:spAutoFit/>
          </a:bodyPr>
          <a:lstStyle/>
          <a:p>
            <a:r>
              <a:rPr lang="en-US" sz="1800" dirty="0">
                <a:latin typeface="+mn-lt"/>
                <a:ea typeface="Verdana" panose="020B0604030504040204" pitchFamily="34" charset="0"/>
                <a:cs typeface="Verdana" panose="020B0604030504040204" pitchFamily="34" charset="0"/>
              </a:rPr>
              <a:t>Launch:  May 14, 1973</a:t>
            </a:r>
          </a:p>
          <a:p>
            <a:r>
              <a:rPr lang="en-US" sz="1800" dirty="0">
                <a:latin typeface="+mn-lt"/>
                <a:ea typeface="Verdana" panose="020B0604030504040204" pitchFamily="34" charset="0"/>
                <a:cs typeface="Verdana" panose="020B0604030504040204" pitchFamily="34" charset="0"/>
              </a:rPr>
              <a:t>Reentry:  July 11, 1979</a:t>
            </a:r>
          </a:p>
          <a:p>
            <a:r>
              <a:rPr lang="en-US" sz="1800" dirty="0">
                <a:latin typeface="+mn-lt"/>
                <a:ea typeface="Verdana" panose="020B0604030504040204" pitchFamily="34" charset="0"/>
                <a:cs typeface="Verdana" panose="020B0604030504040204" pitchFamily="34" charset="0"/>
              </a:rPr>
              <a:t>Mass:  169,950 </a:t>
            </a:r>
            <a:r>
              <a:rPr lang="en-US" sz="1800" dirty="0" err="1">
                <a:latin typeface="+mn-lt"/>
                <a:ea typeface="Verdana" panose="020B0604030504040204" pitchFamily="34" charset="0"/>
                <a:cs typeface="Verdana" panose="020B0604030504040204" pitchFamily="34" charset="0"/>
              </a:rPr>
              <a:t>lb</a:t>
            </a:r>
            <a:r>
              <a:rPr lang="en-US" sz="1800" dirty="0">
                <a:latin typeface="+mn-lt"/>
                <a:ea typeface="Verdana" panose="020B0604030504040204" pitchFamily="34" charset="0"/>
                <a:cs typeface="Verdana" panose="020B0604030504040204" pitchFamily="34" charset="0"/>
              </a:rPr>
              <a:t>/77,088 kg</a:t>
            </a:r>
          </a:p>
          <a:p>
            <a:r>
              <a:rPr lang="en-US" sz="1800" dirty="0">
                <a:latin typeface="+mn-lt"/>
                <a:ea typeface="Verdana" panose="020B0604030504040204" pitchFamily="34" charset="0"/>
                <a:cs typeface="Verdana" panose="020B0604030504040204" pitchFamily="34" charset="0"/>
              </a:rPr>
              <a:t>Length:  86.3 </a:t>
            </a:r>
            <a:r>
              <a:rPr lang="en-US" sz="1800" dirty="0" err="1">
                <a:latin typeface="+mn-lt"/>
                <a:ea typeface="Verdana" panose="020B0604030504040204" pitchFamily="34" charset="0"/>
                <a:cs typeface="Verdana" panose="020B0604030504040204" pitchFamily="34" charset="0"/>
              </a:rPr>
              <a:t>ft</a:t>
            </a:r>
            <a:r>
              <a:rPr lang="en-US" sz="1800" dirty="0">
                <a:latin typeface="+mn-lt"/>
                <a:ea typeface="Verdana" panose="020B0604030504040204" pitchFamily="34" charset="0"/>
                <a:cs typeface="Verdana" panose="020B0604030504040204" pitchFamily="34" charset="0"/>
              </a:rPr>
              <a:t>/26.3 m</a:t>
            </a:r>
          </a:p>
          <a:p>
            <a:r>
              <a:rPr lang="en-US" sz="1800" dirty="0">
                <a:latin typeface="+mn-lt"/>
                <a:ea typeface="Verdana" panose="020B0604030504040204" pitchFamily="34" charset="0"/>
                <a:cs typeface="Verdana" panose="020B0604030504040204" pitchFamily="34" charset="0"/>
              </a:rPr>
              <a:t>Width:  55.8 </a:t>
            </a:r>
            <a:r>
              <a:rPr lang="en-US" sz="1800" dirty="0" err="1">
                <a:latin typeface="+mn-lt"/>
                <a:ea typeface="Verdana" panose="020B0604030504040204" pitchFamily="34" charset="0"/>
                <a:cs typeface="Verdana" panose="020B0604030504040204" pitchFamily="34" charset="0"/>
              </a:rPr>
              <a:t>ft</a:t>
            </a:r>
            <a:r>
              <a:rPr lang="en-US" sz="1800" dirty="0">
                <a:latin typeface="+mn-lt"/>
                <a:ea typeface="Verdana" panose="020B0604030504040204" pitchFamily="34" charset="0"/>
                <a:cs typeface="Verdana" panose="020B0604030504040204" pitchFamily="34" charset="0"/>
              </a:rPr>
              <a:t>/17.0 m</a:t>
            </a:r>
          </a:p>
          <a:p>
            <a:r>
              <a:rPr lang="en-US" sz="1800" dirty="0">
                <a:latin typeface="+mn-lt"/>
                <a:ea typeface="Verdana" panose="020B0604030504040204" pitchFamily="34" charset="0"/>
                <a:cs typeface="Verdana" panose="020B0604030504040204" pitchFamily="34" charset="0"/>
              </a:rPr>
              <a:t>Height:  24.3 </a:t>
            </a:r>
            <a:r>
              <a:rPr lang="en-US" sz="1800" dirty="0" err="1">
                <a:latin typeface="+mn-lt"/>
                <a:ea typeface="Verdana" panose="020B0604030504040204" pitchFamily="34" charset="0"/>
                <a:cs typeface="Verdana" panose="020B0604030504040204" pitchFamily="34" charset="0"/>
              </a:rPr>
              <a:t>ft</a:t>
            </a:r>
            <a:r>
              <a:rPr lang="en-US" sz="1800" dirty="0">
                <a:latin typeface="+mn-lt"/>
                <a:ea typeface="Verdana" panose="020B0604030504040204" pitchFamily="34" charset="0"/>
                <a:cs typeface="Verdana" panose="020B0604030504040204" pitchFamily="34" charset="0"/>
              </a:rPr>
              <a:t>/7.4 m</a:t>
            </a:r>
          </a:p>
          <a:p>
            <a:r>
              <a:rPr lang="en-US" sz="1800" dirty="0">
                <a:latin typeface="+mn-lt"/>
                <a:ea typeface="Verdana" panose="020B0604030504040204" pitchFamily="34" charset="0"/>
                <a:cs typeface="Verdana" panose="020B0604030504040204" pitchFamily="34" charset="0"/>
              </a:rPr>
              <a:t>Diameter:  21.67 </a:t>
            </a:r>
            <a:r>
              <a:rPr lang="en-US" sz="1800" dirty="0" err="1">
                <a:latin typeface="+mn-lt"/>
                <a:ea typeface="Verdana" panose="020B0604030504040204" pitchFamily="34" charset="0"/>
                <a:cs typeface="Verdana" panose="020B0604030504040204" pitchFamily="34" charset="0"/>
              </a:rPr>
              <a:t>ft</a:t>
            </a:r>
            <a:r>
              <a:rPr lang="en-US" sz="1800" dirty="0">
                <a:latin typeface="+mn-lt"/>
                <a:ea typeface="Verdana" panose="020B0604030504040204" pitchFamily="34" charset="0"/>
                <a:cs typeface="Verdana" panose="020B0604030504040204" pitchFamily="34" charset="0"/>
              </a:rPr>
              <a:t>/6.6 m </a:t>
            </a:r>
          </a:p>
          <a:p>
            <a:r>
              <a:rPr lang="en-US" sz="1800" dirty="0">
                <a:latin typeface="+mn-lt"/>
                <a:ea typeface="Verdana" panose="020B0604030504040204" pitchFamily="34" charset="0"/>
                <a:cs typeface="Verdana" panose="020B0604030504040204" pitchFamily="34" charset="0"/>
              </a:rPr>
              <a:t>Perigee:  269.7 mi/434.0 km</a:t>
            </a:r>
          </a:p>
          <a:p>
            <a:r>
              <a:rPr lang="en-US" sz="1800" dirty="0">
                <a:latin typeface="+mn-lt"/>
                <a:ea typeface="Verdana" panose="020B0604030504040204" pitchFamily="34" charset="0"/>
                <a:cs typeface="Verdana" panose="020B0604030504040204" pitchFamily="34" charset="0"/>
              </a:rPr>
              <a:t>Apogee:  274.6 mi/441.9 km</a:t>
            </a:r>
          </a:p>
          <a:p>
            <a:r>
              <a:rPr lang="en-US" sz="1800" dirty="0">
                <a:latin typeface="+mn-lt"/>
                <a:ea typeface="Verdana" panose="020B0604030504040204" pitchFamily="34" charset="0"/>
                <a:cs typeface="Verdana" panose="020B0604030504040204" pitchFamily="34" charset="0"/>
              </a:rPr>
              <a:t>Orbital inclination:  50 </a:t>
            </a:r>
            <a:r>
              <a:rPr lang="en-US" sz="1800" dirty="0" err="1">
                <a:latin typeface="+mn-lt"/>
                <a:ea typeface="Verdana" panose="020B0604030504040204" pitchFamily="34" charset="0"/>
                <a:cs typeface="Verdana" panose="020B0604030504040204" pitchFamily="34" charset="0"/>
              </a:rPr>
              <a:t>deg</a:t>
            </a:r>
            <a:endParaRPr lang="en-US" sz="1800" dirty="0">
              <a:latin typeface="+mn-lt"/>
              <a:ea typeface="Verdana" panose="020B0604030504040204" pitchFamily="34" charset="0"/>
              <a:cs typeface="Verdana" panose="020B0604030504040204" pitchFamily="34" charset="0"/>
            </a:endParaRPr>
          </a:p>
          <a:p>
            <a:r>
              <a:rPr lang="en-US" sz="1800" dirty="0">
                <a:latin typeface="+mn-lt"/>
                <a:ea typeface="Verdana" panose="020B0604030504040204" pitchFamily="34" charset="0"/>
                <a:cs typeface="Verdana" panose="020B0604030504040204" pitchFamily="34" charset="0"/>
              </a:rPr>
              <a:t>Orbital period:  93.4 min</a:t>
            </a:r>
          </a:p>
          <a:p>
            <a:r>
              <a:rPr lang="en-US" sz="1800" dirty="0">
                <a:latin typeface="+mn-lt"/>
                <a:ea typeface="Verdana" panose="020B0604030504040204" pitchFamily="34" charset="0"/>
                <a:cs typeface="Verdana" panose="020B0604030504040204" pitchFamily="34" charset="0"/>
              </a:rPr>
              <a:t>Orbits per day:  15.4</a:t>
            </a:r>
          </a:p>
          <a:p>
            <a:r>
              <a:rPr lang="en-US" sz="1800" dirty="0">
                <a:latin typeface="+mn-lt"/>
                <a:ea typeface="Verdana" panose="020B0604030504040204" pitchFamily="34" charset="0"/>
                <a:cs typeface="Verdana" panose="020B0604030504040204" pitchFamily="34" charset="0"/>
              </a:rPr>
              <a:t>Days in orbit:  2,249</a:t>
            </a:r>
          </a:p>
          <a:p>
            <a:r>
              <a:rPr lang="en-US" sz="1800" dirty="0">
                <a:latin typeface="+mn-lt"/>
                <a:ea typeface="Verdana" panose="020B0604030504040204" pitchFamily="34" charset="0"/>
                <a:cs typeface="Verdana" panose="020B0604030504040204" pitchFamily="34" charset="0"/>
              </a:rPr>
              <a:t>Days occupied:  171</a:t>
            </a:r>
          </a:p>
          <a:p>
            <a:r>
              <a:rPr lang="en-US" sz="1800" dirty="0">
                <a:latin typeface="+mn-lt"/>
                <a:ea typeface="Verdana" panose="020B0604030504040204" pitchFamily="34" charset="0"/>
                <a:cs typeface="Verdana" panose="020B0604030504040204" pitchFamily="34" charset="0"/>
              </a:rPr>
              <a:t>No. of orbits:  34,981</a:t>
            </a:r>
          </a:p>
        </p:txBody>
      </p:sp>
      <p:sp>
        <p:nvSpPr>
          <p:cNvPr id="22" name="Slide Number Placeholder 5"/>
          <p:cNvSpPr>
            <a:spLocks noGrp="1"/>
          </p:cNvSpPr>
          <p:nvPr>
            <p:ph type="sldNum" sz="quarter" idx="4294967295"/>
          </p:nvPr>
        </p:nvSpPr>
        <p:spPr>
          <a:xfrm>
            <a:off x="8077200" y="6629400"/>
            <a:ext cx="2133600" cy="152400"/>
          </a:xfrm>
          <a:prstGeom prst="rect">
            <a:avLst/>
          </a:prstGeom>
        </p:spPr>
        <p:txBody>
          <a:bodyPr/>
          <a:lstStyle/>
          <a:p>
            <a:fld id="{33B133A0-10F4-4CCB-9450-A2BB5A9CB86B}" type="slidenum">
              <a:rPr lang="en-US"/>
              <a:t>19</a:t>
            </a:fld>
            <a:endParaRPr lang="en-US"/>
          </a:p>
        </p:txBody>
      </p:sp>
    </p:spTree>
    <p:extLst>
      <p:ext uri="{BB962C8B-B14F-4D97-AF65-F5344CB8AC3E}">
        <p14:creationId xmlns:p14="http://schemas.microsoft.com/office/powerpoint/2010/main" val="285751617"/>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9A33A36C-7A4E-ED43-8293-209E083BAAFE}" type="slidenum">
              <a:rPr lang="en-US" altLang="en-US" sz="1000" b="0">
                <a:solidFill>
                  <a:schemeClr val="bg1"/>
                </a:solidFill>
              </a:rPr>
              <a:pPr/>
              <a:t>20</a:t>
            </a:fld>
            <a:endParaRPr lang="en-US" altLang="en-US" sz="1000" b="0">
              <a:solidFill>
                <a:schemeClr val="bg1"/>
              </a:solidFill>
            </a:endParaRPr>
          </a:p>
        </p:txBody>
      </p:sp>
      <p:sp>
        <p:nvSpPr>
          <p:cNvPr id="46082" name="Rectangle 2"/>
          <p:cNvSpPr>
            <a:spLocks noGrp="1" noChangeArrowheads="1"/>
          </p:cNvSpPr>
          <p:nvPr>
            <p:ph type="title"/>
          </p:nvPr>
        </p:nvSpPr>
        <p:spPr>
          <a:xfrm>
            <a:off x="1133582" y="286642"/>
            <a:ext cx="9924836" cy="950716"/>
          </a:xfrm>
        </p:spPr>
        <p:txBody>
          <a:bodyPr/>
          <a:lstStyle/>
          <a:p>
            <a:pPr eaLnBrk="1" hangingPunct="1"/>
            <a:r>
              <a:rPr lang="en-US" altLang="en-US" dirty="0"/>
              <a:t>Seeking Routine Access to Space 1972-1985</a:t>
            </a:r>
            <a:endParaRPr lang="en-US" altLang="en-US" dirty="0">
              <a:solidFill>
                <a:schemeClr val="tx1"/>
              </a:solidFill>
            </a:endParaRPr>
          </a:p>
        </p:txBody>
      </p:sp>
      <p:sp>
        <p:nvSpPr>
          <p:cNvPr id="46083" name="Rectangle 3"/>
          <p:cNvSpPr>
            <a:spLocks noGrp="1" noChangeArrowheads="1"/>
          </p:cNvSpPr>
          <p:nvPr>
            <p:ph type="body" sz="half" idx="2"/>
          </p:nvPr>
        </p:nvSpPr>
        <p:spPr>
          <a:xfrm>
            <a:off x="6390526" y="1546260"/>
            <a:ext cx="5537771" cy="4196993"/>
          </a:xfrm>
        </p:spPr>
        <p:txBody>
          <a:bodyPr/>
          <a:lstStyle/>
          <a:p>
            <a:pPr eaLnBrk="1" hangingPunct="1"/>
            <a:r>
              <a:rPr lang="en-US" altLang="en-US" sz="2000" dirty="0"/>
              <a:t>Space Shuttle to provide routine, inexpensive access to space</a:t>
            </a:r>
          </a:p>
          <a:p>
            <a:pPr eaLnBrk="1" hangingPunct="1">
              <a:buFontTx/>
              <a:buNone/>
            </a:pPr>
            <a:endParaRPr lang="en-US" altLang="en-US" sz="2000" dirty="0"/>
          </a:p>
          <a:p>
            <a:pPr eaLnBrk="1" hangingPunct="1"/>
            <a:r>
              <a:rPr lang="en-US" altLang="en-US" sz="2000" dirty="0"/>
              <a:t>Expendable Launch Vehicles to be retired – no new R&amp;D for next two decades</a:t>
            </a:r>
          </a:p>
          <a:p>
            <a:pPr eaLnBrk="1" hangingPunct="1">
              <a:buFontTx/>
              <a:buNone/>
            </a:pPr>
            <a:endParaRPr lang="en-US" altLang="en-US" sz="2000" dirty="0"/>
          </a:p>
          <a:p>
            <a:pPr eaLnBrk="1" hangingPunct="1"/>
            <a:r>
              <a:rPr lang="en-US" altLang="en-US" sz="2000" i="1" dirty="0"/>
              <a:t>All</a:t>
            </a:r>
            <a:r>
              <a:rPr lang="en-US" altLang="en-US" sz="2000" dirty="0"/>
              <a:t> U.S. government scientific and military satellites to be launched on Shuttle aka the Space Transportation System</a:t>
            </a:r>
          </a:p>
          <a:p>
            <a:pPr eaLnBrk="1" hangingPunct="1">
              <a:buFontTx/>
              <a:buNone/>
            </a:pPr>
            <a:endParaRPr lang="en-US" altLang="en-US" sz="2000" dirty="0"/>
          </a:p>
          <a:p>
            <a:pPr eaLnBrk="1" hangingPunct="1"/>
            <a:r>
              <a:rPr lang="en-US" altLang="en-US" sz="2000" dirty="0"/>
              <a:t>Next : Space Station</a:t>
            </a:r>
          </a:p>
        </p:txBody>
      </p:sp>
      <p:pic>
        <p:nvPicPr>
          <p:cNvPr id="46084" name="Picture 4" descr="sts103s005-1"/>
          <p:cNvPicPr>
            <a:picLocks noGrp="1" noChangeAspect="1" noChangeArrowheads="1"/>
          </p:cNvPicPr>
          <p:nvPr>
            <p:ph type="clipArt" sz="half" idx="1"/>
          </p:nvPr>
        </p:nvPicPr>
        <p:blipFill>
          <a:blip r:embed="rId3" cstate="print">
            <a:extLst>
              <a:ext uri="{28A0092B-C50C-407E-A947-70E740481C1C}">
                <a14:useLocalDpi xmlns:a14="http://schemas.microsoft.com/office/drawing/2010/main"/>
              </a:ext>
            </a:extLst>
          </a:blip>
          <a:srcRect/>
          <a:stretch>
            <a:fillRect/>
          </a:stretch>
        </p:blipFill>
        <p:spPr>
          <a:xfrm>
            <a:off x="186719" y="1546260"/>
            <a:ext cx="6049957" cy="4030574"/>
          </a:xfrm>
        </p:spPr>
      </p:pic>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718" y="186007"/>
            <a:ext cx="10010097" cy="801688"/>
          </a:xfrm>
        </p:spPr>
        <p:txBody>
          <a:bodyPr/>
          <a:lstStyle/>
          <a:p>
            <a:r>
              <a:rPr lang="en-US" dirty="0"/>
              <a:t>Overview of Earth Orbits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796746" y="975908"/>
            <a:ext cx="8598507" cy="5681155"/>
          </a:xfrm>
        </p:spPr>
      </p:pic>
      <p:sp>
        <p:nvSpPr>
          <p:cNvPr id="4" name="Slide Number Placeholder 3"/>
          <p:cNvSpPr>
            <a:spLocks noGrp="1"/>
          </p:cNvSpPr>
          <p:nvPr>
            <p:ph type="sldNum" sz="quarter" idx="11"/>
          </p:nvPr>
        </p:nvSpPr>
        <p:spPr/>
        <p:txBody>
          <a:bodyPr/>
          <a:lstStyle/>
          <a:p>
            <a:fld id="{38E73FAB-E902-9E49-897F-40757D2AAE3D}" type="slidenum">
              <a:rPr lang="en-US" altLang="en-US" smtClean="0"/>
              <a:pPr/>
              <a:t>21</a:t>
            </a:fld>
            <a:endParaRPr lang="en-US" altLang="en-US"/>
          </a:p>
        </p:txBody>
      </p:sp>
      <p:sp>
        <p:nvSpPr>
          <p:cNvPr id="3" name="TextBox 2">
            <a:extLst>
              <a:ext uri="{FF2B5EF4-FFF2-40B4-BE49-F238E27FC236}">
                <a16:creationId xmlns:a16="http://schemas.microsoft.com/office/drawing/2014/main" id="{503E30B2-0354-E34F-8E71-8A9E749A651B}"/>
              </a:ext>
            </a:extLst>
          </p:cNvPr>
          <p:cNvSpPr txBox="1"/>
          <p:nvPr/>
        </p:nvSpPr>
        <p:spPr>
          <a:xfrm>
            <a:off x="7243280" y="586851"/>
            <a:ext cx="4563563" cy="1015663"/>
          </a:xfrm>
          <a:prstGeom prst="rect">
            <a:avLst/>
          </a:prstGeom>
          <a:noFill/>
          <a:ln>
            <a:solidFill>
              <a:schemeClr val="tx1"/>
            </a:solidFill>
          </a:ln>
        </p:spPr>
        <p:txBody>
          <a:bodyPr wrap="square" rtlCol="0">
            <a:spAutoFit/>
          </a:bodyPr>
          <a:lstStyle/>
          <a:p>
            <a:r>
              <a:rPr lang="en-US" sz="2000" dirty="0"/>
              <a:t>The Shuttle would go to LEO. “Upper stages” needed to place payloads in more distant orbits.</a:t>
            </a:r>
          </a:p>
        </p:txBody>
      </p:sp>
    </p:spTree>
    <p:extLst>
      <p:ext uri="{BB962C8B-B14F-4D97-AF65-F5344CB8AC3E}">
        <p14:creationId xmlns:p14="http://schemas.microsoft.com/office/powerpoint/2010/main" val="1193438048"/>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p:txBody>
          <a:bodyPr/>
          <a:lstStyle/>
          <a:p>
            <a:r>
              <a:rPr lang="en-US" altLang="en-US"/>
              <a:t>Break Point</a:t>
            </a:r>
          </a:p>
        </p:txBody>
      </p:sp>
      <p:sp>
        <p:nvSpPr>
          <p:cNvPr id="45059"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40CF232B-2BB1-854C-B1D0-E0687ADEF743}" type="slidenum">
              <a:rPr lang="en-US" altLang="en-US" sz="1000" b="0">
                <a:solidFill>
                  <a:schemeClr val="bg1"/>
                </a:solidFill>
              </a:rPr>
              <a:pPr/>
              <a:t>22</a:t>
            </a:fld>
            <a:endParaRPr lang="en-US" altLang="en-US" sz="1000" b="0">
              <a:solidFill>
                <a:schemeClr val="bg1"/>
              </a:solidFill>
            </a:endParaRPr>
          </a:p>
        </p:txBody>
      </p:sp>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21111" y="173910"/>
            <a:ext cx="4431033" cy="1174749"/>
          </a:xfrm>
        </p:spPr>
        <p:txBody>
          <a:bodyPr>
            <a:noAutofit/>
          </a:bodyPr>
          <a:lstStyle/>
          <a:p>
            <a:r>
              <a:rPr lang="en-US" sz="2800" dirty="0"/>
              <a:t>Moving Beyond the Capsule</a:t>
            </a:r>
          </a:p>
        </p:txBody>
      </p:sp>
      <p:pic>
        <p:nvPicPr>
          <p:cNvPr id="14339" name="Content Placeholder 4" descr="Fly Back in Style.TIF"/>
          <p:cNvPicPr>
            <a:picLocks noGrp="1" noChangeAspect="1"/>
          </p:cNvPicPr>
          <p:nvPr>
            <p:ph idx="1"/>
          </p:nvPr>
        </p:nvPicPr>
        <p:blipFill>
          <a:blip r:embed="rId3" cstate="print"/>
          <a:srcRect/>
          <a:stretch>
            <a:fillRect/>
          </a:stretch>
        </p:blipFill>
        <p:spPr>
          <a:xfrm>
            <a:off x="6038333" y="173910"/>
            <a:ext cx="5119490" cy="6500501"/>
          </a:xfrm>
        </p:spPr>
      </p:pic>
      <p:sp>
        <p:nvSpPr>
          <p:cNvPr id="14340" name="Text Placeholder 3"/>
          <p:cNvSpPr>
            <a:spLocks noGrp="1"/>
          </p:cNvSpPr>
          <p:nvPr>
            <p:ph type="body" sz="half" idx="2"/>
          </p:nvPr>
        </p:nvSpPr>
        <p:spPr>
          <a:xfrm>
            <a:off x="441788" y="1573927"/>
            <a:ext cx="5119489" cy="5110163"/>
          </a:xfrm>
        </p:spPr>
        <p:txBody>
          <a:bodyPr/>
          <a:lstStyle/>
          <a:p>
            <a:r>
              <a:rPr lang="en-US" sz="2000" dirty="0"/>
              <a:t>Instead of spaceplanes, Mercury, Gemini, and Apollo capsules mounted atop rockets carried the first Americans into space and to the Moon.</a:t>
            </a:r>
          </a:p>
          <a:p>
            <a:endParaRPr lang="en-US" sz="2000" dirty="0"/>
          </a:p>
          <a:p>
            <a:r>
              <a:rPr lang="en-US" sz="2000" dirty="0" err="1"/>
              <a:t>Weneth</a:t>
            </a:r>
            <a:r>
              <a:rPr lang="en-US" sz="2000" dirty="0"/>
              <a:t> Pointer, NASA High Speed Flight Test Center, drew this cartoon in 1965 to capture what some saw as a key difference between capsule “splashdowns”  and spaceplane landings.</a:t>
            </a:r>
          </a:p>
          <a:p>
            <a:pPr>
              <a:buFont typeface="Arial" pitchFamily="34" charset="0"/>
              <a:buChar char="•"/>
            </a:pPr>
            <a:endParaRPr lang="en-US" sz="2000" dirty="0"/>
          </a:p>
        </p:txBody>
      </p:sp>
    </p:spTree>
    <p:extLst>
      <p:ext uri="{BB962C8B-B14F-4D97-AF65-F5344CB8AC3E}">
        <p14:creationId xmlns:p14="http://schemas.microsoft.com/office/powerpoint/2010/main" val="25339090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1B50D709-A1BF-7948-AE84-816098F85E5C}" type="slidenum">
              <a:rPr lang="en-US" altLang="en-US" sz="1000" b="0">
                <a:solidFill>
                  <a:schemeClr val="bg1"/>
                </a:solidFill>
              </a:rPr>
              <a:pPr/>
              <a:t>24</a:t>
            </a:fld>
            <a:endParaRPr lang="en-US" altLang="en-US" sz="1000" b="0">
              <a:solidFill>
                <a:schemeClr val="bg1"/>
              </a:solidFill>
            </a:endParaRPr>
          </a:p>
        </p:txBody>
      </p:sp>
      <p:sp>
        <p:nvSpPr>
          <p:cNvPr id="49154" name="Rectangle 1026"/>
          <p:cNvSpPr>
            <a:spLocks noGrp="1" noChangeArrowheads="1"/>
          </p:cNvSpPr>
          <p:nvPr>
            <p:ph type="title"/>
          </p:nvPr>
        </p:nvSpPr>
        <p:spPr>
          <a:xfrm>
            <a:off x="1189894" y="315465"/>
            <a:ext cx="9904288" cy="547565"/>
          </a:xfrm>
        </p:spPr>
        <p:txBody>
          <a:bodyPr/>
          <a:lstStyle/>
          <a:p>
            <a:pPr eaLnBrk="1" hangingPunct="1"/>
            <a:r>
              <a:rPr lang="en-US" altLang="en-US" dirty="0"/>
              <a:t>Early Shuttle Concepts</a:t>
            </a:r>
          </a:p>
        </p:txBody>
      </p:sp>
      <p:sp>
        <p:nvSpPr>
          <p:cNvPr id="49155" name="Rectangle 1028"/>
          <p:cNvSpPr>
            <a:spLocks noGrp="1" noChangeArrowheads="1"/>
          </p:cNvSpPr>
          <p:nvPr>
            <p:ph type="body" sz="half" idx="2"/>
          </p:nvPr>
        </p:nvSpPr>
        <p:spPr>
          <a:xfrm>
            <a:off x="6142038" y="1138648"/>
            <a:ext cx="5734407" cy="4580703"/>
          </a:xfrm>
        </p:spPr>
        <p:txBody>
          <a:bodyPr/>
          <a:lstStyle/>
          <a:p>
            <a:pPr eaLnBrk="1" hangingPunct="1"/>
            <a:r>
              <a:rPr lang="en-US" altLang="en-US" sz="2400" dirty="0"/>
              <a:t>All concepts reusable</a:t>
            </a:r>
          </a:p>
          <a:p>
            <a:pPr lvl="1" eaLnBrk="1" hangingPunct="1"/>
            <a:r>
              <a:rPr lang="en-US" altLang="en-US" dirty="0"/>
              <a:t>Fly-back Booster</a:t>
            </a:r>
          </a:p>
          <a:p>
            <a:pPr eaLnBrk="1" hangingPunct="1"/>
            <a:r>
              <a:rPr lang="en-US" altLang="en-US" sz="2400" dirty="0"/>
              <a:t>Little inheritance from Saturn production lines</a:t>
            </a:r>
          </a:p>
          <a:p>
            <a:pPr eaLnBrk="1" hangingPunct="1"/>
            <a:r>
              <a:rPr lang="en-US" altLang="en-US" sz="2400" dirty="0"/>
              <a:t>Multiple Contractors</a:t>
            </a:r>
          </a:p>
          <a:p>
            <a:pPr lvl="1" eaLnBrk="1" hangingPunct="1"/>
            <a:r>
              <a:rPr lang="en-US" altLang="en-US" dirty="0"/>
              <a:t>Lockheed</a:t>
            </a:r>
          </a:p>
          <a:p>
            <a:pPr lvl="1" eaLnBrk="1" hangingPunct="1"/>
            <a:r>
              <a:rPr lang="en-US" altLang="en-US" dirty="0"/>
              <a:t>General Dynamics</a:t>
            </a:r>
          </a:p>
          <a:p>
            <a:pPr lvl="1" eaLnBrk="1" hangingPunct="1"/>
            <a:r>
              <a:rPr lang="en-US" altLang="en-US" dirty="0"/>
              <a:t>Rockwell</a:t>
            </a:r>
          </a:p>
          <a:p>
            <a:pPr lvl="1" eaLnBrk="1" hangingPunct="1"/>
            <a:r>
              <a:rPr lang="en-US" altLang="en-US" dirty="0"/>
              <a:t>McDonnell Douglas</a:t>
            </a:r>
          </a:p>
          <a:p>
            <a:pPr lvl="1" eaLnBrk="1" hangingPunct="1"/>
            <a:r>
              <a:rPr lang="en-US" altLang="en-US" dirty="0"/>
              <a:t>Martin-Marietta</a:t>
            </a:r>
          </a:p>
        </p:txBody>
      </p:sp>
      <p:pic>
        <p:nvPicPr>
          <p:cNvPr id="49156" name="Picture 1029" descr="4219-283.jpg                                                   0003D5DBHome HD                        BE0C1A21:"/>
          <p:cNvPicPr>
            <a:picLocks noGrp="1" noChangeAspect="1" noChangeArrowheads="1"/>
          </p:cNvPicPr>
          <p:nvPr>
            <p:ph sz="half" idx="1"/>
          </p:nvPr>
        </p:nvPicPr>
        <p:blipFill>
          <a:blip r:embed="rId2">
            <a:extLst>
              <a:ext uri="{28A0092B-C50C-407E-A947-70E740481C1C}">
                <a14:useLocalDpi xmlns:a14="http://schemas.microsoft.com/office/drawing/2010/main"/>
              </a:ext>
            </a:extLst>
          </a:blip>
          <a:srcRect/>
          <a:stretch>
            <a:fillRect/>
          </a:stretch>
        </p:blipFill>
        <p:spPr>
          <a:xfrm>
            <a:off x="1110108" y="1094838"/>
            <a:ext cx="4468759" cy="5620287"/>
          </a:xfrm>
        </p:spPr>
      </p:pic>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a:xfrm>
            <a:off x="1202076" y="231543"/>
            <a:ext cx="9523265" cy="535219"/>
          </a:xfrm>
        </p:spPr>
        <p:txBody>
          <a:bodyPr/>
          <a:lstStyle/>
          <a:p>
            <a:r>
              <a:rPr lang="en-US" altLang="en-US" dirty="0"/>
              <a:t>Divided Advisors</a:t>
            </a:r>
          </a:p>
        </p:txBody>
      </p:sp>
      <p:sp>
        <p:nvSpPr>
          <p:cNvPr id="44034" name="Content Placeholder 2"/>
          <p:cNvSpPr>
            <a:spLocks noGrp="1"/>
          </p:cNvSpPr>
          <p:nvPr>
            <p:ph idx="1"/>
          </p:nvPr>
        </p:nvSpPr>
        <p:spPr>
          <a:xfrm>
            <a:off x="1202076" y="1137240"/>
            <a:ext cx="9719353" cy="5465762"/>
          </a:xfrm>
        </p:spPr>
        <p:txBody>
          <a:bodyPr>
            <a:normAutofit/>
          </a:bodyPr>
          <a:lstStyle/>
          <a:p>
            <a:r>
              <a:rPr lang="en-US" altLang="en-US" sz="2400" dirty="0"/>
              <a:t>OMB staff opposed and Presidential</a:t>
            </a:r>
            <a:r>
              <a:rPr lang="en-US" altLang="ja-JP" sz="2400" dirty="0"/>
              <a:t> Science Advisor Ed David skeptical</a:t>
            </a:r>
          </a:p>
          <a:p>
            <a:r>
              <a:rPr lang="en-US" altLang="en-US" sz="2400" dirty="0"/>
              <a:t>DoD not engaged and </a:t>
            </a:r>
            <a:r>
              <a:rPr lang="en-US" altLang="en-US" sz="2400" dirty="0" err="1"/>
              <a:t>DepSecDef</a:t>
            </a:r>
            <a:r>
              <a:rPr lang="en-US" altLang="en-US" sz="2400" dirty="0"/>
              <a:t> Packard thought whole debate wrong-headed</a:t>
            </a:r>
          </a:p>
          <a:p>
            <a:r>
              <a:rPr lang="en-US" altLang="en-US" sz="2400" dirty="0"/>
              <a:t>State and Kissinger not engaged, treated as a domestic policy issue</a:t>
            </a:r>
          </a:p>
          <a:p>
            <a:r>
              <a:rPr lang="en-US" altLang="en-US" sz="2400" dirty="0"/>
              <a:t>Congress unsupportive</a:t>
            </a:r>
          </a:p>
          <a:p>
            <a:pPr lvl="1"/>
            <a:r>
              <a:rPr lang="en-US" altLang="en-US" sz="2000" dirty="0"/>
              <a:t>Senators Proxmire, Mondale were hostile</a:t>
            </a:r>
          </a:p>
          <a:p>
            <a:r>
              <a:rPr lang="en-US" altLang="en-US" sz="2400" dirty="0"/>
              <a:t>Unresolved issues</a:t>
            </a:r>
          </a:p>
          <a:p>
            <a:pPr lvl="1"/>
            <a:r>
              <a:rPr lang="en-US" altLang="en-US" sz="2000" dirty="0"/>
              <a:t>Scope of U.S. space program</a:t>
            </a:r>
          </a:p>
          <a:p>
            <a:pPr lvl="1"/>
            <a:r>
              <a:rPr lang="en-US" altLang="en-US" sz="2000" dirty="0"/>
              <a:t>Demand for space transportation</a:t>
            </a:r>
          </a:p>
          <a:p>
            <a:pPr lvl="1"/>
            <a:r>
              <a:rPr lang="en-US" altLang="en-US" sz="2000" dirty="0"/>
              <a:t>Validity of cost projections</a:t>
            </a:r>
          </a:p>
        </p:txBody>
      </p:sp>
      <p:sp>
        <p:nvSpPr>
          <p:cNvPr id="54275"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29FBD195-C83E-B146-8B46-AAA445C39F42}" type="slidenum">
              <a:rPr lang="en-US" altLang="en-US" sz="1000" b="0">
                <a:solidFill>
                  <a:schemeClr val="bg1"/>
                </a:solidFill>
              </a:rPr>
              <a:pPr/>
              <a:t>25</a:t>
            </a:fld>
            <a:endParaRPr lang="en-US" altLang="en-US" sz="1000" b="0">
              <a:solidFill>
                <a:schemeClr val="bg1"/>
              </a:solidFill>
            </a:endParaRPr>
          </a:p>
        </p:txBody>
      </p:sp>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a:xfrm>
            <a:off x="1462684" y="307975"/>
            <a:ext cx="9266631" cy="654049"/>
          </a:xfrm>
        </p:spPr>
        <p:txBody>
          <a:bodyPr/>
          <a:lstStyle/>
          <a:p>
            <a:r>
              <a:rPr lang="en-US" altLang="en-US" dirty="0"/>
              <a:t>The Shuttle Debate 1970-71</a:t>
            </a:r>
          </a:p>
        </p:txBody>
      </p:sp>
      <p:sp>
        <p:nvSpPr>
          <p:cNvPr id="50178" name="Content Placeholder 2"/>
          <p:cNvSpPr>
            <a:spLocks noGrp="1"/>
          </p:cNvSpPr>
          <p:nvPr>
            <p:ph sz="half" idx="1"/>
          </p:nvPr>
        </p:nvSpPr>
        <p:spPr>
          <a:xfrm>
            <a:off x="565079" y="1202076"/>
            <a:ext cx="5378521" cy="5211424"/>
          </a:xfrm>
        </p:spPr>
        <p:txBody>
          <a:bodyPr/>
          <a:lstStyle/>
          <a:p>
            <a:pPr>
              <a:buFontTx/>
              <a:buNone/>
            </a:pPr>
            <a:r>
              <a:rPr lang="en-US" altLang="en-US" u="sng" dirty="0"/>
              <a:t>Policy Drivers</a:t>
            </a:r>
          </a:p>
          <a:p>
            <a:r>
              <a:rPr lang="en-US" altLang="en-US" sz="2400" dirty="0"/>
              <a:t>1970 PSAC Report</a:t>
            </a:r>
          </a:p>
          <a:p>
            <a:pPr lvl="1"/>
            <a:r>
              <a:rPr lang="en-US" altLang="en-US" sz="2000" dirty="0"/>
              <a:t>Replace ELVs with a DoD/NASA STS</a:t>
            </a:r>
          </a:p>
          <a:p>
            <a:pPr lvl="1"/>
            <a:r>
              <a:rPr lang="en-US" altLang="en-US" sz="2000" dirty="0"/>
              <a:t>Perform DoD missions</a:t>
            </a:r>
          </a:p>
          <a:p>
            <a:r>
              <a:rPr lang="en-US" altLang="en-US" sz="2400" dirty="0"/>
              <a:t>DoD needs and OMB cost-effectiveness</a:t>
            </a:r>
          </a:p>
          <a:p>
            <a:pPr lvl="1"/>
            <a:r>
              <a:rPr lang="en-US" altLang="en-US" sz="2000" dirty="0"/>
              <a:t>Need to capture all U.S. missions in 1980s</a:t>
            </a:r>
          </a:p>
          <a:p>
            <a:r>
              <a:rPr lang="en-US" altLang="en-US" sz="2400" dirty="0"/>
              <a:t>No significant DoD development funding</a:t>
            </a:r>
          </a:p>
          <a:p>
            <a:pPr lvl="1"/>
            <a:r>
              <a:rPr lang="ja-JP" altLang="en-US" sz="2000"/>
              <a:t>“</a:t>
            </a:r>
            <a:r>
              <a:rPr lang="en-US" altLang="ja-JP" sz="2000" dirty="0"/>
              <a:t>no pressing need</a:t>
            </a:r>
            <a:r>
              <a:rPr lang="ja-JP" altLang="en-US" sz="2000"/>
              <a:t>”</a:t>
            </a:r>
            <a:endParaRPr lang="en-US" altLang="ja-JP" sz="2000" dirty="0"/>
          </a:p>
          <a:p>
            <a:pPr lvl="1"/>
            <a:r>
              <a:rPr lang="en-US" altLang="en-US" sz="2000" dirty="0"/>
              <a:t>Titan III working</a:t>
            </a:r>
          </a:p>
          <a:p>
            <a:endParaRPr lang="en-US" altLang="en-US" dirty="0"/>
          </a:p>
          <a:p>
            <a:pPr lvl="1">
              <a:buFontTx/>
              <a:buNone/>
            </a:pPr>
            <a:endParaRPr lang="en-US" altLang="en-US" dirty="0"/>
          </a:p>
        </p:txBody>
      </p:sp>
      <p:sp>
        <p:nvSpPr>
          <p:cNvPr id="50179" name="Text Placeholder 3"/>
          <p:cNvSpPr>
            <a:spLocks noGrp="1"/>
          </p:cNvSpPr>
          <p:nvPr>
            <p:ph type="body" sz="half" idx="2"/>
          </p:nvPr>
        </p:nvSpPr>
        <p:spPr>
          <a:xfrm>
            <a:off x="6095999" y="1202076"/>
            <a:ext cx="5904217" cy="5020924"/>
          </a:xfrm>
        </p:spPr>
        <p:txBody>
          <a:bodyPr/>
          <a:lstStyle/>
          <a:p>
            <a:pPr>
              <a:buFontTx/>
              <a:buNone/>
            </a:pPr>
            <a:r>
              <a:rPr lang="en-US" altLang="en-US" u="sng" dirty="0"/>
              <a:t>Process Drivers</a:t>
            </a:r>
          </a:p>
          <a:p>
            <a:r>
              <a:rPr lang="en-US" altLang="en-US" sz="2400" dirty="0"/>
              <a:t>1971 approval sought</a:t>
            </a:r>
          </a:p>
          <a:p>
            <a:pPr lvl="1"/>
            <a:r>
              <a:rPr lang="en-US" altLang="en-US" dirty="0"/>
              <a:t>FY73 budget</a:t>
            </a:r>
          </a:p>
          <a:p>
            <a:pPr lvl="1"/>
            <a:r>
              <a:rPr lang="en-US" altLang="en-US" dirty="0"/>
              <a:t>Apollo 16-17 in doubt</a:t>
            </a:r>
          </a:p>
          <a:p>
            <a:pPr lvl="1"/>
            <a:r>
              <a:rPr lang="en-US" altLang="en-US" dirty="0"/>
              <a:t>1972 elections</a:t>
            </a:r>
          </a:p>
          <a:p>
            <a:r>
              <a:rPr lang="en-US" altLang="en-US" sz="2400" dirty="0"/>
              <a:t>OMB staff wanted alternatives</a:t>
            </a:r>
          </a:p>
          <a:p>
            <a:pPr lvl="1"/>
            <a:r>
              <a:rPr lang="en-US" altLang="en-US" dirty="0"/>
              <a:t>1970 NASA contracts:</a:t>
            </a:r>
          </a:p>
          <a:p>
            <a:pPr lvl="2"/>
            <a:r>
              <a:rPr lang="en-US" altLang="en-US" sz="2000" dirty="0"/>
              <a:t>Aerospace on costs</a:t>
            </a:r>
          </a:p>
          <a:p>
            <a:pPr lvl="2"/>
            <a:r>
              <a:rPr lang="en-US" altLang="en-US" sz="2000" dirty="0"/>
              <a:t>Lockheed on payload effects</a:t>
            </a:r>
          </a:p>
          <a:p>
            <a:pPr lvl="2"/>
            <a:r>
              <a:rPr lang="en-US" altLang="en-US" sz="2000" dirty="0"/>
              <a:t>Mathematica on the overall economics</a:t>
            </a:r>
          </a:p>
          <a:p>
            <a:endParaRPr lang="en-US" altLang="en-US" dirty="0"/>
          </a:p>
          <a:p>
            <a:pPr>
              <a:buFontTx/>
              <a:buNone/>
            </a:pPr>
            <a:endParaRPr lang="en-US" altLang="en-US" dirty="0"/>
          </a:p>
        </p:txBody>
      </p:sp>
      <p:sp>
        <p:nvSpPr>
          <p:cNvPr id="50180"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30B9F42A-C7D1-9C46-A516-44A660F55EF2}" type="slidenum">
              <a:rPr lang="en-US" altLang="en-US" sz="1000" b="0">
                <a:solidFill>
                  <a:schemeClr val="bg1"/>
                </a:solidFill>
              </a:rPr>
              <a:pPr/>
              <a:t>26</a:t>
            </a:fld>
            <a:endParaRPr lang="en-US" altLang="en-US" sz="1000" b="0">
              <a:solidFill>
                <a:schemeClr val="bg1"/>
              </a:solidFill>
            </a:endParaRPr>
          </a:p>
        </p:txBody>
      </p:sp>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F4230C1C-A2DA-3347-B016-768863D5239A}" type="slidenum">
              <a:rPr lang="en-US" altLang="en-US" sz="1000" b="0">
                <a:solidFill>
                  <a:schemeClr val="bg1"/>
                </a:solidFill>
              </a:rPr>
              <a:pPr/>
              <a:t>27</a:t>
            </a:fld>
            <a:endParaRPr lang="en-US" altLang="en-US" sz="1000" b="0">
              <a:solidFill>
                <a:schemeClr val="bg1"/>
              </a:solidFill>
            </a:endParaRPr>
          </a:p>
        </p:txBody>
      </p:sp>
      <p:sp>
        <p:nvSpPr>
          <p:cNvPr id="51202" name="Rectangle 2"/>
          <p:cNvSpPr>
            <a:spLocks noGrp="1" noChangeArrowheads="1"/>
          </p:cNvSpPr>
          <p:nvPr>
            <p:ph type="title"/>
          </p:nvPr>
        </p:nvSpPr>
        <p:spPr/>
        <p:txBody>
          <a:bodyPr/>
          <a:lstStyle/>
          <a:p>
            <a:pPr eaLnBrk="1" hangingPunct="1"/>
            <a:r>
              <a:rPr lang="en-US" altLang="en-US"/>
              <a:t>More Constraints</a:t>
            </a:r>
          </a:p>
        </p:txBody>
      </p:sp>
      <p:sp>
        <p:nvSpPr>
          <p:cNvPr id="51203" name="Rectangle 3"/>
          <p:cNvSpPr>
            <a:spLocks noGrp="1" noChangeArrowheads="1"/>
          </p:cNvSpPr>
          <p:nvPr>
            <p:ph type="body" idx="1"/>
          </p:nvPr>
        </p:nvSpPr>
        <p:spPr>
          <a:xfrm>
            <a:off x="650696" y="1087919"/>
            <a:ext cx="10890607" cy="5092700"/>
          </a:xfrm>
        </p:spPr>
        <p:txBody>
          <a:bodyPr/>
          <a:lstStyle/>
          <a:p>
            <a:pPr eaLnBrk="1" hangingPunct="1"/>
            <a:r>
              <a:rPr lang="en-US" altLang="en-US" dirty="0"/>
              <a:t>OMB constraint of flat budgets for 5 years run-out (FY73-78)</a:t>
            </a:r>
          </a:p>
          <a:p>
            <a:pPr lvl="1" eaLnBrk="1" hangingPunct="1"/>
            <a:r>
              <a:rPr lang="en-US" altLang="en-US" dirty="0"/>
              <a:t>Fully-reusable designs unaffordable for a $10B development cost, $2B peak funding</a:t>
            </a:r>
          </a:p>
          <a:p>
            <a:pPr lvl="1" eaLnBrk="1" hangingPunct="1"/>
            <a:r>
              <a:rPr lang="en-US" altLang="en-US" dirty="0"/>
              <a:t>Can afford $5-6B and $1B peak funding</a:t>
            </a:r>
          </a:p>
          <a:p>
            <a:pPr eaLnBrk="1" hangingPunct="1"/>
            <a:r>
              <a:rPr lang="en-US" altLang="en-US" dirty="0"/>
              <a:t>Trade-offs of development and operating costs with limits on upfront expenses</a:t>
            </a:r>
          </a:p>
          <a:p>
            <a:pPr lvl="1" eaLnBrk="1" hangingPunct="1"/>
            <a:r>
              <a:rPr lang="en-US" altLang="en-US" dirty="0"/>
              <a:t>Burden for paying shifted to future users</a:t>
            </a:r>
          </a:p>
          <a:p>
            <a:pPr lvl="1" eaLnBrk="1" hangingPunct="1"/>
            <a:r>
              <a:rPr lang="en-US" altLang="en-US" dirty="0"/>
              <a:t>Don Rice and the Glider/ELV option</a:t>
            </a:r>
          </a:p>
          <a:p>
            <a:pPr lvl="1" eaLnBrk="1" hangingPunct="1"/>
            <a:r>
              <a:rPr lang="en-US" altLang="en-US" dirty="0"/>
              <a:t>Smaller payload bay and lift capacity</a:t>
            </a:r>
          </a:p>
          <a:p>
            <a:pPr eaLnBrk="1" hangingPunct="1"/>
            <a:r>
              <a:rPr lang="en-US" altLang="en-US" dirty="0"/>
              <a:t>Nixon supportive of something </a:t>
            </a:r>
          </a:p>
          <a:p>
            <a:pPr lvl="1" eaLnBrk="1" hangingPunct="1"/>
            <a:r>
              <a:rPr lang="en-US" altLang="en-US" dirty="0"/>
              <a:t>but this was unknown to NASA</a:t>
            </a:r>
          </a:p>
        </p:txBody>
      </p:sp>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Number Placeholder 6"/>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427FF757-C2AD-1C47-B5B7-17619DE9E2C5}" type="slidenum">
              <a:rPr lang="en-US" altLang="en-US" sz="1000" b="0">
                <a:solidFill>
                  <a:schemeClr val="bg1"/>
                </a:solidFill>
              </a:rPr>
              <a:pPr/>
              <a:t>28</a:t>
            </a:fld>
            <a:endParaRPr lang="en-US" altLang="en-US" sz="1000" b="0" dirty="0">
              <a:solidFill>
                <a:schemeClr val="bg1"/>
              </a:solidFill>
            </a:endParaRPr>
          </a:p>
        </p:txBody>
      </p:sp>
      <p:sp>
        <p:nvSpPr>
          <p:cNvPr id="52226" name="Rectangle 2"/>
          <p:cNvSpPr>
            <a:spLocks noGrp="1" noChangeArrowheads="1"/>
          </p:cNvSpPr>
          <p:nvPr>
            <p:ph type="title"/>
          </p:nvPr>
        </p:nvSpPr>
        <p:spPr>
          <a:xfrm>
            <a:off x="1486684" y="311406"/>
            <a:ext cx="9218631" cy="592496"/>
          </a:xfrm>
        </p:spPr>
        <p:txBody>
          <a:bodyPr/>
          <a:lstStyle/>
          <a:p>
            <a:pPr eaLnBrk="1" hangingPunct="1"/>
            <a:r>
              <a:rPr lang="en-US" altLang="en-US" dirty="0"/>
              <a:t>Design Evolution and Political Choice</a:t>
            </a:r>
          </a:p>
        </p:txBody>
      </p:sp>
      <p:sp>
        <p:nvSpPr>
          <p:cNvPr id="52227" name="Rectangle 5"/>
          <p:cNvSpPr>
            <a:spLocks noGrp="1" noChangeArrowheads="1"/>
          </p:cNvSpPr>
          <p:nvPr>
            <p:ph type="body" sz="half" idx="3"/>
          </p:nvPr>
        </p:nvSpPr>
        <p:spPr>
          <a:xfrm>
            <a:off x="6095999" y="1003211"/>
            <a:ext cx="5837148" cy="5232400"/>
          </a:xfrm>
        </p:spPr>
        <p:txBody>
          <a:bodyPr/>
          <a:lstStyle/>
          <a:p>
            <a:pPr eaLnBrk="1" hangingPunct="1"/>
            <a:r>
              <a:rPr lang="en-US" altLang="en-US" sz="2400" dirty="0"/>
              <a:t>Fully to Partly Reusable</a:t>
            </a:r>
          </a:p>
          <a:p>
            <a:pPr lvl="1" eaLnBrk="1" hangingPunct="1"/>
            <a:r>
              <a:rPr lang="en-US" altLang="en-US" sz="2000" dirty="0"/>
              <a:t>External Tank</a:t>
            </a:r>
          </a:p>
          <a:p>
            <a:pPr eaLnBrk="1" hangingPunct="1"/>
            <a:r>
              <a:rPr lang="en-US" altLang="en-US" sz="2400" dirty="0"/>
              <a:t>Payload Bay Size</a:t>
            </a:r>
          </a:p>
          <a:p>
            <a:pPr lvl="1" eaLnBrk="1" hangingPunct="1"/>
            <a:r>
              <a:rPr lang="en-US" altLang="en-US" sz="2000" dirty="0"/>
              <a:t>Length</a:t>
            </a:r>
          </a:p>
          <a:p>
            <a:pPr lvl="1" eaLnBrk="1" hangingPunct="1"/>
            <a:r>
              <a:rPr lang="en-US" altLang="en-US" sz="2000" dirty="0"/>
              <a:t>Width</a:t>
            </a:r>
          </a:p>
          <a:p>
            <a:pPr eaLnBrk="1" hangingPunct="1"/>
            <a:r>
              <a:rPr lang="en-US" altLang="en-US" sz="2400" dirty="0"/>
              <a:t>Straight to Delta Wings</a:t>
            </a:r>
          </a:p>
          <a:p>
            <a:pPr lvl="1" eaLnBrk="1" hangingPunct="1"/>
            <a:r>
              <a:rPr lang="en-US" altLang="en-US" sz="2000" dirty="0"/>
              <a:t>Air Force Missions</a:t>
            </a:r>
          </a:p>
          <a:p>
            <a:pPr eaLnBrk="1" hangingPunct="1"/>
            <a:r>
              <a:rPr lang="en-US" altLang="en-US" sz="2400" dirty="0"/>
              <a:t>Solid v. Liquid Rocket Motor decision in March 1972</a:t>
            </a:r>
          </a:p>
          <a:p>
            <a:pPr eaLnBrk="1" hangingPunct="1"/>
            <a:r>
              <a:rPr lang="en-US" altLang="en-US" sz="2400" dirty="0"/>
              <a:t>Key </a:t>
            </a:r>
            <a:r>
              <a:rPr lang="ja-JP" altLang="en-US" sz="2400"/>
              <a:t>“</a:t>
            </a:r>
            <a:r>
              <a:rPr lang="en-US" altLang="ja-JP" sz="2400" dirty="0"/>
              <a:t>Mission Model</a:t>
            </a:r>
            <a:r>
              <a:rPr lang="ja-JP" altLang="en-US" sz="2400"/>
              <a:t>”</a:t>
            </a:r>
            <a:r>
              <a:rPr lang="en-US" altLang="ja-JP" sz="2400" dirty="0"/>
              <a:t> assumptions</a:t>
            </a:r>
          </a:p>
          <a:p>
            <a:pPr lvl="1" eaLnBrk="1" hangingPunct="1"/>
            <a:r>
              <a:rPr lang="en-US" altLang="en-US" sz="2000" dirty="0">
                <a:solidFill>
                  <a:srgbClr val="F00702"/>
                </a:solidFill>
              </a:rPr>
              <a:t>5 Orbiters</a:t>
            </a:r>
          </a:p>
          <a:p>
            <a:pPr lvl="1" eaLnBrk="1" hangingPunct="1"/>
            <a:r>
              <a:rPr lang="en-US" altLang="en-US" sz="2000" dirty="0">
                <a:solidFill>
                  <a:srgbClr val="F00702"/>
                </a:solidFill>
              </a:rPr>
              <a:t>Flight rate of 55-60 flights/year</a:t>
            </a:r>
          </a:p>
          <a:p>
            <a:pPr lvl="1" eaLnBrk="1" hangingPunct="1"/>
            <a:r>
              <a:rPr lang="en-US" altLang="en-US" sz="2000" dirty="0">
                <a:solidFill>
                  <a:srgbClr val="F00702"/>
                </a:solidFill>
              </a:rPr>
              <a:t>Later reduced to 40 flights/year, </a:t>
            </a:r>
          </a:p>
        </p:txBody>
      </p:sp>
      <p:pic>
        <p:nvPicPr>
          <p:cNvPr id="52228" name="Picture 6" descr="p208.jpg                                                       0003D5DBHome HD                        BE0C1A21:"/>
          <p:cNvPicPr>
            <a:picLocks noGrp="1" noChangeAspect="1" noChangeArrowheads="1"/>
          </p:cNvPicPr>
          <p:nvPr>
            <p:ph sz="quarter" idx="1"/>
          </p:nvPr>
        </p:nvPicPr>
        <p:blipFill>
          <a:blip r:embed="rId3">
            <a:extLst>
              <a:ext uri="{28A0092B-C50C-407E-A947-70E740481C1C}">
                <a14:useLocalDpi xmlns:a14="http://schemas.microsoft.com/office/drawing/2010/main"/>
              </a:ext>
            </a:extLst>
          </a:blip>
          <a:srcRect/>
          <a:stretch>
            <a:fillRect/>
          </a:stretch>
        </p:blipFill>
        <p:spPr>
          <a:xfrm>
            <a:off x="656039" y="1095679"/>
            <a:ext cx="3557409" cy="2715509"/>
          </a:xfrm>
        </p:spPr>
      </p:pic>
      <p:pic>
        <p:nvPicPr>
          <p:cNvPr id="52229" name="Picture 7" descr="4219-285.jpg                                                   0003D5DBHome HD                        BE0C1A21:"/>
          <p:cNvPicPr>
            <a:picLocks noGrp="1" noChangeAspect="1" noChangeArrowheads="1"/>
          </p:cNvPicPr>
          <p:nvPr>
            <p:ph sz="quarter" idx="2"/>
          </p:nvPr>
        </p:nvPicPr>
        <p:blipFill>
          <a:blip r:embed="rId4" cstate="print">
            <a:extLst>
              <a:ext uri="{28A0092B-C50C-407E-A947-70E740481C1C}">
                <a14:useLocalDpi xmlns:a14="http://schemas.microsoft.com/office/drawing/2010/main"/>
              </a:ext>
            </a:extLst>
          </a:blip>
          <a:srcRect/>
          <a:stretch>
            <a:fillRect/>
          </a:stretch>
        </p:blipFill>
        <p:spPr>
          <a:xfrm>
            <a:off x="1633590" y="3570149"/>
            <a:ext cx="4316359" cy="3210065"/>
          </a:xfrm>
        </p:spPr>
      </p:pic>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BF2EABB2-9586-1940-8204-45621676FE88}" type="slidenum">
              <a:rPr lang="en-US" altLang="en-US" sz="1000" b="0">
                <a:solidFill>
                  <a:schemeClr val="bg1"/>
                </a:solidFill>
              </a:rPr>
              <a:pPr/>
              <a:t>29</a:t>
            </a:fld>
            <a:endParaRPr lang="en-US" altLang="en-US" sz="1000" b="0">
              <a:solidFill>
                <a:schemeClr val="bg1"/>
              </a:solidFill>
            </a:endParaRPr>
          </a:p>
        </p:txBody>
      </p:sp>
      <p:pic>
        <p:nvPicPr>
          <p:cNvPr id="55298" name="Picture 6" descr="Snapshot 2010-08-22 15-51-39.tiff"/>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2797175" y="0"/>
            <a:ext cx="6597650" cy="6858000"/>
          </a:xfrm>
          <a:prstGeom prst="rect">
            <a:avLst/>
          </a:prstGeom>
          <a:noFill/>
          <a:ln>
            <a:solidFill>
              <a:schemeClr val="tx1"/>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Number Placeholder 6"/>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EDF7C3C4-01FD-F842-9676-A2B3DF4F8814}" type="slidenum">
              <a:rPr lang="en-US" altLang="en-US" sz="1000" b="0">
                <a:solidFill>
                  <a:schemeClr val="bg1"/>
                </a:solidFill>
              </a:rPr>
              <a:pPr/>
              <a:t>30</a:t>
            </a:fld>
            <a:endParaRPr lang="en-US" altLang="en-US" sz="1000" b="0">
              <a:solidFill>
                <a:schemeClr val="bg1"/>
              </a:solidFill>
            </a:endParaRPr>
          </a:p>
        </p:txBody>
      </p:sp>
      <p:sp>
        <p:nvSpPr>
          <p:cNvPr id="56322" name="Rectangle 2"/>
          <p:cNvSpPr>
            <a:spLocks noGrp="1" noChangeArrowheads="1"/>
          </p:cNvSpPr>
          <p:nvPr>
            <p:ph type="title"/>
          </p:nvPr>
        </p:nvSpPr>
        <p:spPr>
          <a:xfrm>
            <a:off x="2500313" y="142875"/>
            <a:ext cx="7283450" cy="801688"/>
          </a:xfrm>
        </p:spPr>
        <p:txBody>
          <a:bodyPr/>
          <a:lstStyle/>
          <a:p>
            <a:pPr eaLnBrk="1" hangingPunct="1"/>
            <a:r>
              <a:rPr lang="en-US" altLang="en-US"/>
              <a:t>Nixon Decides – </a:t>
            </a:r>
            <a:r>
              <a:rPr lang="ja-JP" altLang="en-US"/>
              <a:t>“</a:t>
            </a:r>
            <a:r>
              <a:rPr lang="en-US" altLang="ja-JP"/>
              <a:t>I agree with Cap</a:t>
            </a:r>
            <a:r>
              <a:rPr lang="ja-JP" altLang="en-US"/>
              <a:t>”</a:t>
            </a:r>
            <a:endParaRPr lang="en-US" altLang="en-US"/>
          </a:p>
        </p:txBody>
      </p:sp>
      <p:sp>
        <p:nvSpPr>
          <p:cNvPr id="56323" name="Rectangle 4"/>
          <p:cNvSpPr>
            <a:spLocks noGrp="1" noChangeArrowheads="1"/>
          </p:cNvSpPr>
          <p:nvPr>
            <p:ph type="body" sz="half" idx="3"/>
          </p:nvPr>
        </p:nvSpPr>
        <p:spPr>
          <a:xfrm>
            <a:off x="5756951" y="1076502"/>
            <a:ext cx="5945313" cy="5344845"/>
          </a:xfrm>
        </p:spPr>
        <p:txBody>
          <a:bodyPr/>
          <a:lstStyle/>
          <a:p>
            <a:pPr eaLnBrk="1" hangingPunct="1"/>
            <a:r>
              <a:rPr lang="en-US" altLang="en-US" sz="2400" dirty="0"/>
              <a:t>Weinberger OMB Memo of August 12, 1971</a:t>
            </a:r>
          </a:p>
          <a:p>
            <a:pPr lvl="1" eaLnBrk="1" hangingPunct="1"/>
            <a:r>
              <a:rPr lang="en-US" altLang="en-US" sz="2000" dirty="0"/>
              <a:t>Symbolism of budget priorities</a:t>
            </a:r>
          </a:p>
          <a:p>
            <a:pPr lvl="1" eaLnBrk="1" hangingPunct="1"/>
            <a:r>
              <a:rPr lang="en-US" altLang="en-US" sz="2000" dirty="0"/>
              <a:t>Hard to reassemble teams if nothing approved</a:t>
            </a:r>
          </a:p>
          <a:p>
            <a:pPr eaLnBrk="1" hangingPunct="1"/>
            <a:r>
              <a:rPr lang="en-US" altLang="en-US" sz="2400" dirty="0"/>
              <a:t>Decision was to not stop human spaceflight</a:t>
            </a:r>
          </a:p>
          <a:p>
            <a:pPr lvl="1" eaLnBrk="1" hangingPunct="1"/>
            <a:r>
              <a:rPr lang="en-US" altLang="en-US" sz="2000" dirty="0"/>
              <a:t>Versus going somewhere</a:t>
            </a:r>
          </a:p>
          <a:p>
            <a:pPr eaLnBrk="1" hangingPunct="1"/>
            <a:r>
              <a:rPr lang="en-US" altLang="en-US" sz="2400" dirty="0"/>
              <a:t>1972 Election timing</a:t>
            </a:r>
          </a:p>
          <a:p>
            <a:pPr lvl="1" eaLnBrk="1" hangingPunct="1"/>
            <a:r>
              <a:rPr lang="en-US" altLang="en-US" sz="2000" dirty="0"/>
              <a:t>January 5, 1972 public announcement in California</a:t>
            </a:r>
          </a:p>
          <a:p>
            <a:pPr lvl="1" eaLnBrk="1" hangingPunct="1"/>
            <a:r>
              <a:rPr lang="en-US" altLang="en-US" sz="2000" dirty="0"/>
              <a:t>No alternative S&amp;T effort was more promising</a:t>
            </a:r>
          </a:p>
          <a:p>
            <a:pPr eaLnBrk="1" hangingPunct="1"/>
            <a:endParaRPr lang="en-US" altLang="en-US" dirty="0"/>
          </a:p>
          <a:p>
            <a:pPr lvl="2" eaLnBrk="1" hangingPunct="1"/>
            <a:endParaRPr lang="en-US" altLang="en-US" sz="2000" dirty="0"/>
          </a:p>
        </p:txBody>
      </p:sp>
      <p:pic>
        <p:nvPicPr>
          <p:cNvPr id="56324" name="Picture 10" descr="p365.jpg                                                       0003D5DBHome HD                        BE0C1A21:"/>
          <p:cNvPicPr>
            <a:picLocks noGrp="1" noChangeAspect="1" noChangeArrowheads="1"/>
          </p:cNvPicPr>
          <p:nvPr>
            <p:ph sz="quarter" idx="2"/>
          </p:nvPr>
        </p:nvPicPr>
        <p:blipFill>
          <a:blip r:embed="rId2">
            <a:extLst>
              <a:ext uri="{28A0092B-C50C-407E-A947-70E740481C1C}">
                <a14:useLocalDpi xmlns:a14="http://schemas.microsoft.com/office/drawing/2010/main"/>
              </a:ext>
            </a:extLst>
          </a:blip>
          <a:srcRect/>
          <a:stretch>
            <a:fillRect/>
          </a:stretch>
        </p:blipFill>
        <p:spPr>
          <a:xfrm>
            <a:off x="1035844" y="1133475"/>
            <a:ext cx="3168178" cy="2483028"/>
          </a:xfrm>
        </p:spPr>
      </p:pic>
      <p:pic>
        <p:nvPicPr>
          <p:cNvPr id="56325" name="Picture 8" descr="p411.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035844" y="3698875"/>
            <a:ext cx="3745364" cy="29464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AF5141-C0D7-8A46-BA49-0E2C40AB26B2}"/>
              </a:ext>
            </a:extLst>
          </p:cNvPr>
          <p:cNvSpPr>
            <a:spLocks noGrp="1"/>
          </p:cNvSpPr>
          <p:nvPr>
            <p:ph type="sldNum" sz="quarter" idx="11"/>
          </p:nvPr>
        </p:nvSpPr>
        <p:spPr/>
        <p:txBody>
          <a:bodyPr/>
          <a:lstStyle/>
          <a:p>
            <a:fld id="{8EC424DB-4AEB-3A43-8511-BC056CE625DD}" type="slidenum">
              <a:rPr lang="en-US" altLang="en-US" smtClean="0"/>
              <a:pPr/>
              <a:t>31</a:t>
            </a:fld>
            <a:endParaRPr lang="en-US" altLang="en-US"/>
          </a:p>
        </p:txBody>
      </p:sp>
      <p:pic>
        <p:nvPicPr>
          <p:cNvPr id="4" name="Picture 3">
            <a:extLst>
              <a:ext uri="{FF2B5EF4-FFF2-40B4-BE49-F238E27FC236}">
                <a16:creationId xmlns:a16="http://schemas.microsoft.com/office/drawing/2014/main" id="{5D2080CE-4C4F-A64B-808F-4781940A7907}"/>
              </a:ext>
            </a:extLst>
          </p:cNvPr>
          <p:cNvPicPr>
            <a:picLocks noChangeAspect="1"/>
          </p:cNvPicPr>
          <p:nvPr/>
        </p:nvPicPr>
        <p:blipFill>
          <a:blip r:embed="rId2"/>
          <a:stretch>
            <a:fillRect/>
          </a:stretch>
        </p:blipFill>
        <p:spPr>
          <a:xfrm>
            <a:off x="1443482" y="0"/>
            <a:ext cx="9305035" cy="6858000"/>
          </a:xfrm>
          <a:prstGeom prst="rect">
            <a:avLst/>
          </a:prstGeom>
        </p:spPr>
      </p:pic>
      <p:sp>
        <p:nvSpPr>
          <p:cNvPr id="3" name="TextBox 2">
            <a:extLst>
              <a:ext uri="{FF2B5EF4-FFF2-40B4-BE49-F238E27FC236}">
                <a16:creationId xmlns:a16="http://schemas.microsoft.com/office/drawing/2014/main" id="{0765CCEA-85D7-3718-36AF-3056C72C8FD6}"/>
              </a:ext>
            </a:extLst>
          </p:cNvPr>
          <p:cNvSpPr txBox="1"/>
          <p:nvPr/>
        </p:nvSpPr>
        <p:spPr>
          <a:xfrm>
            <a:off x="8614917" y="6437377"/>
            <a:ext cx="2133600" cy="280416"/>
          </a:xfrm>
          <a:prstGeom prst="rect">
            <a:avLst/>
          </a:prstGeom>
          <a:noFill/>
        </p:spPr>
        <p:txBody>
          <a:bodyPr wrap="square" rtlCol="0">
            <a:spAutoFit/>
          </a:bodyPr>
          <a:lstStyle/>
          <a:p>
            <a:r>
              <a:rPr lang="en-US" sz="1200" dirty="0"/>
              <a:t>Courtesy: John Logsdon</a:t>
            </a:r>
          </a:p>
        </p:txBody>
      </p:sp>
    </p:spTree>
    <p:extLst>
      <p:ext uri="{BB962C8B-B14F-4D97-AF65-F5344CB8AC3E}">
        <p14:creationId xmlns:p14="http://schemas.microsoft.com/office/powerpoint/2010/main" val="3034860443"/>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5E54ED-3207-3E49-BD8F-DF3E81B323B6}"/>
              </a:ext>
            </a:extLst>
          </p:cNvPr>
          <p:cNvSpPr>
            <a:spLocks noGrp="1"/>
          </p:cNvSpPr>
          <p:nvPr>
            <p:ph type="sldNum" sz="quarter" idx="11"/>
          </p:nvPr>
        </p:nvSpPr>
        <p:spPr/>
        <p:txBody>
          <a:bodyPr/>
          <a:lstStyle/>
          <a:p>
            <a:fld id="{8EC424DB-4AEB-3A43-8511-BC056CE625DD}" type="slidenum">
              <a:rPr lang="en-US" altLang="en-US" smtClean="0"/>
              <a:pPr/>
              <a:t>32</a:t>
            </a:fld>
            <a:endParaRPr lang="en-US" altLang="en-US"/>
          </a:p>
        </p:txBody>
      </p:sp>
      <p:pic>
        <p:nvPicPr>
          <p:cNvPr id="4" name="Picture 3">
            <a:extLst>
              <a:ext uri="{FF2B5EF4-FFF2-40B4-BE49-F238E27FC236}">
                <a16:creationId xmlns:a16="http://schemas.microsoft.com/office/drawing/2014/main" id="{DFCA0535-CCD3-AC47-BF22-150BCA515C30}"/>
              </a:ext>
            </a:extLst>
          </p:cNvPr>
          <p:cNvPicPr>
            <a:picLocks noChangeAspect="1"/>
          </p:cNvPicPr>
          <p:nvPr/>
        </p:nvPicPr>
        <p:blipFill>
          <a:blip r:embed="rId2"/>
          <a:stretch>
            <a:fillRect/>
          </a:stretch>
        </p:blipFill>
        <p:spPr>
          <a:xfrm>
            <a:off x="1471569" y="0"/>
            <a:ext cx="9248862" cy="6858000"/>
          </a:xfrm>
          <a:prstGeom prst="rect">
            <a:avLst/>
          </a:prstGeom>
        </p:spPr>
      </p:pic>
      <p:sp>
        <p:nvSpPr>
          <p:cNvPr id="3" name="TextBox 2">
            <a:extLst>
              <a:ext uri="{FF2B5EF4-FFF2-40B4-BE49-F238E27FC236}">
                <a16:creationId xmlns:a16="http://schemas.microsoft.com/office/drawing/2014/main" id="{1B4C9D5F-B7C8-B72C-6279-9CB59E898849}"/>
              </a:ext>
            </a:extLst>
          </p:cNvPr>
          <p:cNvSpPr txBox="1"/>
          <p:nvPr/>
        </p:nvSpPr>
        <p:spPr>
          <a:xfrm>
            <a:off x="9022080" y="6291072"/>
            <a:ext cx="1444837" cy="461665"/>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6B82EDAB-ECAD-C483-34DB-224EBAF22C61}"/>
              </a:ext>
            </a:extLst>
          </p:cNvPr>
          <p:cNvSpPr txBox="1"/>
          <p:nvPr/>
        </p:nvSpPr>
        <p:spPr>
          <a:xfrm>
            <a:off x="8333317" y="6364859"/>
            <a:ext cx="2133600" cy="280416"/>
          </a:xfrm>
          <a:prstGeom prst="rect">
            <a:avLst/>
          </a:prstGeom>
          <a:noFill/>
        </p:spPr>
        <p:txBody>
          <a:bodyPr wrap="square" rtlCol="0">
            <a:spAutoFit/>
          </a:bodyPr>
          <a:lstStyle/>
          <a:p>
            <a:r>
              <a:rPr lang="en-US" sz="1200" dirty="0"/>
              <a:t>Courtesy: John Logsdon</a:t>
            </a:r>
          </a:p>
        </p:txBody>
      </p:sp>
    </p:spTree>
    <p:extLst>
      <p:ext uri="{BB962C8B-B14F-4D97-AF65-F5344CB8AC3E}">
        <p14:creationId xmlns:p14="http://schemas.microsoft.com/office/powerpoint/2010/main" val="946559717"/>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2"/>
          <p:cNvSpPr>
            <a:spLocks noGrp="1"/>
          </p:cNvSpPr>
          <p:nvPr>
            <p:ph type="title"/>
          </p:nvPr>
        </p:nvSpPr>
        <p:spPr>
          <a:xfrm>
            <a:off x="1114746" y="469900"/>
            <a:ext cx="9935110" cy="505538"/>
          </a:xfrm>
        </p:spPr>
        <p:txBody>
          <a:bodyPr/>
          <a:lstStyle/>
          <a:p>
            <a:r>
              <a:rPr lang="en-US" altLang="en-US" dirty="0"/>
              <a:t>President Nixon’</a:t>
            </a:r>
            <a:r>
              <a:rPr lang="en-US" altLang="ja-JP" dirty="0"/>
              <a:t>s January 5, 1972 Announcement</a:t>
            </a:r>
            <a:endParaRPr lang="en-US" altLang="en-US" dirty="0"/>
          </a:p>
        </p:txBody>
      </p:sp>
      <p:sp>
        <p:nvSpPr>
          <p:cNvPr id="58370" name="Content Placeholder 4"/>
          <p:cNvSpPr>
            <a:spLocks noGrp="1"/>
          </p:cNvSpPr>
          <p:nvPr>
            <p:ph idx="1"/>
          </p:nvPr>
        </p:nvSpPr>
        <p:spPr>
          <a:xfrm>
            <a:off x="852755" y="1270000"/>
            <a:ext cx="10459092" cy="5118100"/>
          </a:xfrm>
        </p:spPr>
        <p:txBody>
          <a:bodyPr/>
          <a:lstStyle/>
          <a:p>
            <a:pPr>
              <a:spcBef>
                <a:spcPts val="600"/>
              </a:spcBef>
            </a:pPr>
            <a:r>
              <a:rPr lang="en-US" altLang="en-US" sz="2000" dirty="0"/>
              <a:t>I have decided today that the United States should proceed at once with the development of an entirely new type of space transportation system designed to help transform the space frontier of the 1970s into familiar territory, easily accessible for human endeavor in the 1980s and '90s.</a:t>
            </a:r>
          </a:p>
          <a:p>
            <a:pPr>
              <a:spcBef>
                <a:spcPts val="600"/>
              </a:spcBef>
            </a:pPr>
            <a:endParaRPr lang="en-US" altLang="en-US" sz="2000" dirty="0"/>
          </a:p>
          <a:p>
            <a:pPr>
              <a:spcBef>
                <a:spcPts val="600"/>
              </a:spcBef>
            </a:pPr>
            <a:r>
              <a:rPr lang="en-US" altLang="en-US" sz="2000" dirty="0"/>
              <a:t>Views of the earth from space have shown us how small and fragile our home planet truly is. We are learning the imperatives of universal brotherhood and global ecology — learning to think and act as guardians of one tiny blue and green island in the trackless oceans of the universe. This new program will give more people more access to the liberating perspectives of space....</a:t>
            </a:r>
          </a:p>
          <a:p>
            <a:pPr>
              <a:spcBef>
                <a:spcPts val="600"/>
              </a:spcBef>
            </a:pPr>
            <a:endParaRPr lang="en-US" altLang="en-US" sz="2000" dirty="0"/>
          </a:p>
          <a:p>
            <a:pPr>
              <a:spcBef>
                <a:spcPts val="600"/>
              </a:spcBef>
            </a:pPr>
            <a:r>
              <a:rPr lang="en-US" altLang="en-US" sz="2000" dirty="0"/>
              <a:t>"We must sail sometimes with the wind and sometimes against it," said Oliver Wendell Holmes, "but we must sail, and not drift, nor lie at anchor." So with man's epic voyage into space — a voyage the United States of America has led and still shall lead.</a:t>
            </a:r>
          </a:p>
        </p:txBody>
      </p:sp>
      <p:sp>
        <p:nvSpPr>
          <p:cNvPr id="58371" name="Slide Number Placeholder 1"/>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64CBFD7D-0CD8-8243-A35C-BCC77513AFDB}" type="slidenum">
              <a:rPr lang="en-US" altLang="en-US" sz="1000" b="0">
                <a:solidFill>
                  <a:schemeClr val="bg1"/>
                </a:solidFill>
              </a:rPr>
              <a:pPr/>
              <a:t>33</a:t>
            </a:fld>
            <a:endParaRPr lang="en-US" altLang="en-US" sz="1000" b="0">
              <a:solidFill>
                <a:schemeClr val="bg1"/>
              </a:solidFill>
            </a:endParaRPr>
          </a:p>
        </p:txBody>
      </p:sp>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6"/>
          <p:cNvSpPr>
            <a:spLocks noGrp="1"/>
          </p:cNvSpPr>
          <p:nvPr>
            <p:ph type="title"/>
          </p:nvPr>
        </p:nvSpPr>
        <p:spPr>
          <a:xfrm>
            <a:off x="1376736" y="357883"/>
            <a:ext cx="9472773" cy="515420"/>
          </a:xfrm>
        </p:spPr>
        <p:txBody>
          <a:bodyPr/>
          <a:lstStyle/>
          <a:p>
            <a:pPr eaLnBrk="1" hangingPunct="1"/>
            <a:r>
              <a:rPr lang="en-US" altLang="en-US" dirty="0"/>
              <a:t>Winning Contractor Design 1972</a:t>
            </a:r>
          </a:p>
        </p:txBody>
      </p:sp>
      <p:pic>
        <p:nvPicPr>
          <p:cNvPr id="59394" name="Content Placeholder 8" descr="rockwell_001.pdf"/>
          <p:cNvPicPr>
            <a:picLocks noGrp="1" noChangeAspect="1"/>
          </p:cNvPicPr>
          <p:nvPr>
            <p:ph idx="1"/>
          </p:nvPr>
        </p:nvPicPr>
        <p:blipFill>
          <a:blip r:embed="rId2" cstate="print">
            <a:extLst>
              <a:ext uri="{28A0092B-C50C-407E-A947-70E740481C1C}">
                <a14:useLocalDpi xmlns:a14="http://schemas.microsoft.com/office/drawing/2010/main"/>
              </a:ext>
            </a:extLst>
          </a:blip>
          <a:srcRect l="-3030" r="-3030"/>
          <a:stretch>
            <a:fillRect/>
          </a:stretch>
        </p:blipFill>
        <p:spPr>
          <a:xfrm>
            <a:off x="1316329" y="1042827"/>
            <a:ext cx="9533180" cy="5815173"/>
          </a:xfrm>
        </p:spPr>
      </p:pic>
      <p:sp>
        <p:nvSpPr>
          <p:cNvPr id="59395"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511D2572-F806-EE44-BAB9-8D668EF4B850}" type="slidenum">
              <a:rPr lang="en-US" altLang="en-US" sz="1000" b="0">
                <a:solidFill>
                  <a:schemeClr val="bg1"/>
                </a:solidFill>
              </a:rPr>
              <a:pPr/>
              <a:t>34</a:t>
            </a:fld>
            <a:endParaRPr lang="en-US" altLang="en-US" sz="1000" b="0">
              <a:solidFill>
                <a:schemeClr val="bg1"/>
              </a:solidFill>
            </a:endParaRPr>
          </a:p>
        </p:txBody>
      </p:sp>
      <p:sp>
        <p:nvSpPr>
          <p:cNvPr id="59396" name="TextBox 4"/>
          <p:cNvSpPr txBox="1">
            <a:spLocks noChangeArrowheads="1"/>
          </p:cNvSpPr>
          <p:nvPr/>
        </p:nvSpPr>
        <p:spPr bwMode="auto">
          <a:xfrm>
            <a:off x="1955800" y="1333501"/>
            <a:ext cx="3835400" cy="8302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600"/>
              <a:t>Development 	$5.15B</a:t>
            </a:r>
          </a:p>
          <a:p>
            <a:r>
              <a:rPr lang="en-US" altLang="en-US" sz="1600"/>
              <a:t>Cost/flight 	$10.4M</a:t>
            </a:r>
          </a:p>
          <a:p>
            <a:r>
              <a:rPr lang="en-US" altLang="en-US" sz="1600"/>
              <a:t>Cost/payload lb	 $160</a:t>
            </a:r>
          </a:p>
        </p:txBody>
      </p:sp>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5064" y="274816"/>
            <a:ext cx="9701871" cy="689332"/>
          </a:xfrm>
        </p:spPr>
        <p:txBody>
          <a:bodyPr/>
          <a:lstStyle/>
          <a:p>
            <a:r>
              <a:rPr lang="en-US" dirty="0"/>
              <a:t>Space Shuttle Mission Profile and Abort Modes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952090" y="1004478"/>
            <a:ext cx="8250148" cy="5757916"/>
          </a:xfrm>
        </p:spPr>
      </p:pic>
      <p:sp>
        <p:nvSpPr>
          <p:cNvPr id="4" name="Slide Number Placeholder 3"/>
          <p:cNvSpPr>
            <a:spLocks noGrp="1"/>
          </p:cNvSpPr>
          <p:nvPr>
            <p:ph type="sldNum" sz="quarter" idx="11"/>
          </p:nvPr>
        </p:nvSpPr>
        <p:spPr/>
        <p:txBody>
          <a:bodyPr/>
          <a:lstStyle/>
          <a:p>
            <a:fld id="{38E73FAB-E902-9E49-897F-40757D2AAE3D}" type="slidenum">
              <a:rPr lang="en-US" altLang="en-US" smtClean="0"/>
              <a:pPr/>
              <a:t>35</a:t>
            </a:fld>
            <a:endParaRPr lang="en-US" altLang="en-US"/>
          </a:p>
        </p:txBody>
      </p:sp>
    </p:spTree>
    <p:extLst>
      <p:ext uri="{BB962C8B-B14F-4D97-AF65-F5344CB8AC3E}">
        <p14:creationId xmlns:p14="http://schemas.microsoft.com/office/powerpoint/2010/main" val="3138090914"/>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9" name="Content Placeholder 8" descr="1979_001.pdf"/>
          <p:cNvPicPr>
            <a:picLocks noGrp="1" noChangeAspect="1"/>
          </p:cNvPicPr>
          <p:nvPr>
            <p:ph sz="half" idx="2"/>
          </p:nvPr>
        </p:nvPicPr>
        <p:blipFill>
          <a:blip r:embed="rId2" cstate="print">
            <a:extLst>
              <a:ext uri="{28A0092B-C50C-407E-A947-70E740481C1C}">
                <a14:useLocalDpi xmlns:a14="http://schemas.microsoft.com/office/drawing/2010/main"/>
              </a:ext>
            </a:extLst>
          </a:blip>
          <a:srcRect t="-25572" b="-25572"/>
          <a:stretch>
            <a:fillRect/>
          </a:stretch>
        </p:blipFill>
        <p:spPr>
          <a:xfrm>
            <a:off x="5598980" y="728014"/>
            <a:ext cx="6281017" cy="6103649"/>
          </a:xfrm>
        </p:spPr>
      </p:pic>
      <p:pic>
        <p:nvPicPr>
          <p:cNvPr id="60422" name="Picture 18"/>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84771" y="914400"/>
            <a:ext cx="6338299" cy="5568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0417" name="Title 9"/>
          <p:cNvSpPr>
            <a:spLocks noGrp="1"/>
          </p:cNvSpPr>
          <p:nvPr>
            <p:ph type="title"/>
          </p:nvPr>
        </p:nvSpPr>
        <p:spPr>
          <a:xfrm>
            <a:off x="595901" y="346557"/>
            <a:ext cx="11000198" cy="567843"/>
          </a:xfrm>
        </p:spPr>
        <p:txBody>
          <a:bodyPr/>
          <a:lstStyle/>
          <a:p>
            <a:pPr eaLnBrk="1" hangingPunct="1"/>
            <a:r>
              <a:rPr lang="en-US" altLang="en-US" dirty="0"/>
              <a:t>Development Cost vs. Operations Cost</a:t>
            </a:r>
          </a:p>
        </p:txBody>
      </p:sp>
      <p:sp>
        <p:nvSpPr>
          <p:cNvPr id="60418" name="Text Placeholder 10"/>
          <p:cNvSpPr>
            <a:spLocks noGrp="1"/>
          </p:cNvSpPr>
          <p:nvPr>
            <p:ph type="body" idx="1"/>
          </p:nvPr>
        </p:nvSpPr>
        <p:spPr>
          <a:xfrm>
            <a:off x="7447161" y="1196834"/>
            <a:ext cx="3971206" cy="391491"/>
          </a:xfrm>
        </p:spPr>
        <p:txBody>
          <a:bodyPr/>
          <a:lstStyle/>
          <a:p>
            <a:pPr eaLnBrk="1" hangingPunct="1"/>
            <a:r>
              <a:rPr lang="en-US" altLang="en-US" dirty="0"/>
              <a:t>George Low in 1979</a:t>
            </a:r>
          </a:p>
        </p:txBody>
      </p:sp>
      <p:sp>
        <p:nvSpPr>
          <p:cNvPr id="60420" name="Text Placeholder 11"/>
          <p:cNvSpPr>
            <a:spLocks noGrp="1"/>
          </p:cNvSpPr>
          <p:nvPr>
            <p:ph type="body" sz="quarter" idx="3"/>
          </p:nvPr>
        </p:nvSpPr>
        <p:spPr>
          <a:xfrm>
            <a:off x="1108862" y="1316280"/>
            <a:ext cx="4005262" cy="399568"/>
          </a:xfrm>
        </p:spPr>
        <p:txBody>
          <a:bodyPr/>
          <a:lstStyle/>
          <a:p>
            <a:pPr eaLnBrk="1" hangingPunct="1"/>
            <a:r>
              <a:rPr lang="en-US" altLang="en-US" dirty="0"/>
              <a:t>Mathematica in 1971</a:t>
            </a:r>
          </a:p>
        </p:txBody>
      </p:sp>
      <p:sp>
        <p:nvSpPr>
          <p:cNvPr id="60421" name="Slide Number Placeholder 5"/>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A4349CDB-E0EA-C040-AB10-0CA9FB0D3A0B}" type="slidenum">
              <a:rPr lang="en-US" altLang="en-US" sz="1000" b="0">
                <a:solidFill>
                  <a:schemeClr val="bg1"/>
                </a:solidFill>
              </a:rPr>
              <a:pPr/>
              <a:t>36</a:t>
            </a:fld>
            <a:endParaRPr lang="en-US" altLang="en-US" sz="1000" b="0">
              <a:solidFill>
                <a:schemeClr val="bg1"/>
              </a:solidFill>
            </a:endParaRPr>
          </a:p>
        </p:txBody>
      </p:sp>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40366" y="223044"/>
            <a:ext cx="9711267" cy="801688"/>
          </a:xfrm>
        </p:spPr>
        <p:txBody>
          <a:bodyPr>
            <a:normAutofit/>
          </a:bodyPr>
          <a:lstStyle/>
          <a:p>
            <a:pPr>
              <a:defRPr/>
            </a:pPr>
            <a:r>
              <a:rPr lang="en-US" dirty="0"/>
              <a:t>The View from JSC on Cost per Flight</a:t>
            </a:r>
          </a:p>
        </p:txBody>
      </p:sp>
      <p:sp>
        <p:nvSpPr>
          <p:cNvPr id="61442" name="TextBox 4"/>
          <p:cNvSpPr txBox="1">
            <a:spLocks noChangeArrowheads="1"/>
          </p:cNvSpPr>
          <p:nvPr/>
        </p:nvSpPr>
        <p:spPr bwMode="auto">
          <a:xfrm>
            <a:off x="4438651" y="3875088"/>
            <a:ext cx="3708756"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pPr algn="ctr"/>
            <a:r>
              <a:rPr lang="en-US" altLang="en-US" dirty="0"/>
              <a:t>Robert F . “Bob” Thompson, Manager, Space Shuttle Program Office (1970-1981)</a:t>
            </a:r>
          </a:p>
        </p:txBody>
      </p:sp>
      <p:pic>
        <p:nvPicPr>
          <p:cNvPr id="61443" name="Picture 5" descr="E2474-10-lg.jpg"/>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8858985" y="3165760"/>
            <a:ext cx="2666169" cy="37119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1444" name="Picture 6" descr="Bob_Thompson.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516574" y="3531310"/>
            <a:ext cx="2666169" cy="33463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1445" name="Picture 7" descr="Screen Shot 2015-05-06 at 2.00.33 PM.png"/>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1383583" y="1024732"/>
            <a:ext cx="9424833" cy="2075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1446" name="TextBox 8"/>
          <p:cNvSpPr txBox="1">
            <a:spLocks noChangeArrowheads="1"/>
          </p:cNvSpPr>
          <p:nvPr/>
        </p:nvSpPr>
        <p:spPr bwMode="auto">
          <a:xfrm>
            <a:off x="1404937" y="3161423"/>
            <a:ext cx="4691063"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800" dirty="0"/>
              <a:t>E-mail Excerpt 11 April 2015</a:t>
            </a:r>
          </a:p>
        </p:txBody>
      </p:sp>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6D8862AF-3A15-CA4B-8CD0-53E362294ADC}" type="slidenum">
              <a:rPr lang="en-US" altLang="en-US" sz="1000" b="0">
                <a:solidFill>
                  <a:schemeClr val="bg1"/>
                </a:solidFill>
              </a:rPr>
              <a:pPr/>
              <a:t>38</a:t>
            </a:fld>
            <a:endParaRPr lang="en-US" altLang="en-US" sz="1000" b="0">
              <a:solidFill>
                <a:schemeClr val="bg1"/>
              </a:solidFill>
            </a:endParaRPr>
          </a:p>
        </p:txBody>
      </p:sp>
      <p:sp>
        <p:nvSpPr>
          <p:cNvPr id="63490" name="Rectangle 2"/>
          <p:cNvSpPr>
            <a:spLocks noGrp="1" noChangeArrowheads="1"/>
          </p:cNvSpPr>
          <p:nvPr>
            <p:ph type="title"/>
          </p:nvPr>
        </p:nvSpPr>
        <p:spPr>
          <a:xfrm>
            <a:off x="1260475" y="228582"/>
            <a:ext cx="9671049" cy="596864"/>
          </a:xfrm>
        </p:spPr>
        <p:txBody>
          <a:bodyPr/>
          <a:lstStyle/>
          <a:p>
            <a:pPr eaLnBrk="1" hangingPunct="1"/>
            <a:r>
              <a:rPr lang="en-US" altLang="en-US" dirty="0"/>
              <a:t>Western Test Range - Shuttle</a:t>
            </a:r>
          </a:p>
        </p:txBody>
      </p:sp>
      <p:pic>
        <p:nvPicPr>
          <p:cNvPr id="63491" name="Picture 4" descr="WTR Shuttle Site.JPG                                           0003D5DBHome HD                        BE0C1A21:"/>
          <p:cNvPicPr>
            <a:picLocks noGrp="1" noChangeAspect="1" noChangeArrowheads="1"/>
          </p:cNvPicPr>
          <p:nvPr>
            <p:ph idx="1"/>
          </p:nvPr>
        </p:nvPicPr>
        <p:blipFill>
          <a:blip r:embed="rId3" cstate="print">
            <a:extLst>
              <a:ext uri="{28A0092B-C50C-407E-A947-70E740481C1C}">
                <a14:useLocalDpi xmlns:a14="http://schemas.microsoft.com/office/drawing/2010/main"/>
              </a:ext>
            </a:extLst>
          </a:blip>
          <a:srcRect/>
          <a:stretch>
            <a:fillRect/>
          </a:stretch>
        </p:blipFill>
        <p:spPr>
          <a:xfrm>
            <a:off x="1540647" y="894323"/>
            <a:ext cx="9122580" cy="5913437"/>
          </a:xfrm>
        </p:spPr>
      </p:pic>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D2C6BB08-1270-5C42-BCE4-B37C6A43678D}" type="slidenum">
              <a:rPr lang="en-US" altLang="en-US" sz="1000" b="0">
                <a:solidFill>
                  <a:schemeClr val="bg1"/>
                </a:solidFill>
              </a:rPr>
              <a:pPr/>
              <a:t>39</a:t>
            </a:fld>
            <a:endParaRPr lang="en-US" altLang="en-US" sz="1000" b="0">
              <a:solidFill>
                <a:schemeClr val="bg1"/>
              </a:solidFill>
            </a:endParaRPr>
          </a:p>
        </p:txBody>
      </p:sp>
      <p:sp>
        <p:nvSpPr>
          <p:cNvPr id="25602" name="Rectangle 2"/>
          <p:cNvSpPr>
            <a:spLocks noGrp="1" noChangeArrowheads="1"/>
          </p:cNvSpPr>
          <p:nvPr>
            <p:ph type="title"/>
          </p:nvPr>
        </p:nvSpPr>
        <p:spPr/>
        <p:txBody>
          <a:bodyPr/>
          <a:lstStyle/>
          <a:p>
            <a:pPr eaLnBrk="1" hangingPunct="1"/>
            <a:r>
              <a:rPr lang="en-US" altLang="en-US"/>
              <a:t>New Capabilities with Shuttle</a:t>
            </a:r>
          </a:p>
        </p:txBody>
      </p:sp>
      <p:pic>
        <p:nvPicPr>
          <p:cNvPr id="25603" name="Picture 4" descr="Unique capabilities_050.JPG                                    0003D5DBHome HD                        BE0C1A21:"/>
          <p:cNvPicPr>
            <a:picLocks noGrp="1" noChangeAspect="1" noChangeArrowheads="1"/>
          </p:cNvPicPr>
          <p:nvPr>
            <p:ph idx="1"/>
          </p:nvPr>
        </p:nvPicPr>
        <p:blipFill>
          <a:blip r:embed="rId2" cstate="print">
            <a:extLst>
              <a:ext uri="{28A0092B-C50C-407E-A947-70E740481C1C}">
                <a14:useLocalDpi xmlns:a14="http://schemas.microsoft.com/office/drawing/2010/main"/>
              </a:ext>
            </a:extLst>
          </a:blip>
          <a:srcRect/>
          <a:stretch>
            <a:fillRect/>
          </a:stretch>
        </p:blipFill>
        <p:spPr>
          <a:xfrm>
            <a:off x="1520575" y="878951"/>
            <a:ext cx="9138955" cy="5923001"/>
          </a:xfrm>
        </p:spPr>
      </p:pic>
    </p:spTree>
    <p:extLst>
      <p:ext uri="{BB962C8B-B14F-4D97-AF65-F5344CB8AC3E}">
        <p14:creationId xmlns:p14="http://schemas.microsoft.com/office/powerpoint/2010/main" val="1623100481"/>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a:xfrm>
            <a:off x="1461607" y="807626"/>
            <a:ext cx="7283450" cy="801688"/>
          </a:xfrm>
        </p:spPr>
        <p:txBody>
          <a:bodyPr/>
          <a:lstStyle/>
          <a:p>
            <a:r>
              <a:rPr lang="en-US" altLang="en-US" dirty="0"/>
              <a:t>The Shuttle Fleet</a:t>
            </a:r>
          </a:p>
        </p:txBody>
      </p:sp>
      <p:pic>
        <p:nvPicPr>
          <p:cNvPr id="48130" name="Content Placeholder 4" descr="110413-HoustonPhoto-hmed-0440p.grid-6x2.jpg"/>
          <p:cNvPicPr>
            <a:picLocks noGrp="1" noChangeAspect="1"/>
          </p:cNvPicPr>
          <p:nvPr>
            <p:ph idx="1"/>
          </p:nvPr>
        </p:nvPicPr>
        <p:blipFill>
          <a:blip r:embed="rId2" cstate="print">
            <a:extLst>
              <a:ext uri="{28A0092B-C50C-407E-A947-70E740481C1C}">
                <a14:useLocalDpi xmlns:a14="http://schemas.microsoft.com/office/drawing/2010/main"/>
              </a:ext>
            </a:extLst>
          </a:blip>
          <a:srcRect/>
          <a:stretch>
            <a:fillRect/>
          </a:stretch>
        </p:blipFill>
        <p:spPr>
          <a:xfrm>
            <a:off x="8500565" y="178399"/>
            <a:ext cx="3528585" cy="2153835"/>
          </a:xfrm>
        </p:spPr>
      </p:pic>
      <p:sp>
        <p:nvSpPr>
          <p:cNvPr id="48131"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2518769F-DCAE-FC4C-AC48-63E1D092CCAD}" type="slidenum">
              <a:rPr lang="en-US" altLang="en-US" sz="1000" b="0">
                <a:solidFill>
                  <a:schemeClr val="bg1"/>
                </a:solidFill>
              </a:rPr>
              <a:pPr/>
              <a:t>40</a:t>
            </a:fld>
            <a:endParaRPr lang="en-US" altLang="en-US" sz="1000" b="0">
              <a:solidFill>
                <a:schemeClr val="bg1"/>
              </a:solidFill>
            </a:endParaRPr>
          </a:p>
        </p:txBody>
      </p:sp>
      <p:pic>
        <p:nvPicPr>
          <p:cNvPr id="48132" name="Picture 5" descr="1024px-Shuttle_profiles.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423916" y="2449690"/>
            <a:ext cx="9134475" cy="40592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5C2B6D33-7FFD-1448-83FF-44BAA0B7CAEB}"/>
              </a:ext>
            </a:extLst>
          </p:cNvPr>
          <p:cNvSpPr txBox="1"/>
          <p:nvPr/>
        </p:nvSpPr>
        <p:spPr>
          <a:xfrm>
            <a:off x="9842644" y="3750067"/>
            <a:ext cx="2186506" cy="1077218"/>
          </a:xfrm>
          <a:prstGeom prst="rect">
            <a:avLst/>
          </a:prstGeom>
          <a:noFill/>
        </p:spPr>
        <p:txBody>
          <a:bodyPr wrap="square" rtlCol="0">
            <a:spAutoFit/>
          </a:bodyPr>
          <a:lstStyle/>
          <a:p>
            <a:r>
              <a:rPr lang="en-US" sz="1600" dirty="0"/>
              <a:t>Two orbiters lost. Remaining three on display plus a test article</a:t>
            </a:r>
          </a:p>
        </p:txBody>
      </p:sp>
    </p:spTree>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Number Placeholder 4"/>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C73E7981-2CBB-A547-886D-CB7E9BE86E15}" type="slidenum">
              <a:rPr lang="en-US" altLang="en-US" sz="1000" b="0">
                <a:solidFill>
                  <a:schemeClr val="bg1"/>
                </a:solidFill>
              </a:rPr>
              <a:pPr/>
              <a:t>41</a:t>
            </a:fld>
            <a:endParaRPr lang="en-US" altLang="en-US" sz="1000" b="0">
              <a:solidFill>
                <a:schemeClr val="bg1"/>
              </a:solidFill>
            </a:endParaRPr>
          </a:p>
        </p:txBody>
      </p:sp>
      <p:sp>
        <p:nvSpPr>
          <p:cNvPr id="66562" name="Rectangle 2"/>
          <p:cNvSpPr>
            <a:spLocks noGrp="1" noChangeArrowheads="1"/>
          </p:cNvSpPr>
          <p:nvPr>
            <p:ph type="title"/>
          </p:nvPr>
        </p:nvSpPr>
        <p:spPr/>
        <p:txBody>
          <a:bodyPr/>
          <a:lstStyle/>
          <a:p>
            <a:pPr eaLnBrk="1" hangingPunct="1"/>
            <a:r>
              <a:rPr lang="en-US" altLang="en-US"/>
              <a:t>Topics for Discussion</a:t>
            </a:r>
          </a:p>
        </p:txBody>
      </p:sp>
      <p:sp>
        <p:nvSpPr>
          <p:cNvPr id="66563" name="Rectangle 3"/>
          <p:cNvSpPr>
            <a:spLocks noGrp="1" noChangeArrowheads="1"/>
          </p:cNvSpPr>
          <p:nvPr>
            <p:ph type="body" idx="1"/>
          </p:nvPr>
        </p:nvSpPr>
        <p:spPr>
          <a:xfrm>
            <a:off x="1151024" y="1016001"/>
            <a:ext cx="10294047" cy="5699124"/>
          </a:xfrm>
        </p:spPr>
        <p:txBody>
          <a:bodyPr/>
          <a:lstStyle/>
          <a:p>
            <a:pPr eaLnBrk="1" hangingPunct="1"/>
            <a:r>
              <a:rPr lang="en-US" altLang="en-US" dirty="0"/>
              <a:t>Shuttle First, then Station</a:t>
            </a:r>
          </a:p>
          <a:p>
            <a:pPr lvl="1" eaLnBrk="1" hangingPunct="1"/>
            <a:r>
              <a:rPr lang="en-US" altLang="en-US" dirty="0"/>
              <a:t>Soviets chose Space Stations</a:t>
            </a:r>
          </a:p>
          <a:p>
            <a:pPr eaLnBrk="1" hangingPunct="1"/>
            <a:r>
              <a:rPr lang="en-US" altLang="en-US" dirty="0"/>
              <a:t>Nixon Administration Priorities</a:t>
            </a:r>
          </a:p>
          <a:p>
            <a:pPr lvl="1" eaLnBrk="1" hangingPunct="1"/>
            <a:r>
              <a:rPr lang="en-US" altLang="en-US" sz="2000" dirty="0"/>
              <a:t>Viet Nam War</a:t>
            </a:r>
          </a:p>
          <a:p>
            <a:pPr lvl="1" eaLnBrk="1" hangingPunct="1"/>
            <a:r>
              <a:rPr lang="en-US" altLang="en-US" sz="2000" dirty="0"/>
              <a:t>Soviet Union</a:t>
            </a:r>
          </a:p>
          <a:p>
            <a:pPr lvl="1" eaLnBrk="1" hangingPunct="1"/>
            <a:r>
              <a:rPr lang="en-US" altLang="en-US" sz="2000" dirty="0"/>
              <a:t>SST cancelled in Congress in 1971</a:t>
            </a:r>
          </a:p>
          <a:p>
            <a:pPr eaLnBrk="1" hangingPunct="1"/>
            <a:r>
              <a:rPr lang="en-US" altLang="en-US" dirty="0"/>
              <a:t>Application of Cost-Benefit Analysis</a:t>
            </a:r>
          </a:p>
          <a:p>
            <a:pPr lvl="1" eaLnBrk="1" hangingPunct="1"/>
            <a:r>
              <a:rPr lang="en-US" altLang="en-US" sz="2000" dirty="0"/>
              <a:t>Role of OMB</a:t>
            </a:r>
          </a:p>
          <a:p>
            <a:pPr lvl="1" eaLnBrk="1" hangingPunct="1"/>
            <a:r>
              <a:rPr lang="en-US" altLang="en-US" sz="2000" dirty="0"/>
              <a:t>Evolution of the Questions</a:t>
            </a:r>
          </a:p>
          <a:p>
            <a:pPr eaLnBrk="1" hangingPunct="1"/>
            <a:r>
              <a:rPr lang="en-US" altLang="en-US" dirty="0"/>
              <a:t>Role of Personalities	</a:t>
            </a:r>
          </a:p>
          <a:p>
            <a:pPr lvl="1" eaLnBrk="1" hangingPunct="1"/>
            <a:r>
              <a:rPr lang="en-US" altLang="en-US" sz="2000" dirty="0"/>
              <a:t>Tom Paine, Spiro Agnew and James Fletcher</a:t>
            </a:r>
          </a:p>
          <a:p>
            <a:pPr lvl="1" eaLnBrk="1" hangingPunct="1"/>
            <a:r>
              <a:rPr lang="en-US" altLang="en-US" sz="2000" dirty="0"/>
              <a:t>Cap Weinberger, Peter Flanigan, Ed David and Don Rice</a:t>
            </a:r>
          </a:p>
          <a:p>
            <a:pPr lvl="1" eaLnBrk="1" hangingPunct="1"/>
            <a:r>
              <a:rPr lang="en-US" altLang="en-US" sz="2000" dirty="0"/>
              <a:t>Robert Seamans, David Packard, and Mel Laird </a:t>
            </a:r>
          </a:p>
        </p:txBody>
      </p:sp>
    </p:spTree>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r>
              <a:rPr lang="en-US" altLang="en-US" dirty="0"/>
              <a:t>Asking the Right Questions?</a:t>
            </a:r>
          </a:p>
        </p:txBody>
      </p:sp>
      <p:sp>
        <p:nvSpPr>
          <p:cNvPr id="68610" name="Content Placeholder 2"/>
          <p:cNvSpPr>
            <a:spLocks noGrp="1"/>
          </p:cNvSpPr>
          <p:nvPr>
            <p:ph idx="1"/>
          </p:nvPr>
        </p:nvSpPr>
        <p:spPr>
          <a:xfrm>
            <a:off x="1119883" y="1117601"/>
            <a:ext cx="10479641" cy="5514975"/>
          </a:xfrm>
        </p:spPr>
        <p:txBody>
          <a:bodyPr/>
          <a:lstStyle/>
          <a:p>
            <a:pPr>
              <a:spcBef>
                <a:spcPts val="600"/>
              </a:spcBef>
            </a:pPr>
            <a:r>
              <a:rPr lang="en-US" altLang="en-US" sz="2400" dirty="0"/>
              <a:t>Assessing Shuttle designs with Cost/Benefit Analysis is not the same as justifying the program or underlying policy rationale.</a:t>
            </a:r>
          </a:p>
          <a:p>
            <a:pPr>
              <a:spcBef>
                <a:spcPts val="600"/>
              </a:spcBef>
            </a:pPr>
            <a:r>
              <a:rPr lang="en-US" altLang="en-US" sz="2400" dirty="0"/>
              <a:t>C/B analysis drove mission model assumptions which led to using Design Reference Missions which drove technical decisions</a:t>
            </a:r>
          </a:p>
          <a:p>
            <a:pPr>
              <a:spcBef>
                <a:spcPts val="600"/>
              </a:spcBef>
            </a:pPr>
            <a:r>
              <a:rPr lang="en-US" altLang="en-US" sz="2400" dirty="0"/>
              <a:t>The Shuttle decision had policy consequences</a:t>
            </a:r>
          </a:p>
          <a:p>
            <a:pPr lvl="1">
              <a:spcBef>
                <a:spcPts val="600"/>
              </a:spcBef>
            </a:pPr>
            <a:r>
              <a:rPr lang="en-US" altLang="en-US" sz="2000" dirty="0"/>
              <a:t>Reliance on single system for national security and commercial payloads</a:t>
            </a:r>
          </a:p>
          <a:p>
            <a:pPr lvl="1">
              <a:spcBef>
                <a:spcPts val="600"/>
              </a:spcBef>
            </a:pPr>
            <a:r>
              <a:rPr lang="en-US" altLang="en-US" sz="2000" dirty="0"/>
              <a:t>Near loss of U.S. expendable launch vehicle industry in the 1980s</a:t>
            </a:r>
          </a:p>
          <a:p>
            <a:pPr marL="457200" lvl="1" indent="0">
              <a:spcBef>
                <a:spcPts val="600"/>
              </a:spcBef>
              <a:buNone/>
            </a:pPr>
            <a:endParaRPr lang="en-US" altLang="en-US" dirty="0"/>
          </a:p>
          <a:p>
            <a:pPr>
              <a:spcBef>
                <a:spcPts val="600"/>
              </a:spcBef>
              <a:buFontTx/>
              <a:buNone/>
            </a:pPr>
            <a:r>
              <a:rPr lang="en-US" altLang="en-US" sz="2400" dirty="0"/>
              <a:t>Later:</a:t>
            </a:r>
          </a:p>
          <a:p>
            <a:pPr>
              <a:spcBef>
                <a:spcPts val="600"/>
              </a:spcBef>
            </a:pPr>
            <a:r>
              <a:rPr lang="en-US" altLang="en-US" sz="2400" u="sng" dirty="0"/>
              <a:t>Could</a:t>
            </a:r>
            <a:r>
              <a:rPr lang="en-US" altLang="en-US" sz="2400" dirty="0"/>
              <a:t> the Shuttle be the only means of access to the Space Station is a different question from </a:t>
            </a:r>
            <a:r>
              <a:rPr lang="ja-JP" altLang="en-US" sz="2400"/>
              <a:t>“</a:t>
            </a:r>
            <a:r>
              <a:rPr lang="en-US" altLang="ja-JP" sz="2400" dirty="0"/>
              <a:t>should it be</a:t>
            </a:r>
            <a:r>
              <a:rPr lang="ja-JP" altLang="en-US" sz="2400"/>
              <a:t>”</a:t>
            </a:r>
            <a:endParaRPr lang="en-US" altLang="ja-JP" sz="2400" dirty="0"/>
          </a:p>
          <a:p>
            <a:pPr>
              <a:spcBef>
                <a:spcPts val="600"/>
              </a:spcBef>
            </a:pPr>
            <a:r>
              <a:rPr lang="en-US" altLang="en-US" sz="2400" dirty="0"/>
              <a:t>Value of dissimilar redundancy demonstrated with ISS after </a:t>
            </a:r>
            <a:r>
              <a:rPr lang="en-US" altLang="en-US" sz="2400" i="1" dirty="0"/>
              <a:t>Columbia</a:t>
            </a:r>
            <a:r>
              <a:rPr lang="en-US" altLang="en-US" sz="2400" dirty="0"/>
              <a:t> loss</a:t>
            </a:r>
          </a:p>
        </p:txBody>
      </p:sp>
      <p:sp>
        <p:nvSpPr>
          <p:cNvPr id="68611"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DDA9FCD3-C037-8347-B8FB-465BA44C78D3}" type="slidenum">
              <a:rPr lang="en-US" altLang="en-US" sz="1000" b="0">
                <a:solidFill>
                  <a:schemeClr val="bg1"/>
                </a:solidFill>
              </a:rPr>
              <a:pPr/>
              <a:t>42</a:t>
            </a:fld>
            <a:endParaRPr lang="en-US" altLang="en-US" sz="1000" b="0">
              <a:solidFill>
                <a:schemeClr val="bg1"/>
              </a:solidFill>
            </a:endParaRPr>
          </a:p>
        </p:txBody>
      </p:sp>
    </p:spTree>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a:xfrm>
            <a:off x="1240366" y="2105239"/>
            <a:ext cx="9711267" cy="801688"/>
          </a:xfrm>
        </p:spPr>
        <p:txBody>
          <a:bodyPr/>
          <a:lstStyle/>
          <a:p>
            <a:pPr algn="ctr"/>
            <a:r>
              <a:rPr lang="en-US" altLang="en-US" dirty="0"/>
              <a:t>Backup</a:t>
            </a:r>
          </a:p>
        </p:txBody>
      </p:sp>
      <p:sp>
        <p:nvSpPr>
          <p:cNvPr id="45059"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40CF232B-2BB1-854C-B1D0-E0687ADEF743}" type="slidenum">
              <a:rPr lang="en-US" altLang="en-US" sz="1000" b="0">
                <a:solidFill>
                  <a:schemeClr val="bg1"/>
                </a:solidFill>
              </a:rPr>
              <a:pPr/>
              <a:t>43</a:t>
            </a:fld>
            <a:endParaRPr lang="en-US" altLang="en-US" sz="1000" b="0">
              <a:solidFill>
                <a:schemeClr val="bg1"/>
              </a:solidFill>
            </a:endParaRPr>
          </a:p>
        </p:txBody>
      </p:sp>
    </p:spTree>
    <p:extLst>
      <p:ext uri="{BB962C8B-B14F-4D97-AF65-F5344CB8AC3E}">
        <p14:creationId xmlns:p14="http://schemas.microsoft.com/office/powerpoint/2010/main" val="1958632022"/>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26">
            <a:extLst>
              <a:ext uri="{FF2B5EF4-FFF2-40B4-BE49-F238E27FC236}">
                <a16:creationId xmlns:a16="http://schemas.microsoft.com/office/drawing/2014/main" id="{E2075416-E6C5-C942-89A7-1F0D4D15A997}"/>
              </a:ext>
            </a:extLst>
          </p:cNvPr>
          <p:cNvSpPr>
            <a:spLocks noGrp="1" noChangeArrowheads="1"/>
          </p:cNvSpPr>
          <p:nvPr>
            <p:ph type="title"/>
          </p:nvPr>
        </p:nvSpPr>
        <p:spPr>
          <a:xfrm>
            <a:off x="404117" y="101600"/>
            <a:ext cx="11383765" cy="1050925"/>
          </a:xfrm>
        </p:spPr>
        <p:txBody>
          <a:bodyPr/>
          <a:lstStyle/>
          <a:p>
            <a:pPr algn="ctr" eaLnBrk="1" hangingPunct="1"/>
            <a:r>
              <a:rPr lang="en-US" altLang="en-US" b="1" dirty="0">
                <a:solidFill>
                  <a:schemeClr val="tx1"/>
                </a:solidFill>
              </a:rPr>
              <a:t>NASA’</a:t>
            </a:r>
            <a:r>
              <a:rPr lang="en-US" altLang="ja-JP" b="1" dirty="0">
                <a:solidFill>
                  <a:schemeClr val="tx1"/>
                </a:solidFill>
              </a:rPr>
              <a:t>s Post-Apollo Ambitions</a:t>
            </a:r>
            <a:br>
              <a:rPr lang="en-US" altLang="ja-JP" b="1" dirty="0">
                <a:solidFill>
                  <a:schemeClr val="tx1"/>
                </a:solidFill>
              </a:rPr>
            </a:br>
            <a:r>
              <a:rPr lang="en-US" altLang="ja-JP" b="1" dirty="0">
                <a:solidFill>
                  <a:schemeClr val="tx1"/>
                </a:solidFill>
              </a:rPr>
              <a:t>(from 1969 Space Task Group  Report)</a:t>
            </a:r>
            <a:endParaRPr lang="en-US" altLang="en-US" b="1" dirty="0">
              <a:solidFill>
                <a:schemeClr val="tx1"/>
              </a:solidFill>
            </a:endParaRPr>
          </a:p>
        </p:txBody>
      </p:sp>
      <p:graphicFrame>
        <p:nvGraphicFramePr>
          <p:cNvPr id="75779" name="Object 1027">
            <a:extLst>
              <a:ext uri="{FF2B5EF4-FFF2-40B4-BE49-F238E27FC236}">
                <a16:creationId xmlns:a16="http://schemas.microsoft.com/office/drawing/2014/main" id="{15DFB5D8-5254-D84C-8432-ACABC7459D17}"/>
              </a:ext>
            </a:extLst>
          </p:cNvPr>
          <p:cNvGraphicFramePr>
            <a:graphicFrameLocks noGrp="1" noChangeAspect="1"/>
          </p:cNvGraphicFramePr>
          <p:nvPr>
            <p:ph idx="1"/>
          </p:nvPr>
        </p:nvGraphicFramePr>
        <p:xfrm>
          <a:off x="1992314" y="1143000"/>
          <a:ext cx="8251021" cy="5643252"/>
        </p:xfrm>
        <a:graphic>
          <a:graphicData uri="http://schemas.openxmlformats.org/presentationml/2006/ole">
            <mc:AlternateContent xmlns:mc="http://schemas.openxmlformats.org/markup-compatibility/2006">
              <mc:Choice xmlns:v="urn:schemas-microsoft-com:vml" Requires="v">
                <p:oleObj name="Photo Editor Photo" r:id="rId3" imgW="8407400" imgH="7213600" progId="MSPhotoEd.3">
                  <p:embed/>
                </p:oleObj>
              </mc:Choice>
              <mc:Fallback>
                <p:oleObj name="Photo Editor Photo" r:id="rId3" imgW="8407400" imgH="7213600" progId="MSPhotoEd.3">
                  <p:embed/>
                  <p:pic>
                    <p:nvPicPr>
                      <p:cNvPr id="75779" name="Object 1027">
                        <a:extLst>
                          <a:ext uri="{FF2B5EF4-FFF2-40B4-BE49-F238E27FC236}">
                            <a16:creationId xmlns:a16="http://schemas.microsoft.com/office/drawing/2014/main" id="{15DFB5D8-5254-D84C-8432-ACABC7459D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4" y="1143000"/>
                        <a:ext cx="8251021" cy="564325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36403954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133FE-4B01-AE47-AB7C-4399C4936A44}"/>
              </a:ext>
            </a:extLst>
          </p:cNvPr>
          <p:cNvSpPr>
            <a:spLocks noGrp="1"/>
          </p:cNvSpPr>
          <p:nvPr>
            <p:ph type="sldNum" sz="quarter" idx="11"/>
          </p:nvPr>
        </p:nvSpPr>
        <p:spPr/>
        <p:txBody>
          <a:bodyPr/>
          <a:lstStyle/>
          <a:p>
            <a:fld id="{8EC424DB-4AEB-3A43-8511-BC056CE625DD}" type="slidenum">
              <a:rPr lang="en-US" altLang="en-US" smtClean="0"/>
              <a:pPr/>
              <a:t>45</a:t>
            </a:fld>
            <a:endParaRPr lang="en-US" altLang="en-US"/>
          </a:p>
        </p:txBody>
      </p:sp>
      <p:pic>
        <p:nvPicPr>
          <p:cNvPr id="4" name="Picture 3">
            <a:extLst>
              <a:ext uri="{FF2B5EF4-FFF2-40B4-BE49-F238E27FC236}">
                <a16:creationId xmlns:a16="http://schemas.microsoft.com/office/drawing/2014/main" id="{2C052D10-F3F6-5447-BD68-528B7085D413}"/>
              </a:ext>
            </a:extLst>
          </p:cNvPr>
          <p:cNvPicPr>
            <a:picLocks noChangeAspect="1"/>
          </p:cNvPicPr>
          <p:nvPr/>
        </p:nvPicPr>
        <p:blipFill>
          <a:blip r:embed="rId2"/>
          <a:stretch>
            <a:fillRect/>
          </a:stretch>
        </p:blipFill>
        <p:spPr>
          <a:xfrm>
            <a:off x="1511691" y="0"/>
            <a:ext cx="9168618" cy="6858000"/>
          </a:xfrm>
          <a:prstGeom prst="rect">
            <a:avLst/>
          </a:prstGeom>
        </p:spPr>
      </p:pic>
    </p:spTree>
    <p:extLst>
      <p:ext uri="{BB962C8B-B14F-4D97-AF65-F5344CB8AC3E}">
        <p14:creationId xmlns:p14="http://schemas.microsoft.com/office/powerpoint/2010/main" val="1578065503"/>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4"/>
          <p:cNvSpPr>
            <a:spLocks noGrp="1"/>
          </p:cNvSpPr>
          <p:nvPr>
            <p:ph type="title"/>
          </p:nvPr>
        </p:nvSpPr>
        <p:spPr>
          <a:xfrm>
            <a:off x="801384" y="0"/>
            <a:ext cx="9866616" cy="1417638"/>
          </a:xfrm>
        </p:spPr>
        <p:txBody>
          <a:bodyPr/>
          <a:lstStyle/>
          <a:p>
            <a:r>
              <a:rPr lang="en-US" altLang="en-US" b="1" dirty="0"/>
              <a:t>WHY DID NIXON APPROVE THE NASA SHUTTLE?</a:t>
            </a:r>
          </a:p>
        </p:txBody>
      </p:sp>
      <p:sp>
        <p:nvSpPr>
          <p:cNvPr id="6" name="Content Placeholder 5"/>
          <p:cNvSpPr>
            <a:spLocks noGrp="1"/>
          </p:cNvSpPr>
          <p:nvPr>
            <p:ph sz="half" idx="1"/>
          </p:nvPr>
        </p:nvSpPr>
        <p:spPr>
          <a:xfrm>
            <a:off x="1739900" y="1468438"/>
            <a:ext cx="4038600" cy="5257800"/>
          </a:xfrm>
        </p:spPr>
        <p:txBody>
          <a:bodyPr>
            <a:normAutofit/>
          </a:bodyPr>
          <a:lstStyle/>
          <a:p>
            <a:pPr>
              <a:lnSpc>
                <a:spcPct val="80000"/>
              </a:lnSpc>
            </a:pPr>
            <a:r>
              <a:rPr lang="en-US" altLang="en-US" sz="1800"/>
              <a:t>Three primary reasons</a:t>
            </a:r>
          </a:p>
          <a:p>
            <a:pPr lvl="1">
              <a:lnSpc>
                <a:spcPct val="80000"/>
              </a:lnSpc>
            </a:pPr>
            <a:r>
              <a:rPr lang="en-US" altLang="en-US" sz="1400"/>
              <a:t>The importance given to a continuing program of human space flight as a symbol of U.S. space leadership and standing as a “great nation.”</a:t>
            </a:r>
            <a:endParaRPr lang="en-US" altLang="ja-JP" sz="1400"/>
          </a:p>
          <a:p>
            <a:pPr lvl="1">
              <a:lnSpc>
                <a:spcPct val="80000"/>
              </a:lnSpc>
            </a:pPr>
            <a:r>
              <a:rPr lang="en-US" altLang="en-US" sz="1400"/>
              <a:t>President Nixon’s interest in the shuttle’s national security uses</a:t>
            </a:r>
          </a:p>
          <a:p>
            <a:pPr lvl="1">
              <a:lnSpc>
                <a:spcPct val="80000"/>
              </a:lnSpc>
            </a:pPr>
            <a:r>
              <a:rPr lang="en-US" altLang="en-US" sz="1400"/>
              <a:t>The anticipated short-term employment impact of shuttle development on Richard Nixon’s 1972 re-election bid, particularly in Southern California. </a:t>
            </a:r>
          </a:p>
          <a:p>
            <a:pPr lvl="1">
              <a:lnSpc>
                <a:spcPct val="80000"/>
              </a:lnSpc>
              <a:buFontTx/>
              <a:buNone/>
            </a:pPr>
            <a:endParaRPr lang="en-US" altLang="en-US" sz="1400"/>
          </a:p>
          <a:p>
            <a:pPr>
              <a:lnSpc>
                <a:spcPct val="80000"/>
              </a:lnSpc>
            </a:pPr>
            <a:r>
              <a:rPr lang="en-US" altLang="en-US" sz="1800"/>
              <a:t>Secondary factors</a:t>
            </a:r>
          </a:p>
          <a:p>
            <a:pPr lvl="1">
              <a:lnSpc>
                <a:spcPct val="80000"/>
              </a:lnSpc>
            </a:pPr>
            <a:r>
              <a:rPr lang="en-US" altLang="en-US" sz="1400"/>
              <a:t>NASA’s claim that the shuttle could be launched on a routine basis and that it would significantly lower the costs of space operations</a:t>
            </a:r>
          </a:p>
          <a:p>
            <a:pPr lvl="1">
              <a:lnSpc>
                <a:spcPct val="80000"/>
              </a:lnSpc>
            </a:pPr>
            <a:endParaRPr lang="en-US" altLang="en-US" sz="1200"/>
          </a:p>
          <a:p>
            <a:pPr>
              <a:lnSpc>
                <a:spcPct val="80000"/>
              </a:lnSpc>
            </a:pPr>
            <a:r>
              <a:rPr lang="en-US" altLang="en-US" sz="1400"/>
              <a:t>These secondary factors became the publicly offered reasons for developing the  shuttle, but they were not decisive at the presidential level.</a:t>
            </a:r>
            <a:r>
              <a:rPr lang="en-US" altLang="en-US" sz="1100"/>
              <a:t> </a:t>
            </a:r>
            <a:endParaRPr lang="en-US" altLang="en-US" sz="1500"/>
          </a:p>
          <a:p>
            <a:pPr>
              <a:lnSpc>
                <a:spcPct val="80000"/>
              </a:lnSpc>
              <a:buFontTx/>
              <a:buNone/>
            </a:pPr>
            <a:endParaRPr lang="en-US" altLang="en-US" sz="1500"/>
          </a:p>
          <a:p>
            <a:pPr lvl="1">
              <a:lnSpc>
                <a:spcPct val="80000"/>
              </a:lnSpc>
            </a:pPr>
            <a:endParaRPr lang="en-US" altLang="en-US" sz="1500"/>
          </a:p>
        </p:txBody>
      </p:sp>
      <p:pic>
        <p:nvPicPr>
          <p:cNvPr id="57347" name="Picture 2" descr="C:\Users\user\Desktop\Post-Apollo Book\Revised Final\Photos for Book\Figure 14.1.jpg"/>
          <p:cNvPicPr>
            <a:picLocks noGrp="1" noChangeAspect="1" noChangeArrowheads="1"/>
          </p:cNvPicPr>
          <p:nvPr>
            <p:ph sz="half" idx="2"/>
          </p:nvPr>
        </p:nvPicPr>
        <p:blipFill>
          <a:blip r:embed="rId2" cstate="print">
            <a:extLst>
              <a:ext uri="{28A0092B-C50C-407E-A947-70E740481C1C}">
                <a14:useLocalDpi xmlns:a14="http://schemas.microsoft.com/office/drawing/2010/main"/>
              </a:ext>
            </a:extLst>
          </a:blip>
          <a:srcRect/>
          <a:stretch>
            <a:fillRect/>
          </a:stretch>
        </p:blipFill>
        <p:spPr>
          <a:xfrm>
            <a:off x="6057900" y="1489075"/>
            <a:ext cx="4267200" cy="2979738"/>
          </a:xfrm>
        </p:spPr>
      </p:pic>
      <p:sp>
        <p:nvSpPr>
          <p:cNvPr id="57348" name="TextBox 1"/>
          <p:cNvSpPr txBox="1">
            <a:spLocks noChangeArrowheads="1"/>
          </p:cNvSpPr>
          <p:nvPr/>
        </p:nvSpPr>
        <p:spPr bwMode="auto">
          <a:xfrm>
            <a:off x="6007101" y="4567238"/>
            <a:ext cx="4397375" cy="830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200"/>
              <a:t>The White House press corps looks on as NASA Administrator James Fletcher and Deputy Administrator George Low present a shuttle model to President Nixon – San Clemente, January 5, 1972</a:t>
            </a:r>
          </a:p>
        </p:txBody>
      </p:sp>
      <p:sp>
        <p:nvSpPr>
          <p:cNvPr id="57349" name="TextBox 2"/>
          <p:cNvSpPr txBox="1">
            <a:spLocks noChangeArrowheads="1"/>
          </p:cNvSpPr>
          <p:nvPr/>
        </p:nvSpPr>
        <p:spPr bwMode="auto">
          <a:xfrm>
            <a:off x="7810179" y="6314648"/>
            <a:ext cx="3905250"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r>
              <a:rPr lang="en-US" altLang="en-US" sz="1200" dirty="0"/>
              <a:t>Courtesy: John Logsdon</a:t>
            </a:r>
          </a:p>
        </p:txBody>
      </p:sp>
    </p:spTree>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4D3852-06E1-5246-84C2-58D16CBF7A75}"/>
              </a:ext>
            </a:extLst>
          </p:cNvPr>
          <p:cNvSpPr>
            <a:spLocks noGrp="1"/>
          </p:cNvSpPr>
          <p:nvPr>
            <p:ph type="sldNum" sz="quarter" idx="11"/>
          </p:nvPr>
        </p:nvSpPr>
        <p:spPr/>
        <p:txBody>
          <a:bodyPr/>
          <a:lstStyle/>
          <a:p>
            <a:fld id="{8EC424DB-4AEB-3A43-8511-BC056CE625DD}" type="slidenum">
              <a:rPr lang="en-US" altLang="en-US" smtClean="0"/>
              <a:pPr/>
              <a:t>47</a:t>
            </a:fld>
            <a:endParaRPr lang="en-US" altLang="en-US"/>
          </a:p>
        </p:txBody>
      </p:sp>
      <p:pic>
        <p:nvPicPr>
          <p:cNvPr id="4" name="Picture 3">
            <a:extLst>
              <a:ext uri="{FF2B5EF4-FFF2-40B4-BE49-F238E27FC236}">
                <a16:creationId xmlns:a16="http://schemas.microsoft.com/office/drawing/2014/main" id="{0B996F9F-B33D-D043-8C7B-913DC573EF71}"/>
              </a:ext>
            </a:extLst>
          </p:cNvPr>
          <p:cNvPicPr>
            <a:picLocks noChangeAspect="1"/>
          </p:cNvPicPr>
          <p:nvPr/>
        </p:nvPicPr>
        <p:blipFill>
          <a:blip r:embed="rId2"/>
          <a:stretch>
            <a:fillRect/>
          </a:stretch>
        </p:blipFill>
        <p:spPr>
          <a:xfrm>
            <a:off x="1422990" y="0"/>
            <a:ext cx="9346019" cy="6858000"/>
          </a:xfrm>
          <a:prstGeom prst="rect">
            <a:avLst/>
          </a:prstGeom>
        </p:spPr>
      </p:pic>
    </p:spTree>
    <p:extLst>
      <p:ext uri="{BB962C8B-B14F-4D97-AF65-F5344CB8AC3E}">
        <p14:creationId xmlns:p14="http://schemas.microsoft.com/office/powerpoint/2010/main" val="2484001002"/>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8D8396-7831-3245-BA7F-9593B2402959}"/>
              </a:ext>
            </a:extLst>
          </p:cNvPr>
          <p:cNvSpPr>
            <a:spLocks noGrp="1"/>
          </p:cNvSpPr>
          <p:nvPr>
            <p:ph type="sldNum" sz="quarter" idx="11"/>
          </p:nvPr>
        </p:nvSpPr>
        <p:spPr/>
        <p:txBody>
          <a:bodyPr/>
          <a:lstStyle/>
          <a:p>
            <a:fld id="{8EC424DB-4AEB-3A43-8511-BC056CE625DD}" type="slidenum">
              <a:rPr lang="en-US" altLang="en-US" smtClean="0"/>
              <a:pPr/>
              <a:t>48</a:t>
            </a:fld>
            <a:endParaRPr lang="en-US" altLang="en-US"/>
          </a:p>
        </p:txBody>
      </p:sp>
      <p:pic>
        <p:nvPicPr>
          <p:cNvPr id="4" name="Picture 3">
            <a:extLst>
              <a:ext uri="{FF2B5EF4-FFF2-40B4-BE49-F238E27FC236}">
                <a16:creationId xmlns:a16="http://schemas.microsoft.com/office/drawing/2014/main" id="{AC3CF820-5773-C742-A868-2E2B6561BCAE}"/>
              </a:ext>
            </a:extLst>
          </p:cNvPr>
          <p:cNvPicPr>
            <a:picLocks noChangeAspect="1"/>
          </p:cNvPicPr>
          <p:nvPr/>
        </p:nvPicPr>
        <p:blipFill>
          <a:blip r:embed="rId2"/>
          <a:stretch>
            <a:fillRect/>
          </a:stretch>
        </p:blipFill>
        <p:spPr>
          <a:xfrm>
            <a:off x="1254735" y="0"/>
            <a:ext cx="9682529" cy="6858000"/>
          </a:xfrm>
          <a:prstGeom prst="rect">
            <a:avLst/>
          </a:prstGeom>
        </p:spPr>
      </p:pic>
    </p:spTree>
    <p:extLst>
      <p:ext uri="{BB962C8B-B14F-4D97-AF65-F5344CB8AC3E}">
        <p14:creationId xmlns:p14="http://schemas.microsoft.com/office/powerpoint/2010/main" val="4216712335"/>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5CB405-3EC6-B74B-889D-DD6A7E6DDA6A}"/>
              </a:ext>
            </a:extLst>
          </p:cNvPr>
          <p:cNvSpPr>
            <a:spLocks noGrp="1"/>
          </p:cNvSpPr>
          <p:nvPr>
            <p:ph type="sldNum" sz="quarter" idx="11"/>
          </p:nvPr>
        </p:nvSpPr>
        <p:spPr/>
        <p:txBody>
          <a:bodyPr/>
          <a:lstStyle/>
          <a:p>
            <a:fld id="{8EC424DB-4AEB-3A43-8511-BC056CE625DD}" type="slidenum">
              <a:rPr lang="en-US" altLang="en-US" smtClean="0"/>
              <a:pPr/>
              <a:t>49</a:t>
            </a:fld>
            <a:endParaRPr lang="en-US" altLang="en-US"/>
          </a:p>
        </p:txBody>
      </p:sp>
      <p:pic>
        <p:nvPicPr>
          <p:cNvPr id="4" name="Picture 3">
            <a:extLst>
              <a:ext uri="{FF2B5EF4-FFF2-40B4-BE49-F238E27FC236}">
                <a16:creationId xmlns:a16="http://schemas.microsoft.com/office/drawing/2014/main" id="{F4813D1B-E8DC-5B4F-9617-4F8BFD643B61}"/>
              </a:ext>
            </a:extLst>
          </p:cNvPr>
          <p:cNvPicPr>
            <a:picLocks noChangeAspect="1"/>
          </p:cNvPicPr>
          <p:nvPr/>
        </p:nvPicPr>
        <p:blipFill>
          <a:blip r:embed="rId2"/>
          <a:stretch>
            <a:fillRect/>
          </a:stretch>
        </p:blipFill>
        <p:spPr>
          <a:xfrm>
            <a:off x="1485134" y="0"/>
            <a:ext cx="9221731" cy="6858000"/>
          </a:xfrm>
          <a:prstGeom prst="rect">
            <a:avLst/>
          </a:prstGeom>
        </p:spPr>
      </p:pic>
    </p:spTree>
    <p:extLst>
      <p:ext uri="{BB962C8B-B14F-4D97-AF65-F5344CB8AC3E}">
        <p14:creationId xmlns:p14="http://schemas.microsoft.com/office/powerpoint/2010/main" val="2640915267"/>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a:xfrm>
            <a:off x="1222625" y="243993"/>
            <a:ext cx="9564362" cy="627687"/>
          </a:xfrm>
        </p:spPr>
        <p:txBody>
          <a:bodyPr/>
          <a:lstStyle/>
          <a:p>
            <a:r>
              <a:rPr lang="en-US" altLang="en-US" dirty="0"/>
              <a:t>Plus </a:t>
            </a:r>
            <a:r>
              <a:rPr lang="en-US" altLang="en-US" dirty="0" err="1"/>
              <a:t>Ça</a:t>
            </a:r>
            <a:r>
              <a:rPr lang="en-US" altLang="en-US" dirty="0"/>
              <a:t> Change?</a:t>
            </a:r>
          </a:p>
        </p:txBody>
      </p:sp>
      <p:sp>
        <p:nvSpPr>
          <p:cNvPr id="65538" name="Content Placeholder 2"/>
          <p:cNvSpPr>
            <a:spLocks noGrp="1"/>
          </p:cNvSpPr>
          <p:nvPr>
            <p:ph idx="1"/>
          </p:nvPr>
        </p:nvSpPr>
        <p:spPr>
          <a:xfrm>
            <a:off x="799672" y="1212128"/>
            <a:ext cx="10592656" cy="5092700"/>
          </a:xfrm>
        </p:spPr>
        <p:txBody>
          <a:bodyPr/>
          <a:lstStyle/>
          <a:p>
            <a:r>
              <a:rPr lang="ja-JP" altLang="en-US"/>
              <a:t>“</a:t>
            </a:r>
            <a:r>
              <a:rPr lang="en-US" altLang="ja-JP" dirty="0"/>
              <a:t>Planning a program as large and as risky (with respect to both technology and cost) as the shuttle, with a long-term prospect of fixed ceiling budgets for the program and NASA as a whole does not bode well for the future.</a:t>
            </a:r>
            <a:r>
              <a:rPr lang="ja-JP" altLang="en-US"/>
              <a:t>”</a:t>
            </a:r>
            <a:endParaRPr lang="en-US" altLang="ja-JP" dirty="0"/>
          </a:p>
          <a:p>
            <a:pPr lvl="1"/>
            <a:r>
              <a:rPr lang="en-US" altLang="en-US" dirty="0"/>
              <a:t>Alexander Flax to Ed David, October 1971</a:t>
            </a:r>
          </a:p>
          <a:p>
            <a:pPr lvl="1">
              <a:buFontTx/>
              <a:buNone/>
            </a:pPr>
            <a:endParaRPr lang="en-US" altLang="en-US" dirty="0"/>
          </a:p>
          <a:p>
            <a:r>
              <a:rPr lang="ja-JP" altLang="en-US"/>
              <a:t>“</a:t>
            </a:r>
            <a:r>
              <a:rPr lang="en-US" altLang="ja-JP" dirty="0"/>
              <a:t>NASA officials thought they had gotten an OMB commitment to a level budget…</a:t>
            </a:r>
            <a:r>
              <a:rPr lang="ja-JP" altLang="en-US"/>
              <a:t>”</a:t>
            </a:r>
            <a:endParaRPr lang="en-US" altLang="ja-JP" dirty="0"/>
          </a:p>
          <a:p>
            <a:pPr lvl="1"/>
            <a:r>
              <a:rPr lang="en-US" altLang="en-US" dirty="0"/>
              <a:t>John Logsdon, May 1986</a:t>
            </a:r>
          </a:p>
        </p:txBody>
      </p:sp>
      <p:sp>
        <p:nvSpPr>
          <p:cNvPr id="65539"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128"/>
              </a:defRPr>
            </a:lvl1pPr>
            <a:lvl2pPr marL="742950" indent="-285750">
              <a:defRPr sz="2400" b="1">
                <a:solidFill>
                  <a:schemeClr val="tx1"/>
                </a:solidFill>
                <a:latin typeface="Arial" charset="0"/>
                <a:ea typeface="ＭＳ Ｐゴシック" charset="-128"/>
              </a:defRPr>
            </a:lvl2pPr>
            <a:lvl3pPr marL="1143000" indent="-228600">
              <a:defRPr sz="2400" b="1">
                <a:solidFill>
                  <a:schemeClr val="tx1"/>
                </a:solidFill>
                <a:latin typeface="Arial" charset="0"/>
                <a:ea typeface="ＭＳ Ｐゴシック" charset="-128"/>
              </a:defRPr>
            </a:lvl3pPr>
            <a:lvl4pPr marL="1600200" indent="-228600">
              <a:defRPr sz="2400" b="1">
                <a:solidFill>
                  <a:schemeClr val="tx1"/>
                </a:solidFill>
                <a:latin typeface="Arial" charset="0"/>
                <a:ea typeface="ＭＳ Ｐゴシック" charset="-128"/>
              </a:defRPr>
            </a:lvl4pPr>
            <a:lvl5pPr marL="2057400" indent="-228600">
              <a:defRPr sz="2400" b="1">
                <a:solidFill>
                  <a:schemeClr val="tx1"/>
                </a:solidFill>
                <a:latin typeface="Arial" charset="0"/>
                <a:ea typeface="ＭＳ Ｐゴシック" charset="-128"/>
              </a:defRPr>
            </a:lvl5pPr>
            <a:lvl6pPr marL="2514600" indent="-228600" eaLnBrk="0" fontAlgn="base" hangingPunct="0">
              <a:spcBef>
                <a:spcPct val="0"/>
              </a:spcBef>
              <a:spcAft>
                <a:spcPct val="0"/>
              </a:spcAft>
              <a:defRPr sz="2400" b="1">
                <a:solidFill>
                  <a:schemeClr val="tx1"/>
                </a:solidFill>
                <a:latin typeface="Arial" charset="0"/>
                <a:ea typeface="ＭＳ Ｐゴシック" charset="-128"/>
              </a:defRPr>
            </a:lvl6pPr>
            <a:lvl7pPr marL="2971800" indent="-228600" eaLnBrk="0" fontAlgn="base" hangingPunct="0">
              <a:spcBef>
                <a:spcPct val="0"/>
              </a:spcBef>
              <a:spcAft>
                <a:spcPct val="0"/>
              </a:spcAft>
              <a:defRPr sz="2400" b="1">
                <a:solidFill>
                  <a:schemeClr val="tx1"/>
                </a:solidFill>
                <a:latin typeface="Arial" charset="0"/>
                <a:ea typeface="ＭＳ Ｐゴシック" charset="-128"/>
              </a:defRPr>
            </a:lvl7pPr>
            <a:lvl8pPr marL="3429000" indent="-228600" eaLnBrk="0" fontAlgn="base" hangingPunct="0">
              <a:spcBef>
                <a:spcPct val="0"/>
              </a:spcBef>
              <a:spcAft>
                <a:spcPct val="0"/>
              </a:spcAft>
              <a:defRPr sz="2400" b="1">
                <a:solidFill>
                  <a:schemeClr val="tx1"/>
                </a:solidFill>
                <a:latin typeface="Arial" charset="0"/>
                <a:ea typeface="ＭＳ Ｐゴシック" charset="-128"/>
              </a:defRPr>
            </a:lvl8pPr>
            <a:lvl9pPr marL="3886200" indent="-228600" eaLnBrk="0" fontAlgn="base" hangingPunct="0">
              <a:spcBef>
                <a:spcPct val="0"/>
              </a:spcBef>
              <a:spcAft>
                <a:spcPct val="0"/>
              </a:spcAft>
              <a:defRPr sz="2400" b="1">
                <a:solidFill>
                  <a:schemeClr val="tx1"/>
                </a:solidFill>
                <a:latin typeface="Arial" charset="0"/>
                <a:ea typeface="ＭＳ Ｐゴシック" charset="-128"/>
              </a:defRPr>
            </a:lvl9pPr>
          </a:lstStyle>
          <a:p>
            <a:fld id="{E69512F4-BD14-B24C-B02A-E9A8763A7730}" type="slidenum">
              <a:rPr lang="en-US" altLang="en-US" sz="1000" b="0">
                <a:solidFill>
                  <a:schemeClr val="bg1"/>
                </a:solidFill>
              </a:rPr>
              <a:pPr/>
              <a:t>50</a:t>
            </a:fld>
            <a:endParaRPr lang="en-US" altLang="en-US" sz="1000" b="0">
              <a:solidFill>
                <a:schemeClr val="bg1"/>
              </a:solidFill>
            </a:endParaRPr>
          </a:p>
        </p:txBody>
      </p:sp>
    </p:spTree>
  </p:cSld>
  <p:clrMapOvr>
    <a:masterClrMapping/>
  </p:clrMapOvr>
  <p:transition spd="slow">
    <p:wipe/>
  </p:transition>
</p:sld>
</file>

<file path=ppt/theme/theme1.xml><?xml version="1.0" encoding="utf-8"?>
<a:theme xmlns:a="http://schemas.openxmlformats.org/drawingml/2006/main" name="PA&amp;E-Template">
  <a:themeElements>
    <a:clrScheme name="PA&amp;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amp;E-Template">
      <a:majorFont>
        <a:latin typeface="Arial Black"/>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defRPr>
        </a:defPPr>
      </a:lstStyle>
    </a:lnDef>
  </a:objectDefaults>
  <a:extraClrSchemeLst>
    <a:extraClrScheme>
      <a:clrScheme name="PA&amp;E-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A&amp;E-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A&amp;E-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A&amp;E-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A&amp;E-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A&amp;E-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A&amp;E-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A&amp;E-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A&amp;E-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A&amp;E-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A&amp;E-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A&amp;E-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7255</TotalTime>
  <Words>3743</Words>
  <Application>Microsoft Macintosh PowerPoint</Application>
  <PresentationFormat>Widescreen</PresentationFormat>
  <Paragraphs>407</Paragraphs>
  <Slides>50</Slides>
  <Notes>14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8" baseType="lpstr">
      <vt:lpstr>Arial</vt:lpstr>
      <vt:lpstr>Arial Black</vt:lpstr>
      <vt:lpstr>Symbol</vt:lpstr>
      <vt:lpstr>Times</vt:lpstr>
      <vt:lpstr>Times New Roman</vt:lpstr>
      <vt:lpstr>Verdana</vt:lpstr>
      <vt:lpstr>PA&amp;E-Template</vt:lpstr>
      <vt:lpstr>Photo Editor Photo</vt:lpstr>
      <vt:lpstr>PowerPoint Presentation</vt:lpstr>
      <vt:lpstr>Nixon’s space views before becoming President</vt:lpstr>
      <vt:lpstr>Space Policy in the Nixon White House</vt:lpstr>
      <vt:lpstr>PowerPoint Presentation</vt:lpstr>
      <vt:lpstr>NASA Field Centers</vt:lpstr>
      <vt:lpstr>USAF Human Spaceflight had Ended</vt:lpstr>
      <vt:lpstr>Aerospace Employment</vt:lpstr>
      <vt:lpstr>Richard Nixon’s “Pet Idea”</vt:lpstr>
      <vt:lpstr>Space Task Group – September 15, 1969</vt:lpstr>
      <vt:lpstr>Seeking a Shuttle, Station and More</vt:lpstr>
      <vt:lpstr>Reaction to the Space Task Group Report</vt:lpstr>
      <vt:lpstr>The End of Human Space Exploration</vt:lpstr>
      <vt:lpstr>Nixon Ends What Kennedy Started</vt:lpstr>
      <vt:lpstr>PowerPoint Presentation</vt:lpstr>
      <vt:lpstr>The Nixon Space Doctrine</vt:lpstr>
      <vt:lpstr>PowerPoint Presentation</vt:lpstr>
      <vt:lpstr>Envisioning the Future:  Civil Space</vt:lpstr>
      <vt:lpstr>Using Left Over Apollo Hardware</vt:lpstr>
      <vt:lpstr>Skylab Reentry, July 11, 1979</vt:lpstr>
      <vt:lpstr>Seeking Routine Access to Space 1972-1985</vt:lpstr>
      <vt:lpstr>Overview of Earth Orbits</vt:lpstr>
      <vt:lpstr>Break Point</vt:lpstr>
      <vt:lpstr>Moving Beyond the Capsule</vt:lpstr>
      <vt:lpstr>Early Shuttle Concepts</vt:lpstr>
      <vt:lpstr>Divided Advisors</vt:lpstr>
      <vt:lpstr>The Shuttle Debate 1970-71</vt:lpstr>
      <vt:lpstr>More Constraints</vt:lpstr>
      <vt:lpstr>Design Evolution and Political Choice</vt:lpstr>
      <vt:lpstr>PowerPoint Presentation</vt:lpstr>
      <vt:lpstr>Nixon Decides – “I agree with Cap”</vt:lpstr>
      <vt:lpstr>PowerPoint Presentation</vt:lpstr>
      <vt:lpstr>PowerPoint Presentation</vt:lpstr>
      <vt:lpstr>President Nixon’s January 5, 1972 Announcement</vt:lpstr>
      <vt:lpstr>Winning Contractor Design 1972</vt:lpstr>
      <vt:lpstr>Space Shuttle Mission Profile and Abort Modes</vt:lpstr>
      <vt:lpstr>Development Cost vs. Operations Cost</vt:lpstr>
      <vt:lpstr>The View from JSC on Cost per Flight</vt:lpstr>
      <vt:lpstr>Western Test Range - Shuttle</vt:lpstr>
      <vt:lpstr>New Capabilities with Shuttle</vt:lpstr>
      <vt:lpstr>The Shuttle Fleet</vt:lpstr>
      <vt:lpstr>Topics for Discussion</vt:lpstr>
      <vt:lpstr>Asking the Right Questions?</vt:lpstr>
      <vt:lpstr>Backup</vt:lpstr>
      <vt:lpstr>NASA’s Post-Apollo Ambitions (from 1969 Space Task Group  Report)</vt:lpstr>
      <vt:lpstr>PowerPoint Presentation</vt:lpstr>
      <vt:lpstr>WHY DID NIXON APPROVE THE NASA SHUTTLE?</vt:lpstr>
      <vt:lpstr>PowerPoint Presentation</vt:lpstr>
      <vt:lpstr>PowerPoint Presentation</vt:lpstr>
      <vt:lpstr>PowerPoint Presentation</vt:lpstr>
      <vt:lpstr>Plus Ça Change?</vt:lpstr>
    </vt:vector>
  </TitlesOfParts>
  <Company>NASA  HQ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Institutional Requirements Review</dc:title>
  <dc:creator>NASA  HQ</dc:creator>
  <cp:lastModifiedBy>Reviewer</cp:lastModifiedBy>
  <cp:revision>748</cp:revision>
  <cp:lastPrinted>2015-08-09T03:52:55Z</cp:lastPrinted>
  <dcterms:created xsi:type="dcterms:W3CDTF">2011-09-11T19:59:47Z</dcterms:created>
  <dcterms:modified xsi:type="dcterms:W3CDTF">2026-08-15T18:20:39Z</dcterms:modified>
</cp:coreProperties>
</file>